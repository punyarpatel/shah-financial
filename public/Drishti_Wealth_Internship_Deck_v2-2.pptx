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6" d="100"/>
          <a:sy n="86" d="100"/>
        </p:scale>
        <p:origin x="52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unya Patel" userId="eddfcd591a00a277" providerId="LiveId" clId="{B55FEF22-51CC-4867-BB17-63523148C97B}"/>
    <pc:docChg chg="modSld">
      <pc:chgData name="Punya Patel" userId="eddfcd591a00a277" providerId="LiveId" clId="{B55FEF22-51CC-4867-BB17-63523148C97B}" dt="2026-08-06T12:54:51.551" v="21" actId="20577"/>
      <pc:docMkLst>
        <pc:docMk/>
      </pc:docMkLst>
      <pc:sldChg chg="modSp mod">
        <pc:chgData name="Punya Patel" userId="eddfcd591a00a277" providerId="LiveId" clId="{B55FEF22-51CC-4867-BB17-63523148C97B}" dt="2026-08-06T12:54:51.551" v="21" actId="20577"/>
        <pc:sldMkLst>
          <pc:docMk/>
          <pc:sldMk cId="0" sldId="256"/>
        </pc:sldMkLst>
        <pc:spChg chg="mod">
          <ac:chgData name="Punya Patel" userId="eddfcd591a00a277" providerId="LiveId" clId="{B55FEF22-51CC-4867-BB17-63523148C97B}" dt="2026-08-06T12:54:51.551" v="21" actId="20577"/>
          <ac:spMkLst>
            <pc:docMk/>
            <pc:sldMk cId="0" sldId="256"/>
            <ac:spMk id="20"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areaChart>
        <c:grouping val="standard"/>
        <c:varyColors val="0"/>
        <c:ser>
          <c:idx val="0"/>
          <c:order val="0"/>
          <c:tx>
            <c:strRef>
              <c:f>Sheet1!$B$1</c:f>
              <c:strCache>
                <c:ptCount val="1"/>
                <c:pt idx="0">
                  <c:v>Total Invested</c:v>
                </c:pt>
              </c:strCache>
            </c:strRef>
          </c:tx>
          <c:spPr>
            <a:solidFill>
              <a:srgbClr val="8695B3">
                <a:alpha val="70000"/>
              </a:srgbClr>
            </a:solidFill>
            <a:effectLst/>
          </c:spP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Sheet1!$B$2:$B$11</c:f>
              <c:numCache>
                <c:formatCode>General</c:formatCode>
                <c:ptCount val="10"/>
                <c:pt idx="0">
                  <c:v>120000</c:v>
                </c:pt>
                <c:pt idx="1">
                  <c:v>240000</c:v>
                </c:pt>
                <c:pt idx="2">
                  <c:v>360000</c:v>
                </c:pt>
                <c:pt idx="3">
                  <c:v>480000</c:v>
                </c:pt>
                <c:pt idx="4">
                  <c:v>600000</c:v>
                </c:pt>
                <c:pt idx="5">
                  <c:v>720000</c:v>
                </c:pt>
                <c:pt idx="6">
                  <c:v>840000</c:v>
                </c:pt>
                <c:pt idx="7">
                  <c:v>960000</c:v>
                </c:pt>
                <c:pt idx="8">
                  <c:v>1080000</c:v>
                </c:pt>
                <c:pt idx="9">
                  <c:v>1200000</c:v>
                </c:pt>
              </c:numCache>
            </c:numRef>
          </c:val>
          <c:extLst>
            <c:ext xmlns:c16="http://schemas.microsoft.com/office/drawing/2014/chart" uri="{C3380CC4-5D6E-409C-BE32-E72D297353CC}">
              <c16:uniqueId val="{00000000-A84E-4BF8-8AF8-0D9683E1E882}"/>
            </c:ext>
          </c:extLst>
        </c:ser>
        <c:ser>
          <c:idx val="1"/>
          <c:order val="1"/>
          <c:tx>
            <c:strRef>
              <c:f>Sheet1!$C$1</c:f>
              <c:strCache>
                <c:ptCount val="1"/>
                <c:pt idx="0">
                  <c:v>Total Wealth</c:v>
                </c:pt>
              </c:strCache>
            </c:strRef>
          </c:tx>
          <c:spPr>
            <a:solidFill>
              <a:srgbClr val="F0C96A">
                <a:alpha val="70000"/>
              </a:srgbClr>
            </a:solidFill>
            <a:effectLst/>
          </c:spP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Sheet1!$C$2:$C$11</c:f>
              <c:numCache>
                <c:formatCode>General</c:formatCode>
                <c:ptCount val="10"/>
                <c:pt idx="0">
                  <c:v>128093</c:v>
                </c:pt>
                <c:pt idx="1">
                  <c:v>272432</c:v>
                </c:pt>
                <c:pt idx="2">
                  <c:v>435076</c:v>
                </c:pt>
                <c:pt idx="3">
                  <c:v>618348</c:v>
                </c:pt>
                <c:pt idx="4">
                  <c:v>824864</c:v>
                </c:pt>
                <c:pt idx="5">
                  <c:v>1057570</c:v>
                </c:pt>
                <c:pt idx="6">
                  <c:v>1319790</c:v>
                </c:pt>
                <c:pt idx="7">
                  <c:v>1615266</c:v>
                </c:pt>
                <c:pt idx="8">
                  <c:v>1948215</c:v>
                </c:pt>
                <c:pt idx="9">
                  <c:v>2323391</c:v>
                </c:pt>
              </c:numCache>
            </c:numRef>
          </c:val>
          <c:extLst>
            <c:ext xmlns:c16="http://schemas.microsoft.com/office/drawing/2014/chart" uri="{C3380CC4-5D6E-409C-BE32-E72D297353CC}">
              <c16:uniqueId val="{00000001-A84E-4BF8-8AF8-0D9683E1E882}"/>
            </c:ext>
          </c:extLst>
        </c:ser>
        <c:dLbls>
          <c:showLegendKey val="0"/>
          <c:showVal val="0"/>
          <c:showCatName val="0"/>
          <c:showSerName val="0"/>
          <c:showPercent val="0"/>
          <c:showBubbleSize val="0"/>
        </c:dLbls>
        <c:axId val="2094734554"/>
        <c:axId val="2094734552"/>
      </c:areaChart>
      <c:catAx>
        <c:axId val="2094734554"/>
        <c:scaling>
          <c:orientation val="minMax"/>
        </c:scaling>
        <c:delete val="0"/>
        <c:axPos val="b"/>
        <c:majorGridlines>
          <c:spPr>
            <a:ln w="12700" cap="flat">
              <a:solidFill>
                <a:srgbClr val="888888"/>
              </a:solidFill>
              <a:prstDash val="solid"/>
              <a:round/>
            </a:ln>
          </c:spPr>
        </c:majorGridlines>
        <c:numFmt formatCode="General" sourceLinked="1"/>
        <c:majorTickMark val="out"/>
        <c:minorTickMark val="none"/>
        <c:tickLblPos val="low"/>
        <c:spPr>
          <a:ln w="12700" cap="flat">
            <a:solidFill>
              <a:srgbClr val="2E4A73"/>
            </a:solidFill>
            <a:prstDash val="solid"/>
            <a:round/>
          </a:ln>
        </c:spPr>
        <c:txPr>
          <a:bodyPr/>
          <a:lstStyle/>
          <a:p>
            <a:pPr>
              <a:defRPr sz="900" b="0" i="0" u="none" strike="noStrike">
                <a:solidFill>
                  <a:srgbClr val="B9C4D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16294A"/>
              </a:solidFill>
              <a:prstDash val="solid"/>
              <a:round/>
            </a:ln>
          </c:spPr>
        </c:majorGridlines>
        <c:numFmt formatCode="#,##0,,&quot;L&quot;" sourceLinked="0"/>
        <c:majorTickMark val="out"/>
        <c:minorTickMark val="none"/>
        <c:tickLblPos val="nextTo"/>
        <c:spPr>
          <a:ln w="12700" cap="flat">
            <a:solidFill>
              <a:srgbClr val="2E4A73"/>
            </a:solidFill>
            <a:prstDash val="solid"/>
            <a:round/>
          </a:ln>
        </c:spPr>
        <c:txPr>
          <a:bodyPr/>
          <a:lstStyle/>
          <a:p>
            <a:pPr>
              <a:defRPr sz="800" b="0" i="0" u="none" strike="noStrike">
                <a:solidFill>
                  <a:srgbClr val="B9C4DA"/>
                </a:solidFill>
                <a:latin typeface="Arial"/>
              </a:defRPr>
            </a:pPr>
            <a:endParaRPr lang="en-US"/>
          </a:p>
        </c:txPr>
        <c:crossAx val="2094734554"/>
        <c:crosses val="autoZero"/>
        <c:crossBetween val="between"/>
      </c:valAx>
      <c:spPr>
        <a:solidFill>
          <a:srgbClr val="0A1D38"/>
        </a:solidFill>
        <a:ln>
          <a:noFill/>
        </a:ln>
        <a:effectLst/>
      </c:spPr>
    </c:plotArea>
    <c:legend>
      <c:legendPos val="b"/>
      <c:overlay val="0"/>
      <c:txPr>
        <a:bodyPr/>
        <a:lstStyle/>
        <a:p>
          <a:pPr>
            <a:defRPr sz="1000">
              <a:solidFill>
                <a:srgbClr val="B9C4DA"/>
              </a:solidFill>
            </a:defRPr>
          </a:pPr>
          <a:endParaRPr lang="en-US"/>
        </a:p>
      </c:txPr>
    </c:legend>
    <c:plotVisOnly val="1"/>
    <c:dispBlanksAs val="span"/>
    <c:showDLblsOverMax val="1"/>
  </c:chart>
  <c:spPr>
    <a:solidFill>
      <a:srgbClr val="0A1D38"/>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644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Greet the panel and introduce yourself. State the company and supervisor, then give a one line hook: this project is a full stack financial advisory platform built for Shah Financial Services, covering a public facing website and a secure internal admin dashboard, delivered across an 8 week internship.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mission in plain language. Emphasize that Shah Financial Services has operated since 2001, and this platform digitizes that trust. Mention the dual audience: public visitors on the marketing site, and internal staff on the admin dashboard.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vision, then quickly scan the eight objectives; you do not need to read each one aloud, just say the categories: technical mastery, architecture, security, accessibility, performance and Agile process. Then name the four functional modules.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across the timeline. This maps directly to the 8 week internship structure: setup and UI first, then routing and the calculators, then the security and dashboard work, finishing with performance and deployment. Use this as the map for the deep dive slides that follow.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the stack into three layers: frontend, backend and data, and hosting and tooling. If asked why a technology was chosen: Vite for fast hot module replacement over Create React App, Tailwind to avoid cascading style conflicts, Supabase for a managed Postgres with built in row level security, Vercel for its global edge network and zero-config CI/CD on every git push.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the diagram top to bottom: a browser loads the React SPA built by Vite. The frontend calls Express REST APIs for anything that needs validation or a secure operation. Express talks to Supabase, which wraps PostgreSQL and enforces Row Level Security so only permitted rows are ever returned. Leads land in PostgreSQL, surface in the Admin Dashboard, and the advisory team acts on them. Separately, note the authentication branch: login issues a JWT stored in an HttpOnly cookie, checked on every protected request to the dashboard.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component driven development was the biggest mindset shift from academic projects, which tend to be monolithic. Point to the folder structure and explain the separation: common UI primitives, layout shells, calculators, and dashboard specific components each live in their own directory, which keeps the codebase navigable as it grows.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every row. Pick two or three that show range: EyeFollowButton for motion design, DwLogo3DViewer for 3D engineering, and the Admin Data Table for full stack complexity. WhatsAppFloat.jsx is a good example of a small component with outsized business impact, since it routes interested visitors straight into a live chat with the advisory team. Mention that every component here follows the same prop driven, reusable pattern.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two real fix examples to demonstrate depth, not just tool names. The logo bar fix shows attention to visual consistency; the timeline fix shows that a first attempt with CSS Grid failed and had to be re-architected with Flexbox, which is a good example of engineering judgment under a design constraint.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formula, then immediately pivot to the two real bugs. This is the strongest part of the story: the formula itself is simple, but making it production correct required understanding JavaScript floating point behaviour and defensive input handling, which is exactly the kind of edge case thinking examiners want to hear about.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 chart and the calculator share one source of truth in state, so there is never a mismatch between the number shown and the number graphed. The inflation toggle is a good example of a small UI control that triggers a full recalculation rather than a cosmetic change.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persistent filter state point is worth emphasizing: it came directly from a real correction request during development, which is a good example of iterating on feedback rather than shipping a first draft. Pagination and loading skeletons together avoid both slow loads and jarring blank screens.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technical but brief. The pipeline diagram is the visual anchor: talk through scene, camera, lighting, geometry and renderer as the standard Three.js mental model. Mention that React Three Fiber lets this be expressed declaratively as React components rather than imperative Three.js calls.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IntersectionObserver point is a good performance detail to highlight, since it shows animations were scoped deliberately rather than running everywhere all the time. Tie the closing line back to user experience: motion should serve a purpose, not just decorate.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JWT flow step by step using the numbered list. The key security point to land is why HttpOnly cookies were chosen over local storage: it protects the token from being read by injected client side scripts.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simplified entity relationship view, not the literal schema. Explain the foreign key from Contact Submissions to Leads, and connect it directly to the security slide that follows: Row Level Security is what actually enforces who can read which rows.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defense in depth: even if one layer were bypassed, another still protects the data. Application level auth with JWT and cookies, and database level Row Level Security, are independent and complementary, which is a deliberate architectural choice rather than redundancy.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Jamstack deployment: a static, pre-built frontend served from Vercel's edge network worldwide, talking directly to a serverless Supabase backend rather than a traditional always-on server. Emphasize two things examiners tend to probe: zero cold starts, because Supabase's connection pooling keeps the database warm, and defense at the data layer itself through Row Level Security, so even a compromised frontend cannot read data it should not see.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covers Week 7 and 8 of the actual build. If asked for a number, describe the bundle reduction qualitatively as dramatic rather than quoting an unverified figure. The Safari gap bug is a great concrete example of cross browser testing paying off.</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complex UI feature of the internship, worth spending real time on. The z-index bug story is a strong example of mobile specific QA catching something a desktop only workflow would have missed.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often gets the most examiner interest. Pick two challenges to narrate in slightly more detail rather than reading the whole table: the Node version conflict shows onboarding maturity, and the dashboard filter fix shows real state management depth.</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achievements section brisk, it is a recap. Spend slightly more time on the roadmap since it shows forward thinking beyond the internship's scope.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warmly. Thank the supervisor and panel by name, restate in one sentence what was built, and open the floor for questions. Keep the tone confident but not rehearsed.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7.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3.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3.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0.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2.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36.png"/><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545"/>
        </a:solidFill>
        <a:effectLst/>
      </p:bgPr>
    </p:bg>
    <p:spTree>
      <p:nvGrpSpPr>
        <p:cNvPr id="1" name=""/>
        <p:cNvGrpSpPr/>
        <p:nvPr/>
      </p:nvGrpSpPr>
      <p:grpSpPr>
        <a:xfrm>
          <a:off x="0" y="0"/>
          <a:ext cx="0" cy="0"/>
          <a:chOff x="0" y="0"/>
          <a:chExt cx="0" cy="0"/>
        </a:xfrm>
      </p:grpSpPr>
      <p:sp>
        <p:nvSpPr>
          <p:cNvPr id="2" name="Shape 0"/>
          <p:cNvSpPr/>
          <p:nvPr/>
        </p:nvSpPr>
        <p:spPr>
          <a:xfrm>
            <a:off x="8046720" y="-1371600"/>
            <a:ext cx="5943600" cy="5943600"/>
          </a:xfrm>
          <a:prstGeom prst="ellipse">
            <a:avLst/>
          </a:prstGeom>
          <a:solidFill>
            <a:srgbClr val="C9922A">
              <a:alpha val="12000"/>
            </a:srgbClr>
          </a:solidFill>
          <a:ln/>
        </p:spPr>
      </p:sp>
      <p:sp>
        <p:nvSpPr>
          <p:cNvPr id="3" name="Shape 1"/>
          <p:cNvSpPr/>
          <p:nvPr/>
        </p:nvSpPr>
        <p:spPr>
          <a:xfrm>
            <a:off x="-1828800" y="5029200"/>
            <a:ext cx="5486400" cy="5486400"/>
          </a:xfrm>
          <a:prstGeom prst="ellipse">
            <a:avLst/>
          </a:prstGeom>
          <a:solidFill>
            <a:srgbClr val="F0C96A">
              <a:alpha val="12000"/>
            </a:srgbClr>
          </a:solidFill>
          <a:ln/>
        </p:spPr>
      </p:sp>
      <p:sp>
        <p:nvSpPr>
          <p:cNvPr id="4" name="Text 2"/>
          <p:cNvSpPr/>
          <p:nvPr/>
        </p:nvSpPr>
        <p:spPr>
          <a:xfrm>
            <a:off x="822960" y="1097280"/>
            <a:ext cx="10058400" cy="274320"/>
          </a:xfrm>
          <a:prstGeom prst="rect">
            <a:avLst/>
          </a:prstGeom>
          <a:noFill/>
          <a:ln/>
        </p:spPr>
        <p:txBody>
          <a:bodyPr wrap="square" lIns="0" tIns="0" rIns="0" bIns="0" rtlCol="0" anchor="ctr"/>
          <a:lstStyle/>
          <a:p>
            <a:pPr marL="0" indent="0">
              <a:buNone/>
            </a:pPr>
            <a:r>
              <a:rPr lang="en-US" sz="1150" b="1" kern="0" spc="200" dirty="0">
                <a:solidFill>
                  <a:srgbClr val="C9922A"/>
                </a:solidFill>
                <a:latin typeface="Calibri" pitchFamily="34" charset="0"/>
                <a:ea typeface="Calibri" pitchFamily="34" charset="-122"/>
                <a:cs typeface="Calibri" pitchFamily="34" charset="-120"/>
              </a:rPr>
              <a:t>SHAH FINANCIAL SERVICES  ·  FRONTEND WEB DEVELOPMENT INTERNSHIP</a:t>
            </a:r>
            <a:endParaRPr lang="en-US" sz="1150" dirty="0"/>
          </a:p>
        </p:txBody>
      </p:sp>
      <p:sp>
        <p:nvSpPr>
          <p:cNvPr id="5" name="Text 3"/>
          <p:cNvSpPr/>
          <p:nvPr/>
        </p:nvSpPr>
        <p:spPr>
          <a:xfrm>
            <a:off x="822960" y="1554480"/>
            <a:ext cx="10515600" cy="91440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Drishti Wealth</a:t>
            </a:r>
            <a:endParaRPr lang="en-US" sz="4800" dirty="0"/>
          </a:p>
        </p:txBody>
      </p:sp>
      <p:sp>
        <p:nvSpPr>
          <p:cNvPr id="6" name="Text 4"/>
          <p:cNvSpPr/>
          <p:nvPr/>
        </p:nvSpPr>
        <p:spPr>
          <a:xfrm>
            <a:off x="822960" y="2331720"/>
            <a:ext cx="10515600" cy="594360"/>
          </a:xfrm>
          <a:prstGeom prst="rect">
            <a:avLst/>
          </a:prstGeom>
          <a:noFill/>
          <a:ln/>
        </p:spPr>
        <p:txBody>
          <a:bodyPr wrap="square" lIns="0" tIns="0" rIns="0" bIns="0" rtlCol="0" anchor="ctr"/>
          <a:lstStyle/>
          <a:p>
            <a:pPr marL="0" indent="0">
              <a:buNone/>
            </a:pPr>
            <a:r>
              <a:rPr lang="en-US" sz="3000" b="1" dirty="0">
                <a:solidFill>
                  <a:srgbClr val="F0C96A"/>
                </a:solidFill>
                <a:latin typeface="Calibri" pitchFamily="34" charset="0"/>
                <a:ea typeface="Calibri" pitchFamily="34" charset="-122"/>
                <a:cs typeface="Calibri" pitchFamily="34" charset="-120"/>
              </a:rPr>
              <a:t>Financial Advisory Platform</a:t>
            </a:r>
            <a:endParaRPr lang="en-US" sz="3000" dirty="0"/>
          </a:p>
        </p:txBody>
      </p:sp>
      <p:sp>
        <p:nvSpPr>
          <p:cNvPr id="7" name="Text 5"/>
          <p:cNvSpPr/>
          <p:nvPr/>
        </p:nvSpPr>
        <p:spPr>
          <a:xfrm>
            <a:off x="822960" y="3017520"/>
            <a:ext cx="9601200" cy="411480"/>
          </a:xfrm>
          <a:prstGeom prst="rect">
            <a:avLst/>
          </a:prstGeom>
          <a:noFill/>
          <a:ln/>
        </p:spPr>
        <p:txBody>
          <a:bodyPr wrap="square" lIns="0" tIns="0" rIns="0" bIns="0" rtlCol="0" anchor="ctr"/>
          <a:lstStyle/>
          <a:p>
            <a:pPr marL="0" indent="0">
              <a:buNone/>
            </a:pPr>
            <a:r>
              <a:rPr lang="en-US" sz="1600" dirty="0">
                <a:solidFill>
                  <a:srgbClr val="B9C4DA"/>
                </a:solidFill>
                <a:latin typeface="Calibri" pitchFamily="34" charset="0"/>
                <a:ea typeface="Calibri" pitchFamily="34" charset="-122"/>
                <a:cs typeface="Calibri" pitchFamily="34" charset="-120"/>
              </a:rPr>
              <a:t>Consumer Advisory Portal and Secure Admin Dashboard, Engineered End to End</a:t>
            </a:r>
            <a:endParaRPr lang="en-US" sz="1600" dirty="0"/>
          </a:p>
        </p:txBody>
      </p:sp>
      <p:sp>
        <p:nvSpPr>
          <p:cNvPr id="8" name="Shape 6"/>
          <p:cNvSpPr/>
          <p:nvPr/>
        </p:nvSpPr>
        <p:spPr>
          <a:xfrm>
            <a:off x="822960" y="3749040"/>
            <a:ext cx="10543032" cy="1417320"/>
          </a:xfrm>
          <a:prstGeom prst="roundRect">
            <a:avLst>
              <a:gd name="adj" fmla="val 5806"/>
            </a:avLst>
          </a:prstGeom>
          <a:solidFill>
            <a:srgbClr val="183052"/>
          </a:solidFill>
          <a:ln w="12700">
            <a:solidFill>
              <a:srgbClr val="2E4A73"/>
            </a:solidFill>
            <a:prstDash val="solid"/>
          </a:ln>
          <a:effectLst>
            <a:outerShdw blurRad="101600" dist="38100" dir="5400000" algn="bl" rotWithShape="0">
              <a:srgbClr val="000000">
                <a:alpha val="25000"/>
              </a:srgbClr>
            </a:outerShdw>
          </a:effectLst>
        </p:spPr>
      </p:sp>
      <p:sp>
        <p:nvSpPr>
          <p:cNvPr id="9" name="Text 7"/>
          <p:cNvSpPr/>
          <p:nvPr/>
        </p:nvSpPr>
        <p:spPr>
          <a:xfrm>
            <a:off x="1097280" y="3895344"/>
            <a:ext cx="3657600" cy="274320"/>
          </a:xfrm>
          <a:prstGeom prst="rect">
            <a:avLst/>
          </a:prstGeom>
          <a:noFill/>
          <a:ln/>
        </p:spPr>
        <p:txBody>
          <a:bodyPr wrap="square" lIns="0" tIns="0" rIns="0" bIns="0" rtlCol="0" anchor="ctr"/>
          <a:lstStyle/>
          <a:p>
            <a:pPr marL="0" indent="0">
              <a:buNone/>
            </a:pPr>
            <a:r>
              <a:rPr lang="en-US" sz="1050" b="1" kern="0" spc="200" dirty="0">
                <a:solidFill>
                  <a:srgbClr val="8695B3"/>
                </a:solidFill>
                <a:latin typeface="Calibri" pitchFamily="34" charset="0"/>
                <a:ea typeface="Calibri" pitchFamily="34" charset="-122"/>
                <a:cs typeface="Calibri" pitchFamily="34" charset="-120"/>
              </a:rPr>
              <a:t>BUILT WITH</a:t>
            </a:r>
            <a:endParaRPr lang="en-US" sz="1050" dirty="0"/>
          </a:p>
        </p:txBody>
      </p:sp>
      <p:sp>
        <p:nvSpPr>
          <p:cNvPr id="10" name="Shape 8"/>
          <p:cNvSpPr/>
          <p:nvPr/>
        </p:nvSpPr>
        <p:spPr>
          <a:xfrm>
            <a:off x="1097280" y="4279392"/>
            <a:ext cx="1024128" cy="438912"/>
          </a:xfrm>
          <a:prstGeom prst="roundRect">
            <a:avLst>
              <a:gd name="adj" fmla="val 50000"/>
            </a:avLst>
          </a:prstGeom>
          <a:solidFill>
            <a:srgbClr val="13294A"/>
          </a:solidFill>
          <a:ln w="12700">
            <a:solidFill>
              <a:srgbClr val="C9922A"/>
            </a:solidFill>
            <a:prstDash val="solid"/>
          </a:ln>
        </p:spPr>
      </p:sp>
      <p:sp>
        <p:nvSpPr>
          <p:cNvPr id="11" name="Text 9"/>
          <p:cNvSpPr/>
          <p:nvPr/>
        </p:nvSpPr>
        <p:spPr>
          <a:xfrm>
            <a:off x="1097280" y="4279392"/>
            <a:ext cx="1024128"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React 19</a:t>
            </a:r>
            <a:endParaRPr lang="en-US" sz="1200" dirty="0"/>
          </a:p>
        </p:txBody>
      </p:sp>
      <p:sp>
        <p:nvSpPr>
          <p:cNvPr id="12" name="Shape 10"/>
          <p:cNvSpPr/>
          <p:nvPr/>
        </p:nvSpPr>
        <p:spPr>
          <a:xfrm>
            <a:off x="2304288" y="4279392"/>
            <a:ext cx="832104" cy="438912"/>
          </a:xfrm>
          <a:prstGeom prst="roundRect">
            <a:avLst>
              <a:gd name="adj" fmla="val 50000"/>
            </a:avLst>
          </a:prstGeom>
          <a:solidFill>
            <a:srgbClr val="13294A"/>
          </a:solidFill>
          <a:ln w="12700">
            <a:solidFill>
              <a:srgbClr val="C9922A"/>
            </a:solidFill>
            <a:prstDash val="solid"/>
          </a:ln>
        </p:spPr>
      </p:sp>
      <p:sp>
        <p:nvSpPr>
          <p:cNvPr id="13" name="Text 11"/>
          <p:cNvSpPr/>
          <p:nvPr/>
        </p:nvSpPr>
        <p:spPr>
          <a:xfrm>
            <a:off x="2304288" y="4279392"/>
            <a:ext cx="832104"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Vite 7</a:t>
            </a:r>
            <a:endParaRPr lang="en-US" sz="1200" dirty="0"/>
          </a:p>
        </p:txBody>
      </p:sp>
      <p:sp>
        <p:nvSpPr>
          <p:cNvPr id="14" name="Shape 12"/>
          <p:cNvSpPr/>
          <p:nvPr/>
        </p:nvSpPr>
        <p:spPr>
          <a:xfrm>
            <a:off x="3319272" y="4279392"/>
            <a:ext cx="1216152" cy="438912"/>
          </a:xfrm>
          <a:prstGeom prst="roundRect">
            <a:avLst>
              <a:gd name="adj" fmla="val 50000"/>
            </a:avLst>
          </a:prstGeom>
          <a:solidFill>
            <a:srgbClr val="13294A"/>
          </a:solidFill>
          <a:ln w="12700">
            <a:solidFill>
              <a:srgbClr val="C9922A"/>
            </a:solidFill>
            <a:prstDash val="solid"/>
          </a:ln>
        </p:spPr>
      </p:sp>
      <p:sp>
        <p:nvSpPr>
          <p:cNvPr id="15" name="Text 13"/>
          <p:cNvSpPr/>
          <p:nvPr/>
        </p:nvSpPr>
        <p:spPr>
          <a:xfrm>
            <a:off x="3319272" y="4279392"/>
            <a:ext cx="121615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Express.js</a:t>
            </a:r>
            <a:endParaRPr lang="en-US" sz="1200" dirty="0"/>
          </a:p>
        </p:txBody>
      </p:sp>
      <p:sp>
        <p:nvSpPr>
          <p:cNvPr id="16" name="Shape 14"/>
          <p:cNvSpPr/>
          <p:nvPr/>
        </p:nvSpPr>
        <p:spPr>
          <a:xfrm>
            <a:off x="4718304" y="4279392"/>
            <a:ext cx="2080260" cy="438912"/>
          </a:xfrm>
          <a:prstGeom prst="roundRect">
            <a:avLst>
              <a:gd name="adj" fmla="val 50000"/>
            </a:avLst>
          </a:prstGeom>
          <a:solidFill>
            <a:srgbClr val="13294A"/>
          </a:solidFill>
          <a:ln w="12700">
            <a:solidFill>
              <a:srgbClr val="C9922A"/>
            </a:solidFill>
            <a:prstDash val="solid"/>
          </a:ln>
        </p:spPr>
      </p:sp>
      <p:sp>
        <p:nvSpPr>
          <p:cNvPr id="17" name="Text 15"/>
          <p:cNvSpPr/>
          <p:nvPr/>
        </p:nvSpPr>
        <p:spPr>
          <a:xfrm>
            <a:off x="4718304" y="4279392"/>
            <a:ext cx="2080260"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Supabase PostgreSQL</a:t>
            </a:r>
            <a:endParaRPr lang="en-US" sz="1200" dirty="0"/>
          </a:p>
        </p:txBody>
      </p:sp>
      <p:sp>
        <p:nvSpPr>
          <p:cNvPr id="18" name="Shape 16"/>
          <p:cNvSpPr/>
          <p:nvPr/>
        </p:nvSpPr>
        <p:spPr>
          <a:xfrm>
            <a:off x="6981444" y="4279392"/>
            <a:ext cx="1024128" cy="438912"/>
          </a:xfrm>
          <a:prstGeom prst="roundRect">
            <a:avLst>
              <a:gd name="adj" fmla="val 50000"/>
            </a:avLst>
          </a:prstGeom>
          <a:solidFill>
            <a:srgbClr val="13294A"/>
          </a:solidFill>
          <a:ln w="12700">
            <a:solidFill>
              <a:srgbClr val="C9922A"/>
            </a:solidFill>
            <a:prstDash val="solid"/>
          </a:ln>
        </p:spPr>
      </p:sp>
      <p:sp>
        <p:nvSpPr>
          <p:cNvPr id="19" name="Text 17"/>
          <p:cNvSpPr/>
          <p:nvPr/>
        </p:nvSpPr>
        <p:spPr>
          <a:xfrm>
            <a:off x="6981444" y="4279392"/>
            <a:ext cx="1024128"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Three.js</a:t>
            </a:r>
            <a:endParaRPr lang="en-US" sz="1200" dirty="0"/>
          </a:p>
        </p:txBody>
      </p:sp>
      <p:sp>
        <p:nvSpPr>
          <p:cNvPr id="20" name="Text 18"/>
          <p:cNvSpPr/>
          <p:nvPr/>
        </p:nvSpPr>
        <p:spPr>
          <a:xfrm>
            <a:off x="822960" y="5623560"/>
            <a:ext cx="9601200" cy="320040"/>
          </a:xfrm>
          <a:prstGeom prst="rect">
            <a:avLst/>
          </a:prstGeom>
          <a:noFill/>
          <a:ln/>
        </p:spPr>
        <p:txBody>
          <a:bodyPr wrap="square" lIns="0" tIns="0" rIns="0" bIns="0" rtlCol="0" anchor="ctr"/>
          <a:lstStyle/>
          <a:p>
            <a:pPr marL="0" indent="0">
              <a:buNone/>
            </a:pPr>
            <a:r>
              <a:rPr lang="en-US" sz="1200" dirty="0">
                <a:solidFill>
                  <a:srgbClr val="B9C4DA"/>
                </a:solidFill>
                <a:latin typeface="Calibri" pitchFamily="34" charset="0"/>
                <a:ea typeface="Calibri" pitchFamily="34" charset="-122"/>
                <a:cs typeface="Calibri" pitchFamily="34" charset="-120"/>
              </a:rPr>
              <a:t> Industry Supervisor: Rutvik Shah  ·  Engineering and Web Development Department</a:t>
            </a:r>
            <a:endParaRPr lang="en-US" sz="1200" dirty="0"/>
          </a:p>
        </p:txBody>
      </p:sp>
      <p:sp>
        <p:nvSpPr>
          <p:cNvPr id="21" name="Text 19"/>
          <p:cNvSpPr/>
          <p:nvPr/>
        </p:nvSpPr>
        <p:spPr>
          <a:xfrm>
            <a:off x="822960" y="5989320"/>
            <a:ext cx="7315200" cy="320040"/>
          </a:xfrm>
          <a:prstGeom prst="rect">
            <a:avLst/>
          </a:prstGeom>
          <a:noFill/>
          <a:ln/>
        </p:spPr>
        <p:txBody>
          <a:bodyPr wrap="square" lIns="0" tIns="0" rIns="0" bIns="0" rtlCol="0" anchor="ctr"/>
          <a:lstStyle/>
          <a:p>
            <a:pPr marL="0" indent="0">
              <a:buNone/>
            </a:pPr>
            <a:r>
              <a:rPr lang="en-US" sz="1100" i="1" dirty="0">
                <a:solidFill>
                  <a:srgbClr val="8695B3"/>
                </a:solidFill>
                <a:latin typeface="Calibri" pitchFamily="34" charset="0"/>
                <a:ea typeface="Calibri" pitchFamily="34" charset="-122"/>
                <a:cs typeface="Calibri" pitchFamily="34" charset="-120"/>
              </a:rPr>
              <a:t>8 Week Internship  ·  July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2545"/>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marL="0" indent="0">
              <a:buNone/>
            </a:pPr>
            <a:r>
              <a:rPr lang="en-US" sz="1150" b="1" kern="0" spc="200" dirty="0">
                <a:solidFill>
                  <a:srgbClr val="C9922A"/>
                </a:solidFill>
                <a:latin typeface="Calibri" pitchFamily="34" charset="0"/>
                <a:ea typeface="Calibri" pitchFamily="34" charset="-122"/>
                <a:cs typeface="Calibri" pitchFamily="34" charset="-120"/>
              </a:rPr>
              <a:t>PROJECT INTRODUCTION</a:t>
            </a:r>
            <a:endParaRPr lang="en-US" sz="1150" dirty="0"/>
          </a:p>
        </p:txBody>
      </p:sp>
      <p:sp>
        <p:nvSpPr>
          <p:cNvPr id="3" name="Text 1"/>
          <p:cNvSpPr/>
          <p:nvPr/>
        </p:nvSpPr>
        <p:spPr>
          <a:xfrm>
            <a:off x="640080" y="713232"/>
            <a:ext cx="996696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About the Project</a:t>
            </a:r>
            <a:endParaRPr lang="en-US" sz="2800" dirty="0"/>
          </a:p>
        </p:txBody>
      </p:sp>
      <p:sp>
        <p:nvSpPr>
          <p:cNvPr id="4" name="Shape 2"/>
          <p:cNvSpPr/>
          <p:nvPr/>
        </p:nvSpPr>
        <p:spPr>
          <a:xfrm>
            <a:off x="640080" y="1554480"/>
            <a:ext cx="10908792" cy="1051560"/>
          </a:xfrm>
          <a:prstGeom prst="roundRect">
            <a:avLst>
              <a:gd name="adj" fmla="val 7826"/>
            </a:avLst>
          </a:prstGeom>
          <a:solidFill>
            <a:srgbClr val="183052"/>
          </a:solidFill>
          <a:ln w="12700">
            <a:solidFill>
              <a:srgbClr val="2E4A73"/>
            </a:solidFill>
            <a:prstDash val="solid"/>
          </a:ln>
          <a:effectLst>
            <a:outerShdw blurRad="101600" dist="38100" dir="5400000" algn="bl" rotWithShape="0">
              <a:srgbClr val="000000">
                <a:alpha val="25000"/>
              </a:srgbClr>
            </a:outerShdw>
          </a:effectLst>
        </p:spPr>
      </p:sp>
      <p:sp>
        <p:nvSpPr>
          <p:cNvPr id="5" name="Shape 3"/>
          <p:cNvSpPr/>
          <p:nvPr/>
        </p:nvSpPr>
        <p:spPr>
          <a:xfrm>
            <a:off x="914400" y="1801368"/>
            <a:ext cx="548640" cy="548640"/>
          </a:xfrm>
          <a:prstGeom prst="ellipse">
            <a:avLst/>
          </a:prstGeom>
          <a:solidFill>
            <a:srgbClr val="C9922A"/>
          </a:solidFill>
          <a:ln/>
        </p:spPr>
      </p:sp>
      <p:pic>
        <p:nvPicPr>
          <p:cNvPr id="6" name="Image 0" descr="/home/claude/dwdeck/icons/helpcircle.png"/>
          <p:cNvPicPr>
            <a:picLocks noChangeAspect="1"/>
          </p:cNvPicPr>
          <p:nvPr/>
        </p:nvPicPr>
        <p:blipFill>
          <a:blip r:embed="rId3"/>
          <a:stretch>
            <a:fillRect/>
          </a:stretch>
        </p:blipFill>
        <p:spPr>
          <a:xfrm>
            <a:off x="1042416" y="1929384"/>
            <a:ext cx="292608" cy="292608"/>
          </a:xfrm>
          <a:prstGeom prst="rect">
            <a:avLst/>
          </a:prstGeom>
        </p:spPr>
      </p:pic>
      <p:sp>
        <p:nvSpPr>
          <p:cNvPr id="7" name="Text 4"/>
          <p:cNvSpPr/>
          <p:nvPr/>
        </p:nvSpPr>
        <p:spPr>
          <a:xfrm>
            <a:off x="1691640" y="1554480"/>
            <a:ext cx="9692640" cy="1051560"/>
          </a:xfrm>
          <a:prstGeom prst="rect">
            <a:avLst/>
          </a:prstGeom>
          <a:noFill/>
          <a:ln/>
        </p:spPr>
        <p:txBody>
          <a:bodyPr wrap="square" lIns="0" tIns="0" rIns="0" bIns="0" rtlCol="0" anchor="ctr"/>
          <a:lstStyle/>
          <a:p>
            <a:pPr marL="0" indent="0">
              <a:lnSpc>
                <a:spcPct val="120000"/>
              </a:lnSpc>
              <a:buNone/>
            </a:pPr>
            <a:r>
              <a:rPr lang="en-US" sz="1300" b="1" dirty="0">
                <a:solidFill>
                  <a:srgbClr val="F0C96A"/>
                </a:solidFill>
                <a:latin typeface="Calibri" pitchFamily="34" charset="0"/>
                <a:ea typeface="Calibri" pitchFamily="34" charset="-122"/>
                <a:cs typeface="Calibri" pitchFamily="34" charset="-120"/>
              </a:rPr>
              <a:t>What It Is:  </a:t>
            </a:r>
            <a:r>
              <a:rPr lang="en-US" sz="1300" dirty="0">
                <a:solidFill>
                  <a:srgbClr val="B9C4DA"/>
                </a:solidFill>
                <a:latin typeface="Calibri" pitchFamily="34" charset="0"/>
                <a:ea typeface="Calibri" pitchFamily="34" charset="-122"/>
                <a:cs typeface="Calibri" pitchFamily="34" charset="-120"/>
              </a:rPr>
              <a:t>A consumer facing financial advisory platform for Shah Financial Services, paired with a secure internal admin dashboard for lead management.</a:t>
            </a:r>
            <a:endParaRPr lang="en-US" sz="1300" dirty="0"/>
          </a:p>
        </p:txBody>
      </p:sp>
      <p:sp>
        <p:nvSpPr>
          <p:cNvPr id="8" name="Shape 5"/>
          <p:cNvSpPr/>
          <p:nvPr/>
        </p:nvSpPr>
        <p:spPr>
          <a:xfrm>
            <a:off x="640080" y="2724912"/>
            <a:ext cx="10908792" cy="1051560"/>
          </a:xfrm>
          <a:prstGeom prst="roundRect">
            <a:avLst>
              <a:gd name="adj" fmla="val 7826"/>
            </a:avLst>
          </a:prstGeom>
          <a:solidFill>
            <a:srgbClr val="183052"/>
          </a:solidFill>
          <a:ln w="12700">
            <a:solidFill>
              <a:srgbClr val="2E4A73"/>
            </a:solidFill>
            <a:prstDash val="solid"/>
          </a:ln>
          <a:effectLst>
            <a:outerShdw blurRad="101600" dist="38100" dir="5400000" algn="bl" rotWithShape="0">
              <a:srgbClr val="000000">
                <a:alpha val="25000"/>
              </a:srgbClr>
            </a:outerShdw>
          </a:effectLst>
        </p:spPr>
      </p:sp>
      <p:sp>
        <p:nvSpPr>
          <p:cNvPr id="9" name="Shape 6"/>
          <p:cNvSpPr/>
          <p:nvPr/>
        </p:nvSpPr>
        <p:spPr>
          <a:xfrm>
            <a:off x="914400" y="2971800"/>
            <a:ext cx="548640" cy="548640"/>
          </a:xfrm>
          <a:prstGeom prst="ellipse">
            <a:avLst/>
          </a:prstGeom>
          <a:solidFill>
            <a:srgbClr val="C9922A"/>
          </a:solidFill>
          <a:ln/>
        </p:spPr>
      </p:sp>
      <p:pic>
        <p:nvPicPr>
          <p:cNvPr id="10" name="Image 1" descr="/home/claude/dwdeck/icons/alerttriangle.png"/>
          <p:cNvPicPr>
            <a:picLocks noChangeAspect="1"/>
          </p:cNvPicPr>
          <p:nvPr/>
        </p:nvPicPr>
        <p:blipFill>
          <a:blip r:embed="rId4"/>
          <a:stretch>
            <a:fillRect/>
          </a:stretch>
        </p:blipFill>
        <p:spPr>
          <a:xfrm>
            <a:off x="1042416" y="3099816"/>
            <a:ext cx="292608" cy="292608"/>
          </a:xfrm>
          <a:prstGeom prst="rect">
            <a:avLst/>
          </a:prstGeom>
        </p:spPr>
      </p:pic>
      <p:sp>
        <p:nvSpPr>
          <p:cNvPr id="11" name="Text 7"/>
          <p:cNvSpPr/>
          <p:nvPr/>
        </p:nvSpPr>
        <p:spPr>
          <a:xfrm>
            <a:off x="1691640" y="2724912"/>
            <a:ext cx="9692640" cy="1051560"/>
          </a:xfrm>
          <a:prstGeom prst="rect">
            <a:avLst/>
          </a:prstGeom>
          <a:noFill/>
          <a:ln/>
        </p:spPr>
        <p:txBody>
          <a:bodyPr wrap="square" lIns="0" tIns="0" rIns="0" bIns="0" rtlCol="0" anchor="ctr"/>
          <a:lstStyle/>
          <a:p>
            <a:pPr marL="0" indent="0">
              <a:lnSpc>
                <a:spcPct val="120000"/>
              </a:lnSpc>
              <a:buNone/>
            </a:pPr>
            <a:r>
              <a:rPr lang="en-US" sz="1300" b="1" dirty="0">
                <a:solidFill>
                  <a:srgbClr val="F0C96A"/>
                </a:solidFill>
                <a:latin typeface="Calibri" pitchFamily="34" charset="0"/>
                <a:ea typeface="Calibri" pitchFamily="34" charset="-122"/>
                <a:cs typeface="Calibri" pitchFamily="34" charset="-120"/>
              </a:rPr>
              <a:t>Problem It Solves:  </a:t>
            </a:r>
            <a:r>
              <a:rPr lang="en-US" sz="1300" dirty="0">
                <a:solidFill>
                  <a:srgbClr val="B9C4DA"/>
                </a:solidFill>
                <a:latin typeface="Calibri" pitchFamily="34" charset="0"/>
                <a:ea typeface="Calibri" pitchFamily="34" charset="-122"/>
                <a:cs typeface="Calibri" pitchFamily="34" charset="-120"/>
              </a:rPr>
              <a:t>Replaces manual, commission driven advisory conversations with a transparent, zero commission, self serve digital experience.</a:t>
            </a:r>
            <a:endParaRPr lang="en-US" sz="1300" dirty="0"/>
          </a:p>
        </p:txBody>
      </p:sp>
      <p:sp>
        <p:nvSpPr>
          <p:cNvPr id="12" name="Shape 8"/>
          <p:cNvSpPr/>
          <p:nvPr/>
        </p:nvSpPr>
        <p:spPr>
          <a:xfrm>
            <a:off x="640080" y="3895344"/>
            <a:ext cx="10908792" cy="1051560"/>
          </a:xfrm>
          <a:prstGeom prst="roundRect">
            <a:avLst>
              <a:gd name="adj" fmla="val 7826"/>
            </a:avLst>
          </a:prstGeom>
          <a:solidFill>
            <a:srgbClr val="183052"/>
          </a:solidFill>
          <a:ln w="12700">
            <a:solidFill>
              <a:srgbClr val="2E4A73"/>
            </a:solidFill>
            <a:prstDash val="solid"/>
          </a:ln>
          <a:effectLst>
            <a:outerShdw blurRad="101600" dist="38100" dir="5400000" algn="bl" rotWithShape="0">
              <a:srgbClr val="000000">
                <a:alpha val="25000"/>
              </a:srgbClr>
            </a:outerShdw>
          </a:effectLst>
        </p:spPr>
      </p:sp>
      <p:sp>
        <p:nvSpPr>
          <p:cNvPr id="13" name="Shape 9"/>
          <p:cNvSpPr/>
          <p:nvPr/>
        </p:nvSpPr>
        <p:spPr>
          <a:xfrm>
            <a:off x="914400" y="4142232"/>
            <a:ext cx="548640" cy="548640"/>
          </a:xfrm>
          <a:prstGeom prst="ellipse">
            <a:avLst/>
          </a:prstGeom>
          <a:solidFill>
            <a:srgbClr val="C9922A"/>
          </a:solidFill>
          <a:ln/>
        </p:spPr>
      </p:sp>
      <p:pic>
        <p:nvPicPr>
          <p:cNvPr id="14" name="Image 2" descr="/home/claude/dwdeck/icons/users.png"/>
          <p:cNvPicPr>
            <a:picLocks noChangeAspect="1"/>
          </p:cNvPicPr>
          <p:nvPr/>
        </p:nvPicPr>
        <p:blipFill>
          <a:blip r:embed="rId5"/>
          <a:stretch>
            <a:fillRect/>
          </a:stretch>
        </p:blipFill>
        <p:spPr>
          <a:xfrm>
            <a:off x="1042416" y="4270248"/>
            <a:ext cx="292608" cy="292608"/>
          </a:xfrm>
          <a:prstGeom prst="rect">
            <a:avLst/>
          </a:prstGeom>
        </p:spPr>
      </p:pic>
      <p:sp>
        <p:nvSpPr>
          <p:cNvPr id="15" name="Text 10"/>
          <p:cNvSpPr/>
          <p:nvPr/>
        </p:nvSpPr>
        <p:spPr>
          <a:xfrm>
            <a:off x="1691640" y="3895344"/>
            <a:ext cx="9692640" cy="1051560"/>
          </a:xfrm>
          <a:prstGeom prst="rect">
            <a:avLst/>
          </a:prstGeom>
          <a:noFill/>
          <a:ln/>
        </p:spPr>
        <p:txBody>
          <a:bodyPr wrap="square" lIns="0" tIns="0" rIns="0" bIns="0" rtlCol="0" anchor="ctr"/>
          <a:lstStyle/>
          <a:p>
            <a:pPr marL="0" indent="0">
              <a:lnSpc>
                <a:spcPct val="120000"/>
              </a:lnSpc>
              <a:buNone/>
            </a:pPr>
            <a:r>
              <a:rPr lang="en-US" sz="1300" b="1" dirty="0">
                <a:solidFill>
                  <a:srgbClr val="F0C96A"/>
                </a:solidFill>
                <a:latin typeface="Calibri" pitchFamily="34" charset="0"/>
                <a:ea typeface="Calibri" pitchFamily="34" charset="-122"/>
                <a:cs typeface="Calibri" pitchFamily="34" charset="-120"/>
              </a:rPr>
              <a:t>Target Users:  </a:t>
            </a:r>
            <a:r>
              <a:rPr lang="en-US" sz="1300" dirty="0">
                <a:solidFill>
                  <a:srgbClr val="B9C4DA"/>
                </a:solidFill>
                <a:latin typeface="Calibri" pitchFamily="34" charset="0"/>
                <a:ea typeface="Calibri" pitchFamily="34" charset="-122"/>
                <a:cs typeface="Calibri" pitchFamily="34" charset="-120"/>
              </a:rPr>
              <a:t>Domestic retail investors, high net worth NRIs, protection seeking families, and the internal advisory team using the dashboard.</a:t>
            </a:r>
            <a:endParaRPr lang="en-US" sz="1300" dirty="0"/>
          </a:p>
        </p:txBody>
      </p:sp>
      <p:sp>
        <p:nvSpPr>
          <p:cNvPr id="16" name="Shape 11"/>
          <p:cNvSpPr/>
          <p:nvPr/>
        </p:nvSpPr>
        <p:spPr>
          <a:xfrm>
            <a:off x="640080" y="5065776"/>
            <a:ext cx="10908792" cy="1051560"/>
          </a:xfrm>
          <a:prstGeom prst="roundRect">
            <a:avLst>
              <a:gd name="adj" fmla="val 7826"/>
            </a:avLst>
          </a:prstGeom>
          <a:solidFill>
            <a:srgbClr val="183052"/>
          </a:solidFill>
          <a:ln w="12700">
            <a:solidFill>
              <a:srgbClr val="2E4A73"/>
            </a:solidFill>
            <a:prstDash val="solid"/>
          </a:ln>
          <a:effectLst>
            <a:outerShdw blurRad="101600" dist="38100" dir="5400000" algn="bl" rotWithShape="0">
              <a:srgbClr val="000000">
                <a:alpha val="25000"/>
              </a:srgbClr>
            </a:outerShdw>
          </a:effectLst>
        </p:spPr>
      </p:sp>
      <p:sp>
        <p:nvSpPr>
          <p:cNvPr id="17" name="Shape 12"/>
          <p:cNvSpPr/>
          <p:nvPr/>
        </p:nvSpPr>
        <p:spPr>
          <a:xfrm>
            <a:off x="914400" y="5312664"/>
            <a:ext cx="548640" cy="548640"/>
          </a:xfrm>
          <a:prstGeom prst="ellipse">
            <a:avLst/>
          </a:prstGeom>
          <a:solidFill>
            <a:srgbClr val="C9922A"/>
          </a:solidFill>
          <a:ln/>
        </p:spPr>
      </p:sp>
      <p:pic>
        <p:nvPicPr>
          <p:cNvPr id="18" name="Image 3" descr="/home/claude/dwdeck/icons/target.png"/>
          <p:cNvPicPr>
            <a:picLocks noChangeAspect="1"/>
          </p:cNvPicPr>
          <p:nvPr/>
        </p:nvPicPr>
        <p:blipFill>
          <a:blip r:embed="rId6"/>
          <a:stretch>
            <a:fillRect/>
          </a:stretch>
        </p:blipFill>
        <p:spPr>
          <a:xfrm>
            <a:off x="1042416" y="5440680"/>
            <a:ext cx="292608" cy="292608"/>
          </a:xfrm>
          <a:prstGeom prst="rect">
            <a:avLst/>
          </a:prstGeom>
        </p:spPr>
      </p:pic>
      <p:sp>
        <p:nvSpPr>
          <p:cNvPr id="19" name="Text 13"/>
          <p:cNvSpPr/>
          <p:nvPr/>
        </p:nvSpPr>
        <p:spPr>
          <a:xfrm>
            <a:off x="1691640" y="5065776"/>
            <a:ext cx="9692640" cy="1051560"/>
          </a:xfrm>
          <a:prstGeom prst="rect">
            <a:avLst/>
          </a:prstGeom>
          <a:noFill/>
          <a:ln/>
        </p:spPr>
        <p:txBody>
          <a:bodyPr wrap="square" lIns="0" tIns="0" rIns="0" bIns="0" rtlCol="0" anchor="ctr"/>
          <a:lstStyle/>
          <a:p>
            <a:pPr marL="0" indent="0">
              <a:lnSpc>
                <a:spcPct val="120000"/>
              </a:lnSpc>
              <a:buNone/>
            </a:pPr>
            <a:r>
              <a:rPr lang="en-US" sz="1300" b="1" dirty="0">
                <a:solidFill>
                  <a:srgbClr val="F0C96A"/>
                </a:solidFill>
                <a:latin typeface="Calibri" pitchFamily="34" charset="0"/>
                <a:ea typeface="Calibri" pitchFamily="34" charset="-122"/>
                <a:cs typeface="Calibri" pitchFamily="34" charset="-120"/>
              </a:rPr>
              <a:t>Business Objective:  </a:t>
            </a:r>
            <a:r>
              <a:rPr lang="en-US" sz="1300" dirty="0">
                <a:solidFill>
                  <a:srgbClr val="B9C4DA"/>
                </a:solidFill>
                <a:latin typeface="Calibri" pitchFamily="34" charset="0"/>
                <a:ea typeface="Calibri" pitchFamily="34" charset="-122"/>
                <a:cs typeface="Calibri" pitchFamily="34" charset="-120"/>
              </a:rPr>
              <a:t>Generate and qualify leads at scale while building trust through credentials, disclosures and a modern digital presence.</a:t>
            </a:r>
            <a:endParaRPr lang="en-US" sz="1300" dirty="0"/>
          </a:p>
        </p:txBody>
      </p:sp>
      <p:sp>
        <p:nvSpPr>
          <p:cNvPr id="20" name="Text 14"/>
          <p:cNvSpPr/>
          <p:nvPr/>
        </p:nvSpPr>
        <p:spPr>
          <a:xfrm>
            <a:off x="640080" y="6528816"/>
            <a:ext cx="5486400" cy="256032"/>
          </a:xfrm>
          <a:prstGeom prst="rect">
            <a:avLst/>
          </a:prstGeom>
          <a:noFill/>
          <a:ln/>
        </p:spPr>
        <p:txBody>
          <a:bodyPr wrap="square" lIns="0" tIns="0" rIns="0" bIns="0" rtlCol="0" anchor="ctr"/>
          <a:lstStyle/>
          <a:p>
            <a:pPr marL="0" indent="0">
              <a:buNone/>
            </a:pPr>
            <a:r>
              <a:rPr lang="en-US" sz="900" dirty="0">
                <a:solidFill>
                  <a:srgbClr val="8695B3"/>
                </a:solidFill>
                <a:latin typeface="Calibri" pitchFamily="34" charset="0"/>
                <a:ea typeface="Calibri" pitchFamily="34" charset="-122"/>
                <a:cs typeface="Calibri" pitchFamily="34" charset="-120"/>
              </a:rPr>
              <a:t>Drishti Wealth Financial Advisory Platform</a:t>
            </a:r>
            <a:endParaRPr lang="en-US" sz="900" dirty="0"/>
          </a:p>
        </p:txBody>
      </p:sp>
      <p:sp>
        <p:nvSpPr>
          <p:cNvPr id="21" name="Shape 15"/>
          <p:cNvSpPr/>
          <p:nvPr/>
        </p:nvSpPr>
        <p:spPr>
          <a:xfrm>
            <a:off x="11292840" y="6583680"/>
            <a:ext cx="54864" cy="54864"/>
          </a:xfrm>
          <a:prstGeom prst="ellipse">
            <a:avLst/>
          </a:prstGeom>
          <a:solidFill>
            <a:srgbClr val="C9922A"/>
          </a:solidFill>
          <a:ln/>
        </p:spPr>
      </p:sp>
      <p:sp>
        <p:nvSpPr>
          <p:cNvPr id="22" name="Text 16"/>
          <p:cNvSpPr/>
          <p:nvPr/>
        </p:nvSpPr>
        <p:spPr>
          <a:xfrm>
            <a:off x="11430000" y="6528816"/>
            <a:ext cx="365760" cy="256032"/>
          </a:xfrm>
          <a:prstGeom prst="rect">
            <a:avLst/>
          </a:prstGeom>
          <a:noFill/>
          <a:ln/>
        </p:spPr>
        <p:txBody>
          <a:bodyPr wrap="square" lIns="0" tIns="0" rIns="0" bIns="0" rtlCol="0" anchor="ctr"/>
          <a:lstStyle/>
          <a:p>
            <a:pPr marL="0" indent="0" algn="r">
              <a:buNone/>
            </a:pPr>
            <a:r>
              <a:rPr lang="en-US" sz="900" dirty="0">
                <a:solidFill>
                  <a:srgbClr val="8695B3"/>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2545"/>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marL="0" indent="0">
              <a:buNone/>
            </a:pPr>
            <a:r>
              <a:rPr lang="en-US" sz="1150" b="1" kern="0" spc="200" dirty="0">
                <a:solidFill>
                  <a:srgbClr val="C9922A"/>
                </a:solidFill>
                <a:latin typeface="Calibri" pitchFamily="34" charset="0"/>
                <a:ea typeface="Calibri" pitchFamily="34" charset="-122"/>
                <a:cs typeface="Calibri" pitchFamily="34" charset="-120"/>
              </a:rPr>
              <a:t>VISION AND SCOPE</a:t>
            </a:r>
            <a:endParaRPr lang="en-US" sz="1150" dirty="0"/>
          </a:p>
        </p:txBody>
      </p:sp>
      <p:sp>
        <p:nvSpPr>
          <p:cNvPr id="3" name="Text 1"/>
          <p:cNvSpPr/>
          <p:nvPr/>
        </p:nvSpPr>
        <p:spPr>
          <a:xfrm>
            <a:off x="640080" y="713232"/>
            <a:ext cx="996696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Project Overview</a:t>
            </a:r>
            <a:endParaRPr lang="en-US" sz="2800" dirty="0"/>
          </a:p>
        </p:txBody>
      </p:sp>
      <p:sp>
        <p:nvSpPr>
          <p:cNvPr id="4" name="Shape 2"/>
          <p:cNvSpPr/>
          <p:nvPr/>
        </p:nvSpPr>
        <p:spPr>
          <a:xfrm>
            <a:off x="640080" y="1508760"/>
            <a:ext cx="10908792" cy="914400"/>
          </a:xfrm>
          <a:prstGeom prst="roundRect">
            <a:avLst>
              <a:gd name="adj" fmla="val 9000"/>
            </a:avLst>
          </a:prstGeom>
          <a:solidFill>
            <a:srgbClr val="18402E"/>
          </a:solidFill>
          <a:ln w="12700">
            <a:solidFill>
              <a:srgbClr val="2E4A73"/>
            </a:solidFill>
            <a:prstDash val="solid"/>
          </a:ln>
          <a:effectLst>
            <a:outerShdw blurRad="101600" dist="38100" dir="5400000" algn="bl" rotWithShape="0">
              <a:srgbClr val="000000">
                <a:alpha val="25000"/>
              </a:srgbClr>
            </a:outerShdw>
          </a:effectLst>
        </p:spPr>
      </p:sp>
      <p:sp>
        <p:nvSpPr>
          <p:cNvPr id="5" name="Text 3"/>
          <p:cNvSpPr/>
          <p:nvPr/>
        </p:nvSpPr>
        <p:spPr>
          <a:xfrm>
            <a:off x="914400" y="1508760"/>
            <a:ext cx="10332720" cy="914400"/>
          </a:xfrm>
          <a:prstGeom prst="rect">
            <a:avLst/>
          </a:prstGeom>
          <a:noFill/>
          <a:ln/>
        </p:spPr>
        <p:txBody>
          <a:bodyPr wrap="square" lIns="0" tIns="0" rIns="0" bIns="0" rtlCol="0" anchor="ctr"/>
          <a:lstStyle/>
          <a:p>
            <a:pPr marL="0" indent="0">
              <a:lnSpc>
                <a:spcPct val="120000"/>
              </a:lnSpc>
              <a:buNone/>
            </a:pPr>
            <a:r>
              <a:rPr lang="en-US" sz="1400" b="1" dirty="0">
                <a:solidFill>
                  <a:srgbClr val="FFFFFF"/>
                </a:solidFill>
                <a:latin typeface="Calibri" pitchFamily="34" charset="0"/>
                <a:ea typeface="Calibri" pitchFamily="34" charset="-122"/>
                <a:cs typeface="Calibri" pitchFamily="34" charset="-120"/>
              </a:rPr>
              <a:t>Vision:  </a:t>
            </a:r>
            <a:r>
              <a:rPr lang="en-US" sz="1400" dirty="0">
                <a:solidFill>
                  <a:srgbClr val="CFEBD9"/>
                </a:solidFill>
                <a:latin typeface="Calibri" pitchFamily="34" charset="0"/>
                <a:ea typeface="Calibri" pitchFamily="34" charset="-122"/>
                <a:cs typeface="Calibri" pitchFamily="34" charset="-120"/>
              </a:rPr>
              <a:t>Digitize over two decades of advisory trust into a modern, self serve platform that scales beyond one to one client meetings.</a:t>
            </a:r>
            <a:endParaRPr lang="en-US" sz="1400" dirty="0"/>
          </a:p>
        </p:txBody>
      </p:sp>
      <p:sp>
        <p:nvSpPr>
          <p:cNvPr id="6" name="Text 4"/>
          <p:cNvSpPr/>
          <p:nvPr/>
        </p:nvSpPr>
        <p:spPr>
          <a:xfrm>
            <a:off x="640080" y="2606040"/>
            <a:ext cx="5486400" cy="3200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Core Objectives</a:t>
            </a:r>
            <a:endParaRPr lang="en-US" sz="1450" dirty="0"/>
          </a:p>
        </p:txBody>
      </p:sp>
      <p:sp>
        <p:nvSpPr>
          <p:cNvPr id="7" name="Shape 5"/>
          <p:cNvSpPr/>
          <p:nvPr/>
        </p:nvSpPr>
        <p:spPr>
          <a:xfrm>
            <a:off x="640080" y="2971800"/>
            <a:ext cx="2710282" cy="365760"/>
          </a:xfrm>
          <a:prstGeom prst="roundRect">
            <a:avLst>
              <a:gd name="adj" fmla="val 50000"/>
            </a:avLst>
          </a:prstGeom>
          <a:solidFill>
            <a:srgbClr val="13294A"/>
          </a:solidFill>
          <a:ln w="12700">
            <a:solidFill>
              <a:srgbClr val="C9922A"/>
            </a:solidFill>
            <a:prstDash val="solid"/>
          </a:ln>
        </p:spPr>
      </p:sp>
      <p:sp>
        <p:nvSpPr>
          <p:cNvPr id="8" name="Text 6"/>
          <p:cNvSpPr/>
          <p:nvPr/>
        </p:nvSpPr>
        <p:spPr>
          <a:xfrm>
            <a:off x="640080" y="2971800"/>
            <a:ext cx="2710282" cy="365760"/>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React, Vite and Tailwind mastery</a:t>
            </a:r>
            <a:endParaRPr lang="en-US" sz="1050" dirty="0"/>
          </a:p>
        </p:txBody>
      </p:sp>
      <p:sp>
        <p:nvSpPr>
          <p:cNvPr id="9" name="Shape 7"/>
          <p:cNvSpPr/>
          <p:nvPr/>
        </p:nvSpPr>
        <p:spPr>
          <a:xfrm>
            <a:off x="3514954" y="2971800"/>
            <a:ext cx="2410358" cy="365760"/>
          </a:xfrm>
          <a:prstGeom prst="roundRect">
            <a:avLst>
              <a:gd name="adj" fmla="val 50000"/>
            </a:avLst>
          </a:prstGeom>
          <a:solidFill>
            <a:srgbClr val="13294A"/>
          </a:solidFill>
          <a:ln w="12700">
            <a:solidFill>
              <a:srgbClr val="C9922A"/>
            </a:solidFill>
            <a:prstDash val="solid"/>
          </a:ln>
        </p:spPr>
      </p:sp>
      <p:sp>
        <p:nvSpPr>
          <p:cNvPr id="10" name="Text 8"/>
          <p:cNvSpPr/>
          <p:nvPr/>
        </p:nvSpPr>
        <p:spPr>
          <a:xfrm>
            <a:off x="3514954" y="2971800"/>
            <a:ext cx="2410358" cy="365760"/>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Component based architecture</a:t>
            </a:r>
            <a:endParaRPr lang="en-US" sz="1050" dirty="0"/>
          </a:p>
        </p:txBody>
      </p:sp>
      <p:sp>
        <p:nvSpPr>
          <p:cNvPr id="11" name="Shape 9"/>
          <p:cNvSpPr/>
          <p:nvPr/>
        </p:nvSpPr>
        <p:spPr>
          <a:xfrm>
            <a:off x="6089904" y="2971800"/>
            <a:ext cx="2410358" cy="365760"/>
          </a:xfrm>
          <a:prstGeom prst="roundRect">
            <a:avLst>
              <a:gd name="adj" fmla="val 50000"/>
            </a:avLst>
          </a:prstGeom>
          <a:solidFill>
            <a:srgbClr val="13294A"/>
          </a:solidFill>
          <a:ln w="12700">
            <a:solidFill>
              <a:srgbClr val="C9922A"/>
            </a:solidFill>
            <a:prstDash val="solid"/>
          </a:ln>
        </p:spPr>
      </p:sp>
      <p:sp>
        <p:nvSpPr>
          <p:cNvPr id="12" name="Text 10"/>
          <p:cNvSpPr/>
          <p:nvPr/>
        </p:nvSpPr>
        <p:spPr>
          <a:xfrm>
            <a:off x="6089904" y="2971800"/>
            <a:ext cx="2410358" cy="365760"/>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Client side state management</a:t>
            </a:r>
            <a:endParaRPr lang="en-US" sz="1050" dirty="0"/>
          </a:p>
        </p:txBody>
      </p:sp>
      <p:sp>
        <p:nvSpPr>
          <p:cNvPr id="13" name="Shape 11"/>
          <p:cNvSpPr/>
          <p:nvPr/>
        </p:nvSpPr>
        <p:spPr>
          <a:xfrm>
            <a:off x="8664854" y="2971800"/>
            <a:ext cx="2335378" cy="365760"/>
          </a:xfrm>
          <a:prstGeom prst="roundRect">
            <a:avLst>
              <a:gd name="adj" fmla="val 50000"/>
            </a:avLst>
          </a:prstGeom>
          <a:solidFill>
            <a:srgbClr val="13294A"/>
          </a:solidFill>
          <a:ln w="12700">
            <a:solidFill>
              <a:srgbClr val="C9922A"/>
            </a:solidFill>
            <a:prstDash val="solid"/>
          </a:ln>
        </p:spPr>
      </p:sp>
      <p:sp>
        <p:nvSpPr>
          <p:cNvPr id="14" name="Text 12"/>
          <p:cNvSpPr/>
          <p:nvPr/>
        </p:nvSpPr>
        <p:spPr>
          <a:xfrm>
            <a:off x="8664854" y="2971800"/>
            <a:ext cx="2335378" cy="365760"/>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Secure REST API integration</a:t>
            </a:r>
            <a:endParaRPr lang="en-US" sz="1050" dirty="0"/>
          </a:p>
        </p:txBody>
      </p:sp>
      <p:sp>
        <p:nvSpPr>
          <p:cNvPr id="15" name="Shape 13"/>
          <p:cNvSpPr/>
          <p:nvPr/>
        </p:nvSpPr>
        <p:spPr>
          <a:xfrm>
            <a:off x="640080" y="3383280"/>
            <a:ext cx="2860243" cy="365760"/>
          </a:xfrm>
          <a:prstGeom prst="roundRect">
            <a:avLst>
              <a:gd name="adj" fmla="val 50000"/>
            </a:avLst>
          </a:prstGeom>
          <a:solidFill>
            <a:srgbClr val="13294A"/>
          </a:solidFill>
          <a:ln w="12700">
            <a:solidFill>
              <a:srgbClr val="C9922A"/>
            </a:solidFill>
            <a:prstDash val="solid"/>
          </a:ln>
        </p:spPr>
      </p:sp>
      <p:sp>
        <p:nvSpPr>
          <p:cNvPr id="16" name="Text 14"/>
          <p:cNvSpPr/>
          <p:nvPr/>
        </p:nvSpPr>
        <p:spPr>
          <a:xfrm>
            <a:off x="640080" y="3383280"/>
            <a:ext cx="2860243" cy="365760"/>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Web accessibility (a11y) standards</a:t>
            </a:r>
            <a:endParaRPr lang="en-US" sz="1050" dirty="0"/>
          </a:p>
        </p:txBody>
      </p:sp>
      <p:sp>
        <p:nvSpPr>
          <p:cNvPr id="17" name="Shape 15"/>
          <p:cNvSpPr/>
          <p:nvPr/>
        </p:nvSpPr>
        <p:spPr>
          <a:xfrm>
            <a:off x="3664915" y="3383280"/>
            <a:ext cx="2335378" cy="365760"/>
          </a:xfrm>
          <a:prstGeom prst="roundRect">
            <a:avLst>
              <a:gd name="adj" fmla="val 50000"/>
            </a:avLst>
          </a:prstGeom>
          <a:solidFill>
            <a:srgbClr val="13294A"/>
          </a:solidFill>
          <a:ln w="12700">
            <a:solidFill>
              <a:srgbClr val="C9922A"/>
            </a:solidFill>
            <a:prstDash val="solid"/>
          </a:ln>
        </p:spPr>
      </p:sp>
      <p:sp>
        <p:nvSpPr>
          <p:cNvPr id="18" name="Text 16"/>
          <p:cNvSpPr/>
          <p:nvPr/>
        </p:nvSpPr>
        <p:spPr>
          <a:xfrm>
            <a:off x="3664915" y="3383280"/>
            <a:ext cx="2335378" cy="365760"/>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Admin dashboard engineering</a:t>
            </a:r>
            <a:endParaRPr lang="en-US" sz="1050" dirty="0"/>
          </a:p>
        </p:txBody>
      </p:sp>
      <p:sp>
        <p:nvSpPr>
          <p:cNvPr id="19" name="Shape 17"/>
          <p:cNvSpPr/>
          <p:nvPr/>
        </p:nvSpPr>
        <p:spPr>
          <a:xfrm>
            <a:off x="6164885" y="3383280"/>
            <a:ext cx="2785262" cy="365760"/>
          </a:xfrm>
          <a:prstGeom prst="roundRect">
            <a:avLst>
              <a:gd name="adj" fmla="val 50000"/>
            </a:avLst>
          </a:prstGeom>
          <a:solidFill>
            <a:srgbClr val="13294A"/>
          </a:solidFill>
          <a:ln w="12700">
            <a:solidFill>
              <a:srgbClr val="C9922A"/>
            </a:solidFill>
            <a:prstDash val="solid"/>
          </a:ln>
        </p:spPr>
      </p:sp>
      <p:sp>
        <p:nvSpPr>
          <p:cNvPr id="20" name="Text 18"/>
          <p:cNvSpPr/>
          <p:nvPr/>
        </p:nvSpPr>
        <p:spPr>
          <a:xfrm>
            <a:off x="6164885" y="3383280"/>
            <a:ext cx="2785262" cy="365760"/>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Frontend performance optimization</a:t>
            </a:r>
            <a:endParaRPr lang="en-US" sz="1050" dirty="0"/>
          </a:p>
        </p:txBody>
      </p:sp>
      <p:sp>
        <p:nvSpPr>
          <p:cNvPr id="21" name="Shape 19"/>
          <p:cNvSpPr/>
          <p:nvPr/>
        </p:nvSpPr>
        <p:spPr>
          <a:xfrm>
            <a:off x="9114739" y="3383280"/>
            <a:ext cx="2410358" cy="365760"/>
          </a:xfrm>
          <a:prstGeom prst="roundRect">
            <a:avLst>
              <a:gd name="adj" fmla="val 50000"/>
            </a:avLst>
          </a:prstGeom>
          <a:solidFill>
            <a:srgbClr val="13294A"/>
          </a:solidFill>
          <a:ln w="12700">
            <a:solidFill>
              <a:srgbClr val="C9922A"/>
            </a:solidFill>
            <a:prstDash val="solid"/>
          </a:ln>
        </p:spPr>
      </p:sp>
      <p:sp>
        <p:nvSpPr>
          <p:cNvPr id="22" name="Text 20"/>
          <p:cNvSpPr/>
          <p:nvPr/>
        </p:nvSpPr>
        <p:spPr>
          <a:xfrm>
            <a:off x="9114739" y="3383280"/>
            <a:ext cx="2410358" cy="365760"/>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Industry standard Agile SDLC</a:t>
            </a:r>
            <a:endParaRPr lang="en-US" sz="1050" dirty="0"/>
          </a:p>
        </p:txBody>
      </p:sp>
      <p:sp>
        <p:nvSpPr>
          <p:cNvPr id="23" name="Text 21"/>
          <p:cNvSpPr/>
          <p:nvPr/>
        </p:nvSpPr>
        <p:spPr>
          <a:xfrm>
            <a:off x="640080" y="3977640"/>
            <a:ext cx="5486400" cy="3200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Major Functional Modules</a:t>
            </a:r>
            <a:endParaRPr lang="en-US" sz="1450" dirty="0"/>
          </a:p>
        </p:txBody>
      </p:sp>
      <p:sp>
        <p:nvSpPr>
          <p:cNvPr id="24" name="Shape 22"/>
          <p:cNvSpPr/>
          <p:nvPr/>
        </p:nvSpPr>
        <p:spPr>
          <a:xfrm>
            <a:off x="640080" y="4370832"/>
            <a:ext cx="2606040" cy="1051560"/>
          </a:xfrm>
          <a:prstGeom prst="roundRect">
            <a:avLst>
              <a:gd name="adj" fmla="val 7826"/>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25" name="Shape 23"/>
          <p:cNvSpPr/>
          <p:nvPr/>
        </p:nvSpPr>
        <p:spPr>
          <a:xfrm>
            <a:off x="822960" y="4553712"/>
            <a:ext cx="402336" cy="402336"/>
          </a:xfrm>
          <a:prstGeom prst="ellipse">
            <a:avLst/>
          </a:prstGeom>
          <a:solidFill>
            <a:srgbClr val="0D2545"/>
          </a:solidFill>
          <a:ln/>
        </p:spPr>
      </p:sp>
      <p:pic>
        <p:nvPicPr>
          <p:cNvPr id="26" name="Image 0" descr="/home/claude/dwdeck/icons/home.png"/>
          <p:cNvPicPr>
            <a:picLocks noChangeAspect="1"/>
          </p:cNvPicPr>
          <p:nvPr/>
        </p:nvPicPr>
        <p:blipFill>
          <a:blip r:embed="rId3"/>
          <a:stretch>
            <a:fillRect/>
          </a:stretch>
        </p:blipFill>
        <p:spPr>
          <a:xfrm>
            <a:off x="914400" y="4645152"/>
            <a:ext cx="219456" cy="219456"/>
          </a:xfrm>
          <a:prstGeom prst="rect">
            <a:avLst/>
          </a:prstGeom>
        </p:spPr>
      </p:pic>
      <p:sp>
        <p:nvSpPr>
          <p:cNvPr id="27" name="Text 24"/>
          <p:cNvSpPr/>
          <p:nvPr/>
        </p:nvSpPr>
        <p:spPr>
          <a:xfrm>
            <a:off x="822960" y="5029200"/>
            <a:ext cx="2240280"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Landing and Hero</a:t>
            </a:r>
            <a:endParaRPr lang="en-US" sz="1150" dirty="0"/>
          </a:p>
        </p:txBody>
      </p:sp>
      <p:sp>
        <p:nvSpPr>
          <p:cNvPr id="28" name="Shape 25"/>
          <p:cNvSpPr/>
          <p:nvPr/>
        </p:nvSpPr>
        <p:spPr>
          <a:xfrm>
            <a:off x="3429000" y="4370832"/>
            <a:ext cx="2606040" cy="1051560"/>
          </a:xfrm>
          <a:prstGeom prst="roundRect">
            <a:avLst>
              <a:gd name="adj" fmla="val 7826"/>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29" name="Shape 26"/>
          <p:cNvSpPr/>
          <p:nvPr/>
        </p:nvSpPr>
        <p:spPr>
          <a:xfrm>
            <a:off x="3611880" y="4553712"/>
            <a:ext cx="402336" cy="402336"/>
          </a:xfrm>
          <a:prstGeom prst="ellipse">
            <a:avLst/>
          </a:prstGeom>
          <a:solidFill>
            <a:srgbClr val="0D2545"/>
          </a:solidFill>
          <a:ln/>
        </p:spPr>
      </p:sp>
      <p:pic>
        <p:nvPicPr>
          <p:cNvPr id="30" name="Image 1" descr="/home/claude/dwdeck/icons/bookopen.png"/>
          <p:cNvPicPr>
            <a:picLocks noChangeAspect="1"/>
          </p:cNvPicPr>
          <p:nvPr/>
        </p:nvPicPr>
        <p:blipFill>
          <a:blip r:embed="rId4"/>
          <a:stretch>
            <a:fillRect/>
          </a:stretch>
        </p:blipFill>
        <p:spPr>
          <a:xfrm>
            <a:off x="3703320" y="4645152"/>
            <a:ext cx="219456" cy="219456"/>
          </a:xfrm>
          <a:prstGeom prst="rect">
            <a:avLst/>
          </a:prstGeom>
        </p:spPr>
      </p:pic>
      <p:sp>
        <p:nvSpPr>
          <p:cNvPr id="31" name="Text 27"/>
          <p:cNvSpPr/>
          <p:nvPr/>
        </p:nvSpPr>
        <p:spPr>
          <a:xfrm>
            <a:off x="3611880" y="5029200"/>
            <a:ext cx="2240280"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Advisory Pages</a:t>
            </a:r>
            <a:endParaRPr lang="en-US" sz="1150" dirty="0"/>
          </a:p>
        </p:txBody>
      </p:sp>
      <p:sp>
        <p:nvSpPr>
          <p:cNvPr id="32" name="Shape 28"/>
          <p:cNvSpPr/>
          <p:nvPr/>
        </p:nvSpPr>
        <p:spPr>
          <a:xfrm>
            <a:off x="6217920" y="4370832"/>
            <a:ext cx="2606040" cy="1051560"/>
          </a:xfrm>
          <a:prstGeom prst="roundRect">
            <a:avLst>
              <a:gd name="adj" fmla="val 7826"/>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33" name="Shape 29"/>
          <p:cNvSpPr/>
          <p:nvPr/>
        </p:nvSpPr>
        <p:spPr>
          <a:xfrm>
            <a:off x="6400800" y="4553712"/>
            <a:ext cx="402336" cy="402336"/>
          </a:xfrm>
          <a:prstGeom prst="ellipse">
            <a:avLst/>
          </a:prstGeom>
          <a:solidFill>
            <a:srgbClr val="0D2545"/>
          </a:solidFill>
          <a:ln/>
        </p:spPr>
      </p:sp>
      <p:pic>
        <p:nvPicPr>
          <p:cNvPr id="34" name="Image 2" descr="/home/claude/dwdeck/icons/sliders.png"/>
          <p:cNvPicPr>
            <a:picLocks noChangeAspect="1"/>
          </p:cNvPicPr>
          <p:nvPr/>
        </p:nvPicPr>
        <p:blipFill>
          <a:blip r:embed="rId5"/>
          <a:stretch>
            <a:fillRect/>
          </a:stretch>
        </p:blipFill>
        <p:spPr>
          <a:xfrm>
            <a:off x="6492240" y="4645152"/>
            <a:ext cx="219456" cy="219456"/>
          </a:xfrm>
          <a:prstGeom prst="rect">
            <a:avLst/>
          </a:prstGeom>
        </p:spPr>
      </p:pic>
      <p:sp>
        <p:nvSpPr>
          <p:cNvPr id="35" name="Text 30"/>
          <p:cNvSpPr/>
          <p:nvPr/>
        </p:nvSpPr>
        <p:spPr>
          <a:xfrm>
            <a:off x="6400800" y="5029200"/>
            <a:ext cx="2240280"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Calculators</a:t>
            </a:r>
            <a:endParaRPr lang="en-US" sz="1150" dirty="0"/>
          </a:p>
        </p:txBody>
      </p:sp>
      <p:sp>
        <p:nvSpPr>
          <p:cNvPr id="36" name="Shape 31"/>
          <p:cNvSpPr/>
          <p:nvPr/>
        </p:nvSpPr>
        <p:spPr>
          <a:xfrm>
            <a:off x="9006840" y="4370832"/>
            <a:ext cx="2606040" cy="1051560"/>
          </a:xfrm>
          <a:prstGeom prst="roundRect">
            <a:avLst>
              <a:gd name="adj" fmla="val 7826"/>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37" name="Shape 32"/>
          <p:cNvSpPr/>
          <p:nvPr/>
        </p:nvSpPr>
        <p:spPr>
          <a:xfrm>
            <a:off x="9189720" y="4553712"/>
            <a:ext cx="402336" cy="402336"/>
          </a:xfrm>
          <a:prstGeom prst="ellipse">
            <a:avLst/>
          </a:prstGeom>
          <a:solidFill>
            <a:srgbClr val="0D2545"/>
          </a:solidFill>
          <a:ln/>
        </p:spPr>
      </p:sp>
      <p:pic>
        <p:nvPicPr>
          <p:cNvPr id="38" name="Image 3" descr="/home/claude/dwdeck/icons/monitor.png"/>
          <p:cNvPicPr>
            <a:picLocks noChangeAspect="1"/>
          </p:cNvPicPr>
          <p:nvPr/>
        </p:nvPicPr>
        <p:blipFill>
          <a:blip r:embed="rId6"/>
          <a:stretch>
            <a:fillRect/>
          </a:stretch>
        </p:blipFill>
        <p:spPr>
          <a:xfrm>
            <a:off x="9281160" y="4645152"/>
            <a:ext cx="219456" cy="219456"/>
          </a:xfrm>
          <a:prstGeom prst="rect">
            <a:avLst/>
          </a:prstGeom>
        </p:spPr>
      </p:pic>
      <p:sp>
        <p:nvSpPr>
          <p:cNvPr id="39" name="Text 33"/>
          <p:cNvSpPr/>
          <p:nvPr/>
        </p:nvSpPr>
        <p:spPr>
          <a:xfrm>
            <a:off x="9189720" y="5029200"/>
            <a:ext cx="2240280"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Admin Dashboard</a:t>
            </a:r>
            <a:endParaRPr lang="en-US" sz="1150" dirty="0"/>
          </a:p>
        </p:txBody>
      </p:sp>
      <p:sp>
        <p:nvSpPr>
          <p:cNvPr id="40" name="Text 34"/>
          <p:cNvSpPr/>
          <p:nvPr/>
        </p:nvSpPr>
        <p:spPr>
          <a:xfrm>
            <a:off x="640080" y="6528816"/>
            <a:ext cx="5486400" cy="256032"/>
          </a:xfrm>
          <a:prstGeom prst="rect">
            <a:avLst/>
          </a:prstGeom>
          <a:noFill/>
          <a:ln/>
        </p:spPr>
        <p:txBody>
          <a:bodyPr wrap="square" lIns="0" tIns="0" rIns="0" bIns="0" rtlCol="0" anchor="ctr"/>
          <a:lstStyle/>
          <a:p>
            <a:pPr marL="0" indent="0">
              <a:buNone/>
            </a:pPr>
            <a:r>
              <a:rPr lang="en-US" sz="900" dirty="0">
                <a:solidFill>
                  <a:srgbClr val="8695B3"/>
                </a:solidFill>
                <a:latin typeface="Calibri" pitchFamily="34" charset="0"/>
                <a:ea typeface="Calibri" pitchFamily="34" charset="-122"/>
                <a:cs typeface="Calibri" pitchFamily="34" charset="-120"/>
              </a:rPr>
              <a:t>Drishti Wealth Financial Advisory Platform</a:t>
            </a:r>
            <a:endParaRPr lang="en-US" sz="900" dirty="0"/>
          </a:p>
        </p:txBody>
      </p:sp>
      <p:sp>
        <p:nvSpPr>
          <p:cNvPr id="41" name="Shape 35"/>
          <p:cNvSpPr/>
          <p:nvPr/>
        </p:nvSpPr>
        <p:spPr>
          <a:xfrm>
            <a:off x="11292840" y="6583680"/>
            <a:ext cx="54864" cy="54864"/>
          </a:xfrm>
          <a:prstGeom prst="ellipse">
            <a:avLst/>
          </a:prstGeom>
          <a:solidFill>
            <a:srgbClr val="C9922A"/>
          </a:solidFill>
          <a:ln/>
        </p:spPr>
      </p:sp>
      <p:sp>
        <p:nvSpPr>
          <p:cNvPr id="42" name="Text 36"/>
          <p:cNvSpPr/>
          <p:nvPr/>
        </p:nvSpPr>
        <p:spPr>
          <a:xfrm>
            <a:off x="11430000" y="6528816"/>
            <a:ext cx="365760" cy="256032"/>
          </a:xfrm>
          <a:prstGeom prst="rect">
            <a:avLst/>
          </a:prstGeom>
          <a:noFill/>
          <a:ln/>
        </p:spPr>
        <p:txBody>
          <a:bodyPr wrap="square" lIns="0" tIns="0" rIns="0" bIns="0" rtlCol="0" anchor="ctr"/>
          <a:lstStyle/>
          <a:p>
            <a:pPr marL="0" indent="0" algn="r">
              <a:buNone/>
            </a:pPr>
            <a:r>
              <a:rPr lang="en-US" sz="900" dirty="0">
                <a:solidFill>
                  <a:srgbClr val="8695B3"/>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2545"/>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marL="0" indent="0">
              <a:buNone/>
            </a:pPr>
            <a:r>
              <a:rPr lang="en-US" sz="1150" b="1" kern="0" spc="200" dirty="0">
                <a:solidFill>
                  <a:srgbClr val="C9922A"/>
                </a:solidFill>
                <a:latin typeface="Calibri" pitchFamily="34" charset="0"/>
                <a:ea typeface="Calibri" pitchFamily="34" charset="-122"/>
                <a:cs typeface="Calibri" pitchFamily="34" charset="-120"/>
              </a:rPr>
              <a:t>8 WEEK SPRINT CYCLE</a:t>
            </a:r>
            <a:endParaRPr lang="en-US" sz="1150" dirty="0"/>
          </a:p>
        </p:txBody>
      </p:sp>
      <p:sp>
        <p:nvSpPr>
          <p:cNvPr id="3" name="Text 1"/>
          <p:cNvSpPr/>
          <p:nvPr/>
        </p:nvSpPr>
        <p:spPr>
          <a:xfrm>
            <a:off x="640080" y="713232"/>
            <a:ext cx="996696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Development Roadmap</a:t>
            </a:r>
            <a:endParaRPr lang="en-US" sz="2800" dirty="0"/>
          </a:p>
        </p:txBody>
      </p:sp>
      <p:sp>
        <p:nvSpPr>
          <p:cNvPr id="4" name="Text 2"/>
          <p:cNvSpPr/>
          <p:nvPr/>
        </p:nvSpPr>
        <p:spPr>
          <a:xfrm>
            <a:off x="640080" y="1234440"/>
            <a:ext cx="10058400" cy="365760"/>
          </a:xfrm>
          <a:prstGeom prst="rect">
            <a:avLst/>
          </a:prstGeom>
          <a:noFill/>
          <a:ln/>
        </p:spPr>
        <p:txBody>
          <a:bodyPr wrap="square" lIns="0" tIns="0" rIns="0" bIns="0" rtlCol="0" anchor="ctr"/>
          <a:lstStyle/>
          <a:p>
            <a:pPr marL="0" indent="0">
              <a:buNone/>
            </a:pPr>
            <a:r>
              <a:rPr lang="en-US" sz="1350" dirty="0">
                <a:solidFill>
                  <a:srgbClr val="B9C4DA"/>
                </a:solidFill>
                <a:latin typeface="Calibri" pitchFamily="34" charset="0"/>
                <a:ea typeface="Calibri" pitchFamily="34" charset="-122"/>
                <a:cs typeface="Calibri" pitchFamily="34" charset="-120"/>
              </a:rPr>
              <a:t>An agile 8 week sprint cycle focusing on iterative delivery and continuous integration.</a:t>
            </a:r>
            <a:endParaRPr lang="en-US" sz="1350" dirty="0"/>
          </a:p>
        </p:txBody>
      </p:sp>
      <p:sp>
        <p:nvSpPr>
          <p:cNvPr id="5" name="Shape 3"/>
          <p:cNvSpPr/>
          <p:nvPr/>
        </p:nvSpPr>
        <p:spPr>
          <a:xfrm>
            <a:off x="822960" y="4206240"/>
            <a:ext cx="10543032" cy="0"/>
          </a:xfrm>
          <a:prstGeom prst="line">
            <a:avLst/>
          </a:prstGeom>
          <a:noFill/>
          <a:ln w="25400">
            <a:solidFill>
              <a:srgbClr val="2E4A73"/>
            </a:solidFill>
            <a:prstDash val="solid"/>
          </a:ln>
        </p:spPr>
      </p:sp>
      <p:sp>
        <p:nvSpPr>
          <p:cNvPr id="6" name="Shape 4"/>
          <p:cNvSpPr/>
          <p:nvPr/>
        </p:nvSpPr>
        <p:spPr>
          <a:xfrm>
            <a:off x="1985391" y="4050792"/>
            <a:ext cx="310896" cy="310896"/>
          </a:xfrm>
          <a:prstGeom prst="ellipse">
            <a:avLst/>
          </a:prstGeom>
          <a:solidFill>
            <a:srgbClr val="0D2545"/>
          </a:solidFill>
          <a:ln w="38100">
            <a:solidFill>
              <a:srgbClr val="C9922A"/>
            </a:solidFill>
            <a:prstDash val="solid"/>
          </a:ln>
        </p:spPr>
      </p:sp>
      <p:sp>
        <p:nvSpPr>
          <p:cNvPr id="7" name="Text 5"/>
          <p:cNvSpPr/>
          <p:nvPr/>
        </p:nvSpPr>
        <p:spPr>
          <a:xfrm>
            <a:off x="677799" y="4480560"/>
            <a:ext cx="2926080" cy="365760"/>
          </a:xfrm>
          <a:prstGeom prst="rect">
            <a:avLst/>
          </a:prstGeom>
          <a:noFill/>
          <a:ln/>
        </p:spPr>
        <p:txBody>
          <a:bodyPr wrap="square" lIns="0" tIns="0" rIns="0" bIns="0" rtlCol="0" anchor="ctr"/>
          <a:lstStyle/>
          <a:p>
            <a:pPr marL="0" indent="0" algn="ctr">
              <a:buNone/>
            </a:pPr>
            <a:r>
              <a:rPr lang="en-US" sz="1700" b="1" dirty="0">
                <a:solidFill>
                  <a:srgbClr val="F0C96A"/>
                </a:solidFill>
                <a:latin typeface="Calibri" pitchFamily="34" charset="0"/>
                <a:ea typeface="Calibri" pitchFamily="34" charset="-122"/>
                <a:cs typeface="Calibri" pitchFamily="34" charset="-120"/>
              </a:rPr>
              <a:t>Weeks 1-2</a:t>
            </a:r>
            <a:endParaRPr lang="en-US" sz="1700" dirty="0"/>
          </a:p>
        </p:txBody>
      </p:sp>
      <p:sp>
        <p:nvSpPr>
          <p:cNvPr id="8" name="Text 6"/>
          <p:cNvSpPr/>
          <p:nvPr/>
        </p:nvSpPr>
        <p:spPr>
          <a:xfrm>
            <a:off x="677799" y="4892040"/>
            <a:ext cx="2926080" cy="548640"/>
          </a:xfrm>
          <a:prstGeom prst="rect">
            <a:avLst/>
          </a:prstGeom>
          <a:noFill/>
          <a:ln/>
        </p:spPr>
        <p:txBody>
          <a:bodyPr wrap="square" lIns="0" tIns="0" rIns="0" bIns="0" rtlCol="0" anchor="t"/>
          <a:lstStyle/>
          <a:p>
            <a:pPr marL="0" indent="0" algn="ctr">
              <a:buNone/>
            </a:pPr>
            <a:r>
              <a:rPr lang="en-US" sz="1200" dirty="0">
                <a:solidFill>
                  <a:srgbClr val="B9C4DA"/>
                </a:solidFill>
                <a:latin typeface="Calibri" pitchFamily="34" charset="0"/>
                <a:ea typeface="Calibri" pitchFamily="34" charset="-122"/>
                <a:cs typeface="Calibri" pitchFamily="34" charset="-120"/>
              </a:rPr>
              <a:t>Environment Setup &amp; Base UI Components</a:t>
            </a:r>
            <a:endParaRPr lang="en-US" sz="1200" dirty="0"/>
          </a:p>
        </p:txBody>
      </p:sp>
      <p:sp>
        <p:nvSpPr>
          <p:cNvPr id="9" name="Shape 7"/>
          <p:cNvSpPr/>
          <p:nvPr/>
        </p:nvSpPr>
        <p:spPr>
          <a:xfrm>
            <a:off x="4621149" y="4050792"/>
            <a:ext cx="310896" cy="310896"/>
          </a:xfrm>
          <a:prstGeom prst="ellipse">
            <a:avLst/>
          </a:prstGeom>
          <a:solidFill>
            <a:srgbClr val="0D2545"/>
          </a:solidFill>
          <a:ln w="38100">
            <a:solidFill>
              <a:srgbClr val="C9922A"/>
            </a:solidFill>
            <a:prstDash val="solid"/>
          </a:ln>
        </p:spPr>
      </p:sp>
      <p:sp>
        <p:nvSpPr>
          <p:cNvPr id="10" name="Text 8"/>
          <p:cNvSpPr/>
          <p:nvPr/>
        </p:nvSpPr>
        <p:spPr>
          <a:xfrm>
            <a:off x="3313557" y="3154680"/>
            <a:ext cx="2926080" cy="457200"/>
          </a:xfrm>
          <a:prstGeom prst="rect">
            <a:avLst/>
          </a:prstGeom>
          <a:noFill/>
          <a:ln/>
        </p:spPr>
        <p:txBody>
          <a:bodyPr wrap="square" lIns="0" tIns="0" rIns="0" bIns="0" rtlCol="0" anchor="t"/>
          <a:lstStyle/>
          <a:p>
            <a:pPr marL="0" indent="0" algn="ctr">
              <a:buNone/>
            </a:pPr>
            <a:r>
              <a:rPr lang="en-US" sz="1200" dirty="0">
                <a:solidFill>
                  <a:srgbClr val="B9C4DA"/>
                </a:solidFill>
                <a:latin typeface="Calibri" pitchFamily="34" charset="0"/>
                <a:ea typeface="Calibri" pitchFamily="34" charset="-122"/>
                <a:cs typeface="Calibri" pitchFamily="34" charset="-120"/>
              </a:rPr>
              <a:t>Routing &amp; Complex Financial Calculators</a:t>
            </a:r>
            <a:endParaRPr lang="en-US" sz="1200" dirty="0"/>
          </a:p>
        </p:txBody>
      </p:sp>
      <p:sp>
        <p:nvSpPr>
          <p:cNvPr id="11" name="Text 9"/>
          <p:cNvSpPr/>
          <p:nvPr/>
        </p:nvSpPr>
        <p:spPr>
          <a:xfrm>
            <a:off x="3313557" y="3685032"/>
            <a:ext cx="2926080" cy="320040"/>
          </a:xfrm>
          <a:prstGeom prst="rect">
            <a:avLst/>
          </a:prstGeom>
          <a:noFill/>
          <a:ln/>
        </p:spPr>
        <p:txBody>
          <a:bodyPr wrap="square" lIns="0" tIns="0" rIns="0" bIns="0" rtlCol="0" anchor="t"/>
          <a:lstStyle/>
          <a:p>
            <a:pPr marL="0" indent="0" algn="ctr">
              <a:buNone/>
            </a:pPr>
            <a:r>
              <a:rPr lang="en-US" sz="1700" b="1" dirty="0">
                <a:solidFill>
                  <a:srgbClr val="F0C96A"/>
                </a:solidFill>
                <a:latin typeface="Calibri" pitchFamily="34" charset="0"/>
                <a:ea typeface="Calibri" pitchFamily="34" charset="-122"/>
                <a:cs typeface="Calibri" pitchFamily="34" charset="-120"/>
              </a:rPr>
              <a:t>Weeks 3-4</a:t>
            </a:r>
            <a:endParaRPr lang="en-US" sz="1700" dirty="0"/>
          </a:p>
        </p:txBody>
      </p:sp>
      <p:sp>
        <p:nvSpPr>
          <p:cNvPr id="12" name="Shape 10"/>
          <p:cNvSpPr/>
          <p:nvPr/>
        </p:nvSpPr>
        <p:spPr>
          <a:xfrm>
            <a:off x="7256907" y="4050792"/>
            <a:ext cx="310896" cy="310896"/>
          </a:xfrm>
          <a:prstGeom prst="ellipse">
            <a:avLst/>
          </a:prstGeom>
          <a:solidFill>
            <a:srgbClr val="0D2545"/>
          </a:solidFill>
          <a:ln w="38100">
            <a:solidFill>
              <a:srgbClr val="C9922A"/>
            </a:solidFill>
            <a:prstDash val="solid"/>
          </a:ln>
        </p:spPr>
      </p:sp>
      <p:sp>
        <p:nvSpPr>
          <p:cNvPr id="13" name="Text 11"/>
          <p:cNvSpPr/>
          <p:nvPr/>
        </p:nvSpPr>
        <p:spPr>
          <a:xfrm>
            <a:off x="5949315" y="4480560"/>
            <a:ext cx="2926080" cy="365760"/>
          </a:xfrm>
          <a:prstGeom prst="rect">
            <a:avLst/>
          </a:prstGeom>
          <a:noFill/>
          <a:ln/>
        </p:spPr>
        <p:txBody>
          <a:bodyPr wrap="square" lIns="0" tIns="0" rIns="0" bIns="0" rtlCol="0" anchor="ctr"/>
          <a:lstStyle/>
          <a:p>
            <a:pPr marL="0" indent="0" algn="ctr">
              <a:buNone/>
            </a:pPr>
            <a:r>
              <a:rPr lang="en-US" sz="1700" b="1" dirty="0">
                <a:solidFill>
                  <a:srgbClr val="F0C96A"/>
                </a:solidFill>
                <a:latin typeface="Calibri" pitchFamily="34" charset="0"/>
                <a:ea typeface="Calibri" pitchFamily="34" charset="-122"/>
                <a:cs typeface="Calibri" pitchFamily="34" charset="-120"/>
              </a:rPr>
              <a:t>Weeks 5-6</a:t>
            </a:r>
            <a:endParaRPr lang="en-US" sz="1700" dirty="0"/>
          </a:p>
        </p:txBody>
      </p:sp>
      <p:sp>
        <p:nvSpPr>
          <p:cNvPr id="14" name="Text 12"/>
          <p:cNvSpPr/>
          <p:nvPr/>
        </p:nvSpPr>
        <p:spPr>
          <a:xfrm>
            <a:off x="5949315" y="4892040"/>
            <a:ext cx="2926080" cy="548640"/>
          </a:xfrm>
          <a:prstGeom prst="rect">
            <a:avLst/>
          </a:prstGeom>
          <a:noFill/>
          <a:ln/>
        </p:spPr>
        <p:txBody>
          <a:bodyPr wrap="square" lIns="0" tIns="0" rIns="0" bIns="0" rtlCol="0" anchor="t"/>
          <a:lstStyle/>
          <a:p>
            <a:pPr marL="0" indent="0" algn="ctr">
              <a:buNone/>
            </a:pPr>
            <a:r>
              <a:rPr lang="en-US" sz="1200" dirty="0">
                <a:solidFill>
                  <a:srgbClr val="B9C4DA"/>
                </a:solidFill>
                <a:latin typeface="Calibri" pitchFamily="34" charset="0"/>
                <a:ea typeface="Calibri" pitchFamily="34" charset="-122"/>
                <a:cs typeface="Calibri" pitchFamily="34" charset="-120"/>
              </a:rPr>
              <a:t>Authentication &amp; Admin Dashboard</a:t>
            </a:r>
            <a:endParaRPr lang="en-US" sz="1200" dirty="0"/>
          </a:p>
        </p:txBody>
      </p:sp>
      <p:sp>
        <p:nvSpPr>
          <p:cNvPr id="15" name="Shape 13"/>
          <p:cNvSpPr/>
          <p:nvPr/>
        </p:nvSpPr>
        <p:spPr>
          <a:xfrm>
            <a:off x="9892665" y="4050792"/>
            <a:ext cx="310896" cy="310896"/>
          </a:xfrm>
          <a:prstGeom prst="ellipse">
            <a:avLst/>
          </a:prstGeom>
          <a:solidFill>
            <a:srgbClr val="0D2545"/>
          </a:solidFill>
          <a:ln w="38100">
            <a:solidFill>
              <a:srgbClr val="C9922A"/>
            </a:solidFill>
            <a:prstDash val="solid"/>
          </a:ln>
        </p:spPr>
      </p:sp>
      <p:sp>
        <p:nvSpPr>
          <p:cNvPr id="16" name="Text 14"/>
          <p:cNvSpPr/>
          <p:nvPr/>
        </p:nvSpPr>
        <p:spPr>
          <a:xfrm>
            <a:off x="8585073" y="3154680"/>
            <a:ext cx="2926080" cy="457200"/>
          </a:xfrm>
          <a:prstGeom prst="rect">
            <a:avLst/>
          </a:prstGeom>
          <a:noFill/>
          <a:ln/>
        </p:spPr>
        <p:txBody>
          <a:bodyPr wrap="square" lIns="0" tIns="0" rIns="0" bIns="0" rtlCol="0" anchor="t"/>
          <a:lstStyle/>
          <a:p>
            <a:pPr marL="0" indent="0" algn="ctr">
              <a:buNone/>
            </a:pPr>
            <a:r>
              <a:rPr lang="en-US" sz="1200" dirty="0">
                <a:solidFill>
                  <a:srgbClr val="B9C4DA"/>
                </a:solidFill>
                <a:latin typeface="Calibri" pitchFamily="34" charset="0"/>
                <a:ea typeface="Calibri" pitchFamily="34" charset="-122"/>
                <a:cs typeface="Calibri" pitchFamily="34" charset="-120"/>
              </a:rPr>
              <a:t>Performance Tuning &amp; Deployment</a:t>
            </a:r>
            <a:endParaRPr lang="en-US" sz="1200" dirty="0"/>
          </a:p>
        </p:txBody>
      </p:sp>
      <p:sp>
        <p:nvSpPr>
          <p:cNvPr id="17" name="Text 15"/>
          <p:cNvSpPr/>
          <p:nvPr/>
        </p:nvSpPr>
        <p:spPr>
          <a:xfrm>
            <a:off x="8585073" y="3685032"/>
            <a:ext cx="2926080" cy="320040"/>
          </a:xfrm>
          <a:prstGeom prst="rect">
            <a:avLst/>
          </a:prstGeom>
          <a:noFill/>
          <a:ln/>
        </p:spPr>
        <p:txBody>
          <a:bodyPr wrap="square" lIns="0" tIns="0" rIns="0" bIns="0" rtlCol="0" anchor="t"/>
          <a:lstStyle/>
          <a:p>
            <a:pPr marL="0" indent="0" algn="ctr">
              <a:buNone/>
            </a:pPr>
            <a:r>
              <a:rPr lang="en-US" sz="1700" b="1" dirty="0">
                <a:solidFill>
                  <a:srgbClr val="F0C96A"/>
                </a:solidFill>
                <a:latin typeface="Calibri" pitchFamily="34" charset="0"/>
                <a:ea typeface="Calibri" pitchFamily="34" charset="-122"/>
                <a:cs typeface="Calibri" pitchFamily="34" charset="-120"/>
              </a:rPr>
              <a:t>Weeks 7-8</a:t>
            </a:r>
            <a:endParaRPr lang="en-US" sz="1700" dirty="0"/>
          </a:p>
        </p:txBody>
      </p:sp>
      <p:sp>
        <p:nvSpPr>
          <p:cNvPr id="18" name="Text 16"/>
          <p:cNvSpPr/>
          <p:nvPr/>
        </p:nvSpPr>
        <p:spPr>
          <a:xfrm>
            <a:off x="640080" y="6528816"/>
            <a:ext cx="5486400" cy="256032"/>
          </a:xfrm>
          <a:prstGeom prst="rect">
            <a:avLst/>
          </a:prstGeom>
          <a:noFill/>
          <a:ln/>
        </p:spPr>
        <p:txBody>
          <a:bodyPr wrap="square" lIns="0" tIns="0" rIns="0" bIns="0" rtlCol="0" anchor="ctr"/>
          <a:lstStyle/>
          <a:p>
            <a:pPr marL="0" indent="0">
              <a:buNone/>
            </a:pPr>
            <a:r>
              <a:rPr lang="en-US" sz="900" dirty="0">
                <a:solidFill>
                  <a:srgbClr val="8695B3"/>
                </a:solidFill>
                <a:latin typeface="Calibri" pitchFamily="34" charset="0"/>
                <a:ea typeface="Calibri" pitchFamily="34" charset="-122"/>
                <a:cs typeface="Calibri" pitchFamily="34" charset="-120"/>
              </a:rPr>
              <a:t>Drishti Wealth Financial Advisory Platform</a:t>
            </a:r>
            <a:endParaRPr lang="en-US" sz="900" dirty="0"/>
          </a:p>
        </p:txBody>
      </p:sp>
      <p:sp>
        <p:nvSpPr>
          <p:cNvPr id="19" name="Shape 17"/>
          <p:cNvSpPr/>
          <p:nvPr/>
        </p:nvSpPr>
        <p:spPr>
          <a:xfrm>
            <a:off x="11292840" y="6583680"/>
            <a:ext cx="54864" cy="54864"/>
          </a:xfrm>
          <a:prstGeom prst="ellipse">
            <a:avLst/>
          </a:prstGeom>
          <a:solidFill>
            <a:srgbClr val="C9922A"/>
          </a:solidFill>
          <a:ln/>
        </p:spPr>
      </p:sp>
      <p:sp>
        <p:nvSpPr>
          <p:cNvPr id="20" name="Text 18"/>
          <p:cNvSpPr/>
          <p:nvPr/>
        </p:nvSpPr>
        <p:spPr>
          <a:xfrm>
            <a:off x="11430000" y="6528816"/>
            <a:ext cx="365760" cy="256032"/>
          </a:xfrm>
          <a:prstGeom prst="rect">
            <a:avLst/>
          </a:prstGeom>
          <a:noFill/>
          <a:ln/>
        </p:spPr>
        <p:txBody>
          <a:bodyPr wrap="square" lIns="0" tIns="0" rIns="0" bIns="0" rtlCol="0" anchor="ctr"/>
          <a:lstStyle/>
          <a:p>
            <a:pPr marL="0" indent="0" algn="r">
              <a:buNone/>
            </a:pPr>
            <a:r>
              <a:rPr lang="en-US" sz="900" dirty="0">
                <a:solidFill>
                  <a:srgbClr val="8695B3"/>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2545"/>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marL="0" indent="0">
              <a:buNone/>
            </a:pPr>
            <a:r>
              <a:rPr lang="en-US" sz="1150" b="1" kern="0" spc="200" dirty="0">
                <a:solidFill>
                  <a:srgbClr val="C9922A"/>
                </a:solidFill>
                <a:latin typeface="Calibri" pitchFamily="34" charset="0"/>
                <a:ea typeface="Calibri" pitchFamily="34" charset="-122"/>
                <a:cs typeface="Calibri" pitchFamily="34" charset="-120"/>
              </a:rPr>
              <a:t>ENGINEERING DEPTH</a:t>
            </a:r>
            <a:endParaRPr lang="en-US" sz="1150" dirty="0"/>
          </a:p>
        </p:txBody>
      </p:sp>
      <p:sp>
        <p:nvSpPr>
          <p:cNvPr id="3" name="Text 1"/>
          <p:cNvSpPr/>
          <p:nvPr/>
        </p:nvSpPr>
        <p:spPr>
          <a:xfrm>
            <a:off x="640080" y="713232"/>
            <a:ext cx="996696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Complete Technology Stack</a:t>
            </a:r>
            <a:endParaRPr lang="en-US" sz="2800" dirty="0"/>
          </a:p>
        </p:txBody>
      </p:sp>
      <p:sp>
        <p:nvSpPr>
          <p:cNvPr id="4" name="Shape 2"/>
          <p:cNvSpPr/>
          <p:nvPr/>
        </p:nvSpPr>
        <p:spPr>
          <a:xfrm>
            <a:off x="640080" y="1508760"/>
            <a:ext cx="10908792" cy="1508760"/>
          </a:xfrm>
          <a:prstGeom prst="roundRect">
            <a:avLst>
              <a:gd name="adj" fmla="val 5455"/>
            </a:avLst>
          </a:prstGeom>
          <a:solidFill>
            <a:srgbClr val="183052"/>
          </a:solidFill>
          <a:ln w="12700">
            <a:solidFill>
              <a:srgbClr val="2E4A73"/>
            </a:solidFill>
            <a:prstDash val="solid"/>
          </a:ln>
          <a:effectLst>
            <a:outerShdw blurRad="101600" dist="38100" dir="5400000" algn="bl" rotWithShape="0">
              <a:srgbClr val="000000">
                <a:alpha val="25000"/>
              </a:srgbClr>
            </a:outerShdw>
          </a:effectLst>
        </p:spPr>
      </p:sp>
      <p:sp>
        <p:nvSpPr>
          <p:cNvPr id="5" name="Shape 3"/>
          <p:cNvSpPr/>
          <p:nvPr/>
        </p:nvSpPr>
        <p:spPr>
          <a:xfrm>
            <a:off x="896112" y="1709928"/>
            <a:ext cx="457200" cy="457200"/>
          </a:xfrm>
          <a:prstGeom prst="ellipse">
            <a:avLst/>
          </a:prstGeom>
          <a:solidFill>
            <a:srgbClr val="C9922A"/>
          </a:solidFill>
          <a:ln/>
        </p:spPr>
      </p:sp>
      <p:pic>
        <p:nvPicPr>
          <p:cNvPr id="6" name="Image 0" descr="/home/claude/dwdeck/icons/code.png"/>
          <p:cNvPicPr>
            <a:picLocks noChangeAspect="1"/>
          </p:cNvPicPr>
          <p:nvPr/>
        </p:nvPicPr>
        <p:blipFill>
          <a:blip r:embed="rId3"/>
          <a:stretch>
            <a:fillRect/>
          </a:stretch>
        </p:blipFill>
        <p:spPr>
          <a:xfrm>
            <a:off x="1005840" y="1819656"/>
            <a:ext cx="237744" cy="237744"/>
          </a:xfrm>
          <a:prstGeom prst="rect">
            <a:avLst/>
          </a:prstGeom>
        </p:spPr>
      </p:pic>
      <p:sp>
        <p:nvSpPr>
          <p:cNvPr id="7" name="Text 4"/>
          <p:cNvSpPr/>
          <p:nvPr/>
        </p:nvSpPr>
        <p:spPr>
          <a:xfrm>
            <a:off x="1481328" y="1709928"/>
            <a:ext cx="274320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Frontend</a:t>
            </a:r>
            <a:endParaRPr lang="en-US" sz="1400" dirty="0"/>
          </a:p>
        </p:txBody>
      </p:sp>
      <p:sp>
        <p:nvSpPr>
          <p:cNvPr id="8" name="Shape 5"/>
          <p:cNvSpPr/>
          <p:nvPr/>
        </p:nvSpPr>
        <p:spPr>
          <a:xfrm>
            <a:off x="896112" y="2258568"/>
            <a:ext cx="918058" cy="329184"/>
          </a:xfrm>
          <a:prstGeom prst="roundRect">
            <a:avLst>
              <a:gd name="adj" fmla="val 50000"/>
            </a:avLst>
          </a:prstGeom>
          <a:solidFill>
            <a:srgbClr val="0F2748"/>
          </a:solidFill>
          <a:ln w="12700">
            <a:solidFill>
              <a:srgbClr val="2E4A73"/>
            </a:solidFill>
            <a:prstDash val="solid"/>
          </a:ln>
        </p:spPr>
      </p:sp>
      <p:sp>
        <p:nvSpPr>
          <p:cNvPr id="9" name="Text 6"/>
          <p:cNvSpPr/>
          <p:nvPr/>
        </p:nvSpPr>
        <p:spPr>
          <a:xfrm>
            <a:off x="896112" y="2258568"/>
            <a:ext cx="918058" cy="329184"/>
          </a:xfrm>
          <a:prstGeom prst="rect">
            <a:avLst/>
          </a:prstGeom>
          <a:noFill/>
          <a:ln/>
        </p:spPr>
        <p:txBody>
          <a:bodyPr wrap="square" lIns="0" tIns="0" rIns="0" bIns="0" rtlCol="0" anchor="ctr"/>
          <a:lstStyle/>
          <a:p>
            <a:pPr marL="0" indent="0" algn="ctr">
              <a:buNone/>
            </a:pPr>
            <a:r>
              <a:rPr lang="en-US" sz="1050" dirty="0">
                <a:solidFill>
                  <a:srgbClr val="B9C4DA"/>
                </a:solidFill>
                <a:latin typeface="Calibri" pitchFamily="34" charset="0"/>
                <a:ea typeface="Calibri" pitchFamily="34" charset="-122"/>
                <a:cs typeface="Calibri" pitchFamily="34" charset="-120"/>
              </a:rPr>
              <a:t>React 19</a:t>
            </a:r>
            <a:endParaRPr lang="en-US" sz="1050" dirty="0"/>
          </a:p>
        </p:txBody>
      </p:sp>
      <p:sp>
        <p:nvSpPr>
          <p:cNvPr id="10" name="Shape 7"/>
          <p:cNvSpPr/>
          <p:nvPr/>
        </p:nvSpPr>
        <p:spPr>
          <a:xfrm>
            <a:off x="1951330" y="2258568"/>
            <a:ext cx="757123" cy="329184"/>
          </a:xfrm>
          <a:prstGeom prst="roundRect">
            <a:avLst>
              <a:gd name="adj" fmla="val 50000"/>
            </a:avLst>
          </a:prstGeom>
          <a:solidFill>
            <a:srgbClr val="0F2748"/>
          </a:solidFill>
          <a:ln w="12700">
            <a:solidFill>
              <a:srgbClr val="2E4A73"/>
            </a:solidFill>
            <a:prstDash val="solid"/>
          </a:ln>
        </p:spPr>
      </p:sp>
      <p:sp>
        <p:nvSpPr>
          <p:cNvPr id="11" name="Text 8"/>
          <p:cNvSpPr/>
          <p:nvPr/>
        </p:nvSpPr>
        <p:spPr>
          <a:xfrm>
            <a:off x="1951330" y="2258568"/>
            <a:ext cx="757123" cy="329184"/>
          </a:xfrm>
          <a:prstGeom prst="rect">
            <a:avLst/>
          </a:prstGeom>
          <a:noFill/>
          <a:ln/>
        </p:spPr>
        <p:txBody>
          <a:bodyPr wrap="square" lIns="0" tIns="0" rIns="0" bIns="0" rtlCol="0" anchor="ctr"/>
          <a:lstStyle/>
          <a:p>
            <a:pPr marL="0" indent="0" algn="ctr">
              <a:buNone/>
            </a:pPr>
            <a:r>
              <a:rPr lang="en-US" sz="1050" dirty="0">
                <a:solidFill>
                  <a:srgbClr val="B9C4DA"/>
                </a:solidFill>
                <a:latin typeface="Calibri" pitchFamily="34" charset="0"/>
                <a:ea typeface="Calibri" pitchFamily="34" charset="-122"/>
                <a:cs typeface="Calibri" pitchFamily="34" charset="-120"/>
              </a:rPr>
              <a:t>Vite 7</a:t>
            </a:r>
            <a:endParaRPr lang="en-US" sz="1050" dirty="0"/>
          </a:p>
        </p:txBody>
      </p:sp>
      <p:sp>
        <p:nvSpPr>
          <p:cNvPr id="12" name="Shape 9"/>
          <p:cNvSpPr/>
          <p:nvPr/>
        </p:nvSpPr>
        <p:spPr>
          <a:xfrm>
            <a:off x="2845613" y="2258568"/>
            <a:ext cx="1239926" cy="329184"/>
          </a:xfrm>
          <a:prstGeom prst="roundRect">
            <a:avLst>
              <a:gd name="adj" fmla="val 50000"/>
            </a:avLst>
          </a:prstGeom>
          <a:solidFill>
            <a:srgbClr val="0F2748"/>
          </a:solidFill>
          <a:ln w="12700">
            <a:solidFill>
              <a:srgbClr val="2E4A73"/>
            </a:solidFill>
            <a:prstDash val="solid"/>
          </a:ln>
        </p:spPr>
      </p:sp>
      <p:sp>
        <p:nvSpPr>
          <p:cNvPr id="13" name="Text 10"/>
          <p:cNvSpPr/>
          <p:nvPr/>
        </p:nvSpPr>
        <p:spPr>
          <a:xfrm>
            <a:off x="2845613" y="2258568"/>
            <a:ext cx="1239926" cy="329184"/>
          </a:xfrm>
          <a:prstGeom prst="rect">
            <a:avLst/>
          </a:prstGeom>
          <a:noFill/>
          <a:ln/>
        </p:spPr>
        <p:txBody>
          <a:bodyPr wrap="square" lIns="0" tIns="0" rIns="0" bIns="0" rtlCol="0" anchor="ctr"/>
          <a:lstStyle/>
          <a:p>
            <a:pPr marL="0" indent="0" algn="ctr">
              <a:buNone/>
            </a:pPr>
            <a:r>
              <a:rPr lang="en-US" sz="1050" dirty="0">
                <a:solidFill>
                  <a:srgbClr val="B9C4DA"/>
                </a:solidFill>
                <a:latin typeface="Calibri" pitchFamily="34" charset="0"/>
                <a:ea typeface="Calibri" pitchFamily="34" charset="-122"/>
                <a:cs typeface="Calibri" pitchFamily="34" charset="-120"/>
              </a:rPr>
              <a:t>Tailwind CSS</a:t>
            </a:r>
            <a:endParaRPr lang="en-US" sz="1050" dirty="0"/>
          </a:p>
        </p:txBody>
      </p:sp>
      <p:sp>
        <p:nvSpPr>
          <p:cNvPr id="14" name="Shape 11"/>
          <p:cNvSpPr/>
          <p:nvPr/>
        </p:nvSpPr>
        <p:spPr>
          <a:xfrm>
            <a:off x="4222699" y="2258568"/>
            <a:ext cx="1239926" cy="329184"/>
          </a:xfrm>
          <a:prstGeom prst="roundRect">
            <a:avLst>
              <a:gd name="adj" fmla="val 50000"/>
            </a:avLst>
          </a:prstGeom>
          <a:solidFill>
            <a:srgbClr val="0F2748"/>
          </a:solidFill>
          <a:ln w="12700">
            <a:solidFill>
              <a:srgbClr val="2E4A73"/>
            </a:solidFill>
            <a:prstDash val="solid"/>
          </a:ln>
        </p:spPr>
      </p:sp>
      <p:sp>
        <p:nvSpPr>
          <p:cNvPr id="15" name="Text 12"/>
          <p:cNvSpPr/>
          <p:nvPr/>
        </p:nvSpPr>
        <p:spPr>
          <a:xfrm>
            <a:off x="4222699" y="2258568"/>
            <a:ext cx="1239926" cy="329184"/>
          </a:xfrm>
          <a:prstGeom prst="rect">
            <a:avLst/>
          </a:prstGeom>
          <a:noFill/>
          <a:ln/>
        </p:spPr>
        <p:txBody>
          <a:bodyPr wrap="square" lIns="0" tIns="0" rIns="0" bIns="0" rtlCol="0" anchor="ctr"/>
          <a:lstStyle/>
          <a:p>
            <a:pPr marL="0" indent="0" algn="ctr">
              <a:buNone/>
            </a:pPr>
            <a:r>
              <a:rPr lang="en-US" sz="1050" dirty="0">
                <a:solidFill>
                  <a:srgbClr val="B9C4DA"/>
                </a:solidFill>
                <a:latin typeface="Calibri" pitchFamily="34" charset="0"/>
                <a:ea typeface="Calibri" pitchFamily="34" charset="-122"/>
                <a:cs typeface="Calibri" pitchFamily="34" charset="-120"/>
              </a:rPr>
              <a:t>React Router</a:t>
            </a:r>
            <a:endParaRPr lang="en-US" sz="1050" dirty="0"/>
          </a:p>
        </p:txBody>
      </p:sp>
      <p:sp>
        <p:nvSpPr>
          <p:cNvPr id="16" name="Shape 13"/>
          <p:cNvSpPr/>
          <p:nvPr/>
        </p:nvSpPr>
        <p:spPr>
          <a:xfrm>
            <a:off x="5599786" y="2258568"/>
            <a:ext cx="1320394" cy="329184"/>
          </a:xfrm>
          <a:prstGeom prst="roundRect">
            <a:avLst>
              <a:gd name="adj" fmla="val 50000"/>
            </a:avLst>
          </a:prstGeom>
          <a:solidFill>
            <a:srgbClr val="0F2748"/>
          </a:solidFill>
          <a:ln w="12700">
            <a:solidFill>
              <a:srgbClr val="2E4A73"/>
            </a:solidFill>
            <a:prstDash val="solid"/>
          </a:ln>
        </p:spPr>
      </p:sp>
      <p:sp>
        <p:nvSpPr>
          <p:cNvPr id="17" name="Text 14"/>
          <p:cNvSpPr/>
          <p:nvPr/>
        </p:nvSpPr>
        <p:spPr>
          <a:xfrm>
            <a:off x="5599786" y="2258568"/>
            <a:ext cx="1320394" cy="329184"/>
          </a:xfrm>
          <a:prstGeom prst="rect">
            <a:avLst/>
          </a:prstGeom>
          <a:noFill/>
          <a:ln/>
        </p:spPr>
        <p:txBody>
          <a:bodyPr wrap="square" lIns="0" tIns="0" rIns="0" bIns="0" rtlCol="0" anchor="ctr"/>
          <a:lstStyle/>
          <a:p>
            <a:pPr marL="0" indent="0" algn="ctr">
              <a:buNone/>
            </a:pPr>
            <a:r>
              <a:rPr lang="en-US" sz="1050" dirty="0">
                <a:solidFill>
                  <a:srgbClr val="B9C4DA"/>
                </a:solidFill>
                <a:latin typeface="Calibri" pitchFamily="34" charset="0"/>
                <a:ea typeface="Calibri" pitchFamily="34" charset="-122"/>
                <a:cs typeface="Calibri" pitchFamily="34" charset="-120"/>
              </a:rPr>
              <a:t>Framer Motion</a:t>
            </a:r>
            <a:endParaRPr lang="en-US" sz="1050" dirty="0"/>
          </a:p>
        </p:txBody>
      </p:sp>
      <p:sp>
        <p:nvSpPr>
          <p:cNvPr id="18" name="Shape 15"/>
          <p:cNvSpPr/>
          <p:nvPr/>
        </p:nvSpPr>
        <p:spPr>
          <a:xfrm>
            <a:off x="7057339" y="2258568"/>
            <a:ext cx="918058" cy="329184"/>
          </a:xfrm>
          <a:prstGeom prst="roundRect">
            <a:avLst>
              <a:gd name="adj" fmla="val 50000"/>
            </a:avLst>
          </a:prstGeom>
          <a:solidFill>
            <a:srgbClr val="0F2748"/>
          </a:solidFill>
          <a:ln w="12700">
            <a:solidFill>
              <a:srgbClr val="2E4A73"/>
            </a:solidFill>
            <a:prstDash val="solid"/>
          </a:ln>
        </p:spPr>
      </p:sp>
      <p:sp>
        <p:nvSpPr>
          <p:cNvPr id="19" name="Text 16"/>
          <p:cNvSpPr/>
          <p:nvPr/>
        </p:nvSpPr>
        <p:spPr>
          <a:xfrm>
            <a:off x="7057339" y="2258568"/>
            <a:ext cx="918058" cy="329184"/>
          </a:xfrm>
          <a:prstGeom prst="rect">
            <a:avLst/>
          </a:prstGeom>
          <a:noFill/>
          <a:ln/>
        </p:spPr>
        <p:txBody>
          <a:bodyPr wrap="square" lIns="0" tIns="0" rIns="0" bIns="0" rtlCol="0" anchor="ctr"/>
          <a:lstStyle/>
          <a:p>
            <a:pPr marL="0" indent="0" algn="ctr">
              <a:buNone/>
            </a:pPr>
            <a:r>
              <a:rPr lang="en-US" sz="1050" dirty="0">
                <a:solidFill>
                  <a:srgbClr val="B9C4DA"/>
                </a:solidFill>
                <a:latin typeface="Calibri" pitchFamily="34" charset="0"/>
                <a:ea typeface="Calibri" pitchFamily="34" charset="-122"/>
                <a:cs typeface="Calibri" pitchFamily="34" charset="-120"/>
              </a:rPr>
              <a:t>Three.js</a:t>
            </a:r>
            <a:endParaRPr lang="en-US" sz="1050" dirty="0"/>
          </a:p>
        </p:txBody>
      </p:sp>
      <p:sp>
        <p:nvSpPr>
          <p:cNvPr id="20" name="Shape 17"/>
          <p:cNvSpPr/>
          <p:nvPr/>
        </p:nvSpPr>
        <p:spPr>
          <a:xfrm>
            <a:off x="8112557" y="2258568"/>
            <a:ext cx="1642262" cy="329184"/>
          </a:xfrm>
          <a:prstGeom prst="roundRect">
            <a:avLst>
              <a:gd name="adj" fmla="val 50000"/>
            </a:avLst>
          </a:prstGeom>
          <a:solidFill>
            <a:srgbClr val="0F2748"/>
          </a:solidFill>
          <a:ln w="12700">
            <a:solidFill>
              <a:srgbClr val="2E4A73"/>
            </a:solidFill>
            <a:prstDash val="solid"/>
          </a:ln>
        </p:spPr>
      </p:sp>
      <p:sp>
        <p:nvSpPr>
          <p:cNvPr id="21" name="Text 18"/>
          <p:cNvSpPr/>
          <p:nvPr/>
        </p:nvSpPr>
        <p:spPr>
          <a:xfrm>
            <a:off x="8112557" y="2258568"/>
            <a:ext cx="1642262" cy="329184"/>
          </a:xfrm>
          <a:prstGeom prst="rect">
            <a:avLst/>
          </a:prstGeom>
          <a:noFill/>
          <a:ln/>
        </p:spPr>
        <p:txBody>
          <a:bodyPr wrap="square" lIns="0" tIns="0" rIns="0" bIns="0" rtlCol="0" anchor="ctr"/>
          <a:lstStyle/>
          <a:p>
            <a:pPr marL="0" indent="0" algn="ctr">
              <a:buNone/>
            </a:pPr>
            <a:r>
              <a:rPr lang="en-US" sz="1050" dirty="0">
                <a:solidFill>
                  <a:srgbClr val="B9C4DA"/>
                </a:solidFill>
                <a:latin typeface="Calibri" pitchFamily="34" charset="0"/>
                <a:ea typeface="Calibri" pitchFamily="34" charset="-122"/>
                <a:cs typeface="Calibri" pitchFamily="34" charset="-120"/>
              </a:rPr>
              <a:t>React Three Fiber</a:t>
            </a:r>
            <a:endParaRPr lang="en-US" sz="1050" dirty="0"/>
          </a:p>
        </p:txBody>
      </p:sp>
      <p:sp>
        <p:nvSpPr>
          <p:cNvPr id="22" name="Shape 19"/>
          <p:cNvSpPr/>
          <p:nvPr/>
        </p:nvSpPr>
        <p:spPr>
          <a:xfrm>
            <a:off x="9891979" y="2258568"/>
            <a:ext cx="596189" cy="329184"/>
          </a:xfrm>
          <a:prstGeom prst="roundRect">
            <a:avLst>
              <a:gd name="adj" fmla="val 50000"/>
            </a:avLst>
          </a:prstGeom>
          <a:solidFill>
            <a:srgbClr val="0F2748"/>
          </a:solidFill>
          <a:ln w="12700">
            <a:solidFill>
              <a:srgbClr val="2E4A73"/>
            </a:solidFill>
            <a:prstDash val="solid"/>
          </a:ln>
        </p:spPr>
      </p:sp>
      <p:sp>
        <p:nvSpPr>
          <p:cNvPr id="23" name="Text 20"/>
          <p:cNvSpPr/>
          <p:nvPr/>
        </p:nvSpPr>
        <p:spPr>
          <a:xfrm>
            <a:off x="9891979" y="2258568"/>
            <a:ext cx="596189" cy="329184"/>
          </a:xfrm>
          <a:prstGeom prst="rect">
            <a:avLst/>
          </a:prstGeom>
          <a:noFill/>
          <a:ln/>
        </p:spPr>
        <p:txBody>
          <a:bodyPr wrap="square" lIns="0" tIns="0" rIns="0" bIns="0" rtlCol="0" anchor="ctr"/>
          <a:lstStyle/>
          <a:p>
            <a:pPr marL="0" indent="0" algn="ctr">
              <a:buNone/>
            </a:pPr>
            <a:r>
              <a:rPr lang="en-US" sz="1050" dirty="0">
                <a:solidFill>
                  <a:srgbClr val="B9C4DA"/>
                </a:solidFill>
                <a:latin typeface="Calibri" pitchFamily="34" charset="0"/>
                <a:ea typeface="Calibri" pitchFamily="34" charset="-122"/>
                <a:cs typeface="Calibri" pitchFamily="34" charset="-120"/>
              </a:rPr>
              <a:t>GSAP</a:t>
            </a:r>
            <a:endParaRPr lang="en-US" sz="1050" dirty="0"/>
          </a:p>
        </p:txBody>
      </p:sp>
      <p:sp>
        <p:nvSpPr>
          <p:cNvPr id="24" name="Shape 21"/>
          <p:cNvSpPr/>
          <p:nvPr/>
        </p:nvSpPr>
        <p:spPr>
          <a:xfrm>
            <a:off x="896112" y="2642616"/>
            <a:ext cx="676656" cy="329184"/>
          </a:xfrm>
          <a:prstGeom prst="roundRect">
            <a:avLst>
              <a:gd name="adj" fmla="val 50000"/>
            </a:avLst>
          </a:prstGeom>
          <a:solidFill>
            <a:srgbClr val="0F2748"/>
          </a:solidFill>
          <a:ln w="12700">
            <a:solidFill>
              <a:srgbClr val="2E4A73"/>
            </a:solidFill>
            <a:prstDash val="solid"/>
          </a:ln>
        </p:spPr>
      </p:sp>
      <p:sp>
        <p:nvSpPr>
          <p:cNvPr id="25" name="Text 22"/>
          <p:cNvSpPr/>
          <p:nvPr/>
        </p:nvSpPr>
        <p:spPr>
          <a:xfrm>
            <a:off x="896112" y="2642616"/>
            <a:ext cx="676656" cy="329184"/>
          </a:xfrm>
          <a:prstGeom prst="rect">
            <a:avLst/>
          </a:prstGeom>
          <a:noFill/>
          <a:ln/>
        </p:spPr>
        <p:txBody>
          <a:bodyPr wrap="square" lIns="0" tIns="0" rIns="0" bIns="0" rtlCol="0" anchor="ctr"/>
          <a:lstStyle/>
          <a:p>
            <a:pPr marL="0" indent="0" algn="ctr">
              <a:buNone/>
            </a:pPr>
            <a:r>
              <a:rPr lang="en-US" sz="1050" dirty="0">
                <a:solidFill>
                  <a:srgbClr val="B9C4DA"/>
                </a:solidFill>
                <a:latin typeface="Calibri" pitchFamily="34" charset="0"/>
                <a:ea typeface="Calibri" pitchFamily="34" charset="-122"/>
                <a:cs typeface="Calibri" pitchFamily="34" charset="-120"/>
              </a:rPr>
              <a:t>Lenis</a:t>
            </a:r>
            <a:endParaRPr lang="en-US" sz="1050" dirty="0"/>
          </a:p>
        </p:txBody>
      </p:sp>
      <p:sp>
        <p:nvSpPr>
          <p:cNvPr id="26" name="Shape 23"/>
          <p:cNvSpPr/>
          <p:nvPr/>
        </p:nvSpPr>
        <p:spPr>
          <a:xfrm>
            <a:off x="640080" y="3182112"/>
            <a:ext cx="10908792" cy="960120"/>
          </a:xfrm>
          <a:prstGeom prst="roundRect">
            <a:avLst>
              <a:gd name="adj" fmla="val 8571"/>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27" name="Shape 24"/>
          <p:cNvSpPr/>
          <p:nvPr/>
        </p:nvSpPr>
        <p:spPr>
          <a:xfrm>
            <a:off x="896112" y="3383280"/>
            <a:ext cx="457200" cy="457200"/>
          </a:xfrm>
          <a:prstGeom prst="ellipse">
            <a:avLst/>
          </a:prstGeom>
          <a:solidFill>
            <a:srgbClr val="C9922A"/>
          </a:solidFill>
          <a:ln/>
        </p:spPr>
      </p:sp>
      <p:pic>
        <p:nvPicPr>
          <p:cNvPr id="28" name="Image 1" descr="/home/claude/dwdeck/icons/server.png"/>
          <p:cNvPicPr>
            <a:picLocks noChangeAspect="1"/>
          </p:cNvPicPr>
          <p:nvPr/>
        </p:nvPicPr>
        <p:blipFill>
          <a:blip r:embed="rId4"/>
          <a:stretch>
            <a:fillRect/>
          </a:stretch>
        </p:blipFill>
        <p:spPr>
          <a:xfrm>
            <a:off x="1005840" y="3493008"/>
            <a:ext cx="237744" cy="237744"/>
          </a:xfrm>
          <a:prstGeom prst="rect">
            <a:avLst/>
          </a:prstGeom>
        </p:spPr>
      </p:pic>
      <p:sp>
        <p:nvSpPr>
          <p:cNvPr id="29" name="Text 25"/>
          <p:cNvSpPr/>
          <p:nvPr/>
        </p:nvSpPr>
        <p:spPr>
          <a:xfrm>
            <a:off x="1481328" y="3383280"/>
            <a:ext cx="274320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Backend and Data</a:t>
            </a:r>
            <a:endParaRPr lang="en-US" sz="1400" dirty="0"/>
          </a:p>
        </p:txBody>
      </p:sp>
      <p:sp>
        <p:nvSpPr>
          <p:cNvPr id="30" name="Shape 26"/>
          <p:cNvSpPr/>
          <p:nvPr/>
        </p:nvSpPr>
        <p:spPr>
          <a:xfrm>
            <a:off x="896112" y="3931920"/>
            <a:ext cx="1078992" cy="329184"/>
          </a:xfrm>
          <a:prstGeom prst="roundRect">
            <a:avLst>
              <a:gd name="adj" fmla="val 50000"/>
            </a:avLst>
          </a:prstGeom>
          <a:solidFill>
            <a:srgbClr val="0F2748"/>
          </a:solidFill>
          <a:ln w="12700">
            <a:solidFill>
              <a:srgbClr val="2E4A73"/>
            </a:solidFill>
            <a:prstDash val="solid"/>
          </a:ln>
        </p:spPr>
      </p:sp>
      <p:sp>
        <p:nvSpPr>
          <p:cNvPr id="31" name="Text 27"/>
          <p:cNvSpPr/>
          <p:nvPr/>
        </p:nvSpPr>
        <p:spPr>
          <a:xfrm>
            <a:off x="896112" y="3931920"/>
            <a:ext cx="1078992" cy="329184"/>
          </a:xfrm>
          <a:prstGeom prst="rect">
            <a:avLst/>
          </a:prstGeom>
          <a:noFill/>
          <a:ln/>
        </p:spPr>
        <p:txBody>
          <a:bodyPr wrap="square" lIns="0" tIns="0" rIns="0" bIns="0" rtlCol="0" anchor="ctr"/>
          <a:lstStyle/>
          <a:p>
            <a:pPr marL="0" indent="0" algn="ctr">
              <a:buNone/>
            </a:pPr>
            <a:r>
              <a:rPr lang="en-US" sz="1050" dirty="0">
                <a:solidFill>
                  <a:srgbClr val="B9C4DA"/>
                </a:solidFill>
                <a:latin typeface="Calibri" pitchFamily="34" charset="0"/>
                <a:ea typeface="Calibri" pitchFamily="34" charset="-122"/>
                <a:cs typeface="Calibri" pitchFamily="34" charset="-120"/>
              </a:rPr>
              <a:t>Express.js</a:t>
            </a:r>
            <a:endParaRPr lang="en-US" sz="1050" dirty="0"/>
          </a:p>
        </p:txBody>
      </p:sp>
      <p:sp>
        <p:nvSpPr>
          <p:cNvPr id="32" name="Shape 28"/>
          <p:cNvSpPr/>
          <p:nvPr/>
        </p:nvSpPr>
        <p:spPr>
          <a:xfrm>
            <a:off x="2112264" y="3931920"/>
            <a:ext cx="918058" cy="329184"/>
          </a:xfrm>
          <a:prstGeom prst="roundRect">
            <a:avLst>
              <a:gd name="adj" fmla="val 50000"/>
            </a:avLst>
          </a:prstGeom>
          <a:solidFill>
            <a:srgbClr val="0F2748"/>
          </a:solidFill>
          <a:ln w="12700">
            <a:solidFill>
              <a:srgbClr val="2E4A73"/>
            </a:solidFill>
            <a:prstDash val="solid"/>
          </a:ln>
        </p:spPr>
      </p:sp>
      <p:sp>
        <p:nvSpPr>
          <p:cNvPr id="33" name="Text 29"/>
          <p:cNvSpPr/>
          <p:nvPr/>
        </p:nvSpPr>
        <p:spPr>
          <a:xfrm>
            <a:off x="2112264" y="3931920"/>
            <a:ext cx="918058" cy="329184"/>
          </a:xfrm>
          <a:prstGeom prst="rect">
            <a:avLst/>
          </a:prstGeom>
          <a:noFill/>
          <a:ln/>
        </p:spPr>
        <p:txBody>
          <a:bodyPr wrap="square" lIns="0" tIns="0" rIns="0" bIns="0" rtlCol="0" anchor="ctr"/>
          <a:lstStyle/>
          <a:p>
            <a:pPr marL="0" indent="0" algn="ctr">
              <a:buNone/>
            </a:pPr>
            <a:r>
              <a:rPr lang="en-US" sz="1050" dirty="0">
                <a:solidFill>
                  <a:srgbClr val="B9C4DA"/>
                </a:solidFill>
                <a:latin typeface="Calibri" pitchFamily="34" charset="0"/>
                <a:ea typeface="Calibri" pitchFamily="34" charset="-122"/>
                <a:cs typeface="Calibri" pitchFamily="34" charset="-120"/>
              </a:rPr>
              <a:t>Supabase</a:t>
            </a:r>
            <a:endParaRPr lang="en-US" sz="1050" dirty="0"/>
          </a:p>
        </p:txBody>
      </p:sp>
      <p:sp>
        <p:nvSpPr>
          <p:cNvPr id="34" name="Shape 30"/>
          <p:cNvSpPr/>
          <p:nvPr/>
        </p:nvSpPr>
        <p:spPr>
          <a:xfrm>
            <a:off x="3167482" y="3931920"/>
            <a:ext cx="1078992" cy="329184"/>
          </a:xfrm>
          <a:prstGeom prst="roundRect">
            <a:avLst>
              <a:gd name="adj" fmla="val 50000"/>
            </a:avLst>
          </a:prstGeom>
          <a:solidFill>
            <a:srgbClr val="0F2748"/>
          </a:solidFill>
          <a:ln w="12700">
            <a:solidFill>
              <a:srgbClr val="2E4A73"/>
            </a:solidFill>
            <a:prstDash val="solid"/>
          </a:ln>
        </p:spPr>
      </p:sp>
      <p:sp>
        <p:nvSpPr>
          <p:cNvPr id="35" name="Text 31"/>
          <p:cNvSpPr/>
          <p:nvPr/>
        </p:nvSpPr>
        <p:spPr>
          <a:xfrm>
            <a:off x="3167482" y="3931920"/>
            <a:ext cx="1078992" cy="329184"/>
          </a:xfrm>
          <a:prstGeom prst="rect">
            <a:avLst/>
          </a:prstGeom>
          <a:noFill/>
          <a:ln/>
        </p:spPr>
        <p:txBody>
          <a:bodyPr wrap="square" lIns="0" tIns="0" rIns="0" bIns="0" rtlCol="0" anchor="ctr"/>
          <a:lstStyle/>
          <a:p>
            <a:pPr marL="0" indent="0" algn="ctr">
              <a:buNone/>
            </a:pPr>
            <a:r>
              <a:rPr lang="en-US" sz="1050" dirty="0">
                <a:solidFill>
                  <a:srgbClr val="B9C4DA"/>
                </a:solidFill>
                <a:latin typeface="Calibri" pitchFamily="34" charset="0"/>
                <a:ea typeface="Calibri" pitchFamily="34" charset="-122"/>
                <a:cs typeface="Calibri" pitchFamily="34" charset="-120"/>
              </a:rPr>
              <a:t>PostgreSQL</a:t>
            </a:r>
            <a:endParaRPr lang="en-US" sz="1050" dirty="0"/>
          </a:p>
        </p:txBody>
      </p:sp>
      <p:sp>
        <p:nvSpPr>
          <p:cNvPr id="36" name="Shape 32"/>
          <p:cNvSpPr/>
          <p:nvPr/>
        </p:nvSpPr>
        <p:spPr>
          <a:xfrm>
            <a:off x="4383634" y="3931920"/>
            <a:ext cx="1722730" cy="329184"/>
          </a:xfrm>
          <a:prstGeom prst="roundRect">
            <a:avLst>
              <a:gd name="adj" fmla="val 50000"/>
            </a:avLst>
          </a:prstGeom>
          <a:solidFill>
            <a:srgbClr val="0F2748"/>
          </a:solidFill>
          <a:ln w="12700">
            <a:solidFill>
              <a:srgbClr val="2E4A73"/>
            </a:solidFill>
            <a:prstDash val="solid"/>
          </a:ln>
        </p:spPr>
      </p:sp>
      <p:sp>
        <p:nvSpPr>
          <p:cNvPr id="37" name="Text 33"/>
          <p:cNvSpPr/>
          <p:nvPr/>
        </p:nvSpPr>
        <p:spPr>
          <a:xfrm>
            <a:off x="4383634" y="3931920"/>
            <a:ext cx="1722730" cy="329184"/>
          </a:xfrm>
          <a:prstGeom prst="rect">
            <a:avLst/>
          </a:prstGeom>
          <a:noFill/>
          <a:ln/>
        </p:spPr>
        <p:txBody>
          <a:bodyPr wrap="square" lIns="0" tIns="0" rIns="0" bIns="0" rtlCol="0" anchor="ctr"/>
          <a:lstStyle/>
          <a:p>
            <a:pPr marL="0" indent="0" algn="ctr">
              <a:buNone/>
            </a:pPr>
            <a:r>
              <a:rPr lang="en-US" sz="1050" dirty="0">
                <a:solidFill>
                  <a:srgbClr val="B9C4DA"/>
                </a:solidFill>
                <a:latin typeface="Calibri" pitchFamily="34" charset="0"/>
                <a:ea typeface="Calibri" pitchFamily="34" charset="-122"/>
                <a:cs typeface="Calibri" pitchFamily="34" charset="-120"/>
              </a:rPr>
              <a:t>JWT Authentication</a:t>
            </a:r>
            <a:endParaRPr lang="en-US" sz="1050" dirty="0"/>
          </a:p>
        </p:txBody>
      </p:sp>
      <p:sp>
        <p:nvSpPr>
          <p:cNvPr id="38" name="Shape 34"/>
          <p:cNvSpPr/>
          <p:nvPr/>
        </p:nvSpPr>
        <p:spPr>
          <a:xfrm>
            <a:off x="6243523" y="3931920"/>
            <a:ext cx="1722730" cy="329184"/>
          </a:xfrm>
          <a:prstGeom prst="roundRect">
            <a:avLst>
              <a:gd name="adj" fmla="val 50000"/>
            </a:avLst>
          </a:prstGeom>
          <a:solidFill>
            <a:srgbClr val="0F2748"/>
          </a:solidFill>
          <a:ln w="12700">
            <a:solidFill>
              <a:srgbClr val="2E4A73"/>
            </a:solidFill>
            <a:prstDash val="solid"/>
          </a:ln>
        </p:spPr>
      </p:sp>
      <p:sp>
        <p:nvSpPr>
          <p:cNvPr id="39" name="Text 35"/>
          <p:cNvSpPr/>
          <p:nvPr/>
        </p:nvSpPr>
        <p:spPr>
          <a:xfrm>
            <a:off x="6243523" y="3931920"/>
            <a:ext cx="1722730" cy="329184"/>
          </a:xfrm>
          <a:prstGeom prst="rect">
            <a:avLst/>
          </a:prstGeom>
          <a:noFill/>
          <a:ln/>
        </p:spPr>
        <p:txBody>
          <a:bodyPr wrap="square" lIns="0" tIns="0" rIns="0" bIns="0" rtlCol="0" anchor="ctr"/>
          <a:lstStyle/>
          <a:p>
            <a:pPr marL="0" indent="0" algn="ctr">
              <a:buNone/>
            </a:pPr>
            <a:r>
              <a:rPr lang="en-US" sz="1050" dirty="0">
                <a:solidFill>
                  <a:srgbClr val="B9C4DA"/>
                </a:solidFill>
                <a:latin typeface="Calibri" pitchFamily="34" charset="0"/>
                <a:ea typeface="Calibri" pitchFamily="34" charset="-122"/>
                <a:cs typeface="Calibri" pitchFamily="34" charset="-120"/>
              </a:rPr>
              <a:t>Row Level Security</a:t>
            </a:r>
            <a:endParaRPr lang="en-US" sz="1050" dirty="0"/>
          </a:p>
        </p:txBody>
      </p:sp>
      <p:sp>
        <p:nvSpPr>
          <p:cNvPr id="40" name="Shape 36"/>
          <p:cNvSpPr/>
          <p:nvPr/>
        </p:nvSpPr>
        <p:spPr>
          <a:xfrm>
            <a:off x="640080" y="4306824"/>
            <a:ext cx="10908792" cy="777240"/>
          </a:xfrm>
          <a:prstGeom prst="roundRect">
            <a:avLst>
              <a:gd name="adj" fmla="val 10588"/>
            </a:avLst>
          </a:prstGeom>
          <a:solidFill>
            <a:srgbClr val="183052"/>
          </a:solidFill>
          <a:ln w="12700">
            <a:solidFill>
              <a:srgbClr val="2E4A73"/>
            </a:solidFill>
            <a:prstDash val="solid"/>
          </a:ln>
          <a:effectLst>
            <a:outerShdw blurRad="101600" dist="38100" dir="5400000" algn="bl" rotWithShape="0">
              <a:srgbClr val="000000">
                <a:alpha val="25000"/>
              </a:srgbClr>
            </a:outerShdw>
          </a:effectLst>
        </p:spPr>
      </p:sp>
      <p:sp>
        <p:nvSpPr>
          <p:cNvPr id="41" name="Shape 37"/>
          <p:cNvSpPr/>
          <p:nvPr/>
        </p:nvSpPr>
        <p:spPr>
          <a:xfrm>
            <a:off x="896112" y="4507992"/>
            <a:ext cx="457200" cy="457200"/>
          </a:xfrm>
          <a:prstGeom prst="ellipse">
            <a:avLst/>
          </a:prstGeom>
          <a:solidFill>
            <a:srgbClr val="C9922A"/>
          </a:solidFill>
          <a:ln/>
        </p:spPr>
      </p:sp>
      <p:pic>
        <p:nvPicPr>
          <p:cNvPr id="42" name="Image 2" descr="/home/claude/dwdeck/icons/gitbranch.png"/>
          <p:cNvPicPr>
            <a:picLocks noChangeAspect="1"/>
          </p:cNvPicPr>
          <p:nvPr/>
        </p:nvPicPr>
        <p:blipFill>
          <a:blip r:embed="rId5"/>
          <a:stretch>
            <a:fillRect/>
          </a:stretch>
        </p:blipFill>
        <p:spPr>
          <a:xfrm>
            <a:off x="1005840" y="4617720"/>
            <a:ext cx="237744" cy="237744"/>
          </a:xfrm>
          <a:prstGeom prst="rect">
            <a:avLst/>
          </a:prstGeom>
        </p:spPr>
      </p:pic>
      <p:sp>
        <p:nvSpPr>
          <p:cNvPr id="43" name="Text 38"/>
          <p:cNvSpPr/>
          <p:nvPr/>
        </p:nvSpPr>
        <p:spPr>
          <a:xfrm>
            <a:off x="1481328" y="4507992"/>
            <a:ext cx="274320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Hosting and Tooling</a:t>
            </a:r>
            <a:endParaRPr lang="en-US" sz="1400" dirty="0"/>
          </a:p>
        </p:txBody>
      </p:sp>
      <p:sp>
        <p:nvSpPr>
          <p:cNvPr id="44" name="Shape 39"/>
          <p:cNvSpPr/>
          <p:nvPr/>
        </p:nvSpPr>
        <p:spPr>
          <a:xfrm>
            <a:off x="896112" y="5056632"/>
            <a:ext cx="757123" cy="329184"/>
          </a:xfrm>
          <a:prstGeom prst="roundRect">
            <a:avLst>
              <a:gd name="adj" fmla="val 50000"/>
            </a:avLst>
          </a:prstGeom>
          <a:solidFill>
            <a:srgbClr val="0F2748"/>
          </a:solidFill>
          <a:ln w="12700">
            <a:solidFill>
              <a:srgbClr val="2E4A73"/>
            </a:solidFill>
            <a:prstDash val="solid"/>
          </a:ln>
        </p:spPr>
      </p:sp>
      <p:sp>
        <p:nvSpPr>
          <p:cNvPr id="45" name="Text 40"/>
          <p:cNvSpPr/>
          <p:nvPr/>
        </p:nvSpPr>
        <p:spPr>
          <a:xfrm>
            <a:off x="896112" y="5056632"/>
            <a:ext cx="757123" cy="329184"/>
          </a:xfrm>
          <a:prstGeom prst="rect">
            <a:avLst/>
          </a:prstGeom>
          <a:noFill/>
          <a:ln/>
        </p:spPr>
        <p:txBody>
          <a:bodyPr wrap="square" lIns="0" tIns="0" rIns="0" bIns="0" rtlCol="0" anchor="ctr"/>
          <a:lstStyle/>
          <a:p>
            <a:pPr marL="0" indent="0" algn="ctr">
              <a:buNone/>
            </a:pPr>
            <a:r>
              <a:rPr lang="en-US" sz="1050" dirty="0">
                <a:solidFill>
                  <a:srgbClr val="B9C4DA"/>
                </a:solidFill>
                <a:latin typeface="Calibri" pitchFamily="34" charset="0"/>
                <a:ea typeface="Calibri" pitchFamily="34" charset="-122"/>
                <a:cs typeface="Calibri" pitchFamily="34" charset="-120"/>
              </a:rPr>
              <a:t>Vercel</a:t>
            </a:r>
            <a:endParaRPr lang="en-US" sz="1050" dirty="0"/>
          </a:p>
        </p:txBody>
      </p:sp>
      <p:sp>
        <p:nvSpPr>
          <p:cNvPr id="46" name="Shape 41"/>
          <p:cNvSpPr/>
          <p:nvPr/>
        </p:nvSpPr>
        <p:spPr>
          <a:xfrm>
            <a:off x="1790395" y="5056632"/>
            <a:ext cx="837590" cy="329184"/>
          </a:xfrm>
          <a:prstGeom prst="roundRect">
            <a:avLst>
              <a:gd name="adj" fmla="val 50000"/>
            </a:avLst>
          </a:prstGeom>
          <a:solidFill>
            <a:srgbClr val="0F2748"/>
          </a:solidFill>
          <a:ln w="12700">
            <a:solidFill>
              <a:srgbClr val="2E4A73"/>
            </a:solidFill>
            <a:prstDash val="solid"/>
          </a:ln>
        </p:spPr>
      </p:sp>
      <p:sp>
        <p:nvSpPr>
          <p:cNvPr id="47" name="Text 42"/>
          <p:cNvSpPr/>
          <p:nvPr/>
        </p:nvSpPr>
        <p:spPr>
          <a:xfrm>
            <a:off x="1790395" y="5056632"/>
            <a:ext cx="837590" cy="329184"/>
          </a:xfrm>
          <a:prstGeom prst="rect">
            <a:avLst/>
          </a:prstGeom>
          <a:noFill/>
          <a:ln/>
        </p:spPr>
        <p:txBody>
          <a:bodyPr wrap="square" lIns="0" tIns="0" rIns="0" bIns="0" rtlCol="0" anchor="ctr"/>
          <a:lstStyle/>
          <a:p>
            <a:pPr marL="0" indent="0" algn="ctr">
              <a:buNone/>
            </a:pPr>
            <a:r>
              <a:rPr lang="en-US" sz="1050" dirty="0">
                <a:solidFill>
                  <a:srgbClr val="B9C4DA"/>
                </a:solidFill>
                <a:latin typeface="Calibri" pitchFamily="34" charset="0"/>
                <a:ea typeface="Calibri" pitchFamily="34" charset="-122"/>
                <a:cs typeface="Calibri" pitchFamily="34" charset="-120"/>
              </a:rPr>
              <a:t>Node.js</a:t>
            </a:r>
            <a:endParaRPr lang="en-US" sz="1050" dirty="0"/>
          </a:p>
        </p:txBody>
      </p:sp>
      <p:sp>
        <p:nvSpPr>
          <p:cNvPr id="48" name="Shape 43"/>
          <p:cNvSpPr/>
          <p:nvPr/>
        </p:nvSpPr>
        <p:spPr>
          <a:xfrm>
            <a:off x="2765146" y="5056632"/>
            <a:ext cx="515722" cy="329184"/>
          </a:xfrm>
          <a:prstGeom prst="roundRect">
            <a:avLst>
              <a:gd name="adj" fmla="val 50000"/>
            </a:avLst>
          </a:prstGeom>
          <a:solidFill>
            <a:srgbClr val="0F2748"/>
          </a:solidFill>
          <a:ln w="12700">
            <a:solidFill>
              <a:srgbClr val="2E4A73"/>
            </a:solidFill>
            <a:prstDash val="solid"/>
          </a:ln>
        </p:spPr>
      </p:sp>
      <p:sp>
        <p:nvSpPr>
          <p:cNvPr id="49" name="Text 44"/>
          <p:cNvSpPr/>
          <p:nvPr/>
        </p:nvSpPr>
        <p:spPr>
          <a:xfrm>
            <a:off x="2765146" y="5056632"/>
            <a:ext cx="515722" cy="329184"/>
          </a:xfrm>
          <a:prstGeom prst="rect">
            <a:avLst/>
          </a:prstGeom>
          <a:noFill/>
          <a:ln/>
        </p:spPr>
        <p:txBody>
          <a:bodyPr wrap="square" lIns="0" tIns="0" rIns="0" bIns="0" rtlCol="0" anchor="ctr"/>
          <a:lstStyle/>
          <a:p>
            <a:pPr marL="0" indent="0" algn="ctr">
              <a:buNone/>
            </a:pPr>
            <a:r>
              <a:rPr lang="en-US" sz="1050" dirty="0">
                <a:solidFill>
                  <a:srgbClr val="B9C4DA"/>
                </a:solidFill>
                <a:latin typeface="Calibri" pitchFamily="34" charset="0"/>
                <a:ea typeface="Calibri" pitchFamily="34" charset="-122"/>
                <a:cs typeface="Calibri" pitchFamily="34" charset="-120"/>
              </a:rPr>
              <a:t>Git</a:t>
            </a:r>
            <a:endParaRPr lang="en-US" sz="1050" dirty="0"/>
          </a:p>
        </p:txBody>
      </p:sp>
      <p:sp>
        <p:nvSpPr>
          <p:cNvPr id="50" name="Shape 45"/>
          <p:cNvSpPr/>
          <p:nvPr/>
        </p:nvSpPr>
        <p:spPr>
          <a:xfrm>
            <a:off x="3418027" y="5056632"/>
            <a:ext cx="757123" cy="329184"/>
          </a:xfrm>
          <a:prstGeom prst="roundRect">
            <a:avLst>
              <a:gd name="adj" fmla="val 50000"/>
            </a:avLst>
          </a:prstGeom>
          <a:solidFill>
            <a:srgbClr val="0F2748"/>
          </a:solidFill>
          <a:ln w="12700">
            <a:solidFill>
              <a:srgbClr val="2E4A73"/>
            </a:solidFill>
            <a:prstDash val="solid"/>
          </a:ln>
        </p:spPr>
      </p:sp>
      <p:sp>
        <p:nvSpPr>
          <p:cNvPr id="51" name="Text 46"/>
          <p:cNvSpPr/>
          <p:nvPr/>
        </p:nvSpPr>
        <p:spPr>
          <a:xfrm>
            <a:off x="3418027" y="5056632"/>
            <a:ext cx="757123" cy="329184"/>
          </a:xfrm>
          <a:prstGeom prst="rect">
            <a:avLst/>
          </a:prstGeom>
          <a:noFill/>
          <a:ln/>
        </p:spPr>
        <p:txBody>
          <a:bodyPr wrap="square" lIns="0" tIns="0" rIns="0" bIns="0" rtlCol="0" anchor="ctr"/>
          <a:lstStyle/>
          <a:p>
            <a:pPr marL="0" indent="0" algn="ctr">
              <a:buNone/>
            </a:pPr>
            <a:r>
              <a:rPr lang="en-US" sz="1050" dirty="0">
                <a:solidFill>
                  <a:srgbClr val="B9C4DA"/>
                </a:solidFill>
                <a:latin typeface="Calibri" pitchFamily="34" charset="0"/>
                <a:ea typeface="Calibri" pitchFamily="34" charset="-122"/>
                <a:cs typeface="Calibri" pitchFamily="34" charset="-120"/>
              </a:rPr>
              <a:t>GitHub</a:t>
            </a:r>
            <a:endParaRPr lang="en-US" sz="1050" dirty="0"/>
          </a:p>
        </p:txBody>
      </p:sp>
      <p:sp>
        <p:nvSpPr>
          <p:cNvPr id="52" name="Text 47"/>
          <p:cNvSpPr/>
          <p:nvPr/>
        </p:nvSpPr>
        <p:spPr>
          <a:xfrm>
            <a:off x="640080" y="6528816"/>
            <a:ext cx="5486400" cy="256032"/>
          </a:xfrm>
          <a:prstGeom prst="rect">
            <a:avLst/>
          </a:prstGeom>
          <a:noFill/>
          <a:ln/>
        </p:spPr>
        <p:txBody>
          <a:bodyPr wrap="square" lIns="0" tIns="0" rIns="0" bIns="0" rtlCol="0" anchor="ctr"/>
          <a:lstStyle/>
          <a:p>
            <a:pPr marL="0" indent="0">
              <a:buNone/>
            </a:pPr>
            <a:r>
              <a:rPr lang="en-US" sz="900" dirty="0">
                <a:solidFill>
                  <a:srgbClr val="8695B3"/>
                </a:solidFill>
                <a:latin typeface="Calibri" pitchFamily="34" charset="0"/>
                <a:ea typeface="Calibri" pitchFamily="34" charset="-122"/>
                <a:cs typeface="Calibri" pitchFamily="34" charset="-120"/>
              </a:rPr>
              <a:t>Drishti Wealth Financial Advisory Platform</a:t>
            </a:r>
            <a:endParaRPr lang="en-US" sz="900" dirty="0"/>
          </a:p>
        </p:txBody>
      </p:sp>
      <p:sp>
        <p:nvSpPr>
          <p:cNvPr id="53" name="Shape 48"/>
          <p:cNvSpPr/>
          <p:nvPr/>
        </p:nvSpPr>
        <p:spPr>
          <a:xfrm>
            <a:off x="11292840" y="6583680"/>
            <a:ext cx="54864" cy="54864"/>
          </a:xfrm>
          <a:prstGeom prst="ellipse">
            <a:avLst/>
          </a:prstGeom>
          <a:solidFill>
            <a:srgbClr val="C9922A"/>
          </a:solidFill>
          <a:ln/>
        </p:spPr>
      </p:sp>
      <p:sp>
        <p:nvSpPr>
          <p:cNvPr id="54" name="Text 49"/>
          <p:cNvSpPr/>
          <p:nvPr/>
        </p:nvSpPr>
        <p:spPr>
          <a:xfrm>
            <a:off x="11430000" y="6528816"/>
            <a:ext cx="365760" cy="256032"/>
          </a:xfrm>
          <a:prstGeom prst="rect">
            <a:avLst/>
          </a:prstGeom>
          <a:noFill/>
          <a:ln/>
        </p:spPr>
        <p:txBody>
          <a:bodyPr wrap="square" lIns="0" tIns="0" rIns="0" bIns="0" rtlCol="0" anchor="ctr"/>
          <a:lstStyle/>
          <a:p>
            <a:pPr marL="0" indent="0" algn="r">
              <a:buNone/>
            </a:pPr>
            <a:r>
              <a:rPr lang="en-US" sz="900" dirty="0">
                <a:solidFill>
                  <a:srgbClr val="8695B3"/>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2545"/>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marL="0" indent="0">
              <a:buNone/>
            </a:pPr>
            <a:r>
              <a:rPr lang="en-US" sz="1150" b="1" kern="0" spc="200" dirty="0">
                <a:solidFill>
                  <a:srgbClr val="C9922A"/>
                </a:solidFill>
                <a:latin typeface="Calibri" pitchFamily="34" charset="0"/>
                <a:ea typeface="Calibri" pitchFamily="34" charset="-122"/>
                <a:cs typeface="Calibri" pitchFamily="34" charset="-120"/>
              </a:rPr>
              <a:t>REQUEST FLOW</a:t>
            </a:r>
            <a:endParaRPr lang="en-US" sz="1150" dirty="0"/>
          </a:p>
        </p:txBody>
      </p:sp>
      <p:sp>
        <p:nvSpPr>
          <p:cNvPr id="3" name="Text 1"/>
          <p:cNvSpPr/>
          <p:nvPr/>
        </p:nvSpPr>
        <p:spPr>
          <a:xfrm>
            <a:off x="640080" y="713232"/>
            <a:ext cx="996696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System Architecture</a:t>
            </a:r>
            <a:endParaRPr lang="en-US" sz="2800" dirty="0"/>
          </a:p>
        </p:txBody>
      </p:sp>
      <p:sp>
        <p:nvSpPr>
          <p:cNvPr id="4" name="Shape 2"/>
          <p:cNvSpPr/>
          <p:nvPr/>
        </p:nvSpPr>
        <p:spPr>
          <a:xfrm>
            <a:off x="3566160" y="1371600"/>
            <a:ext cx="5029200" cy="630936"/>
          </a:xfrm>
          <a:prstGeom prst="roundRect">
            <a:avLst>
              <a:gd name="adj" fmla="val 13043"/>
            </a:avLst>
          </a:prstGeom>
          <a:solidFill>
            <a:srgbClr val="183052"/>
          </a:solidFill>
          <a:ln w="12700">
            <a:solidFill>
              <a:srgbClr val="2E4A73"/>
            </a:solidFill>
            <a:prstDash val="solid"/>
          </a:ln>
          <a:effectLst>
            <a:outerShdw blurRad="101600" dist="38100" dir="5400000" algn="bl" rotWithShape="0">
              <a:srgbClr val="000000">
                <a:alpha val="25000"/>
              </a:srgbClr>
            </a:outerShdw>
          </a:effectLst>
        </p:spPr>
      </p:sp>
      <p:sp>
        <p:nvSpPr>
          <p:cNvPr id="5" name="Text 3"/>
          <p:cNvSpPr/>
          <p:nvPr/>
        </p:nvSpPr>
        <p:spPr>
          <a:xfrm>
            <a:off x="3794760" y="1481328"/>
            <a:ext cx="4572000" cy="237744"/>
          </a:xfrm>
          <a:prstGeom prst="rect">
            <a:avLst/>
          </a:prstGeom>
          <a:noFill/>
          <a:ln/>
        </p:spPr>
        <p:txBody>
          <a:bodyPr wrap="square" lIns="0" tIns="0" rIns="0" bIns="0" rtlCol="0" anchor="t"/>
          <a:lstStyle/>
          <a:p>
            <a:pPr marL="0" indent="0" algn="l">
              <a:buNone/>
            </a:pPr>
            <a:r>
              <a:rPr lang="en-US" sz="1450" b="1" dirty="0">
                <a:solidFill>
                  <a:srgbClr val="FFFFFF"/>
                </a:solidFill>
                <a:latin typeface="Calibri" pitchFamily="34" charset="0"/>
                <a:ea typeface="Calibri" pitchFamily="34" charset="-122"/>
                <a:cs typeface="Calibri" pitchFamily="34" charset="-120"/>
              </a:rPr>
              <a:t>Browser</a:t>
            </a:r>
            <a:endParaRPr lang="en-US" sz="1450" dirty="0"/>
          </a:p>
        </p:txBody>
      </p:sp>
      <p:sp>
        <p:nvSpPr>
          <p:cNvPr id="6" name="Text 4"/>
          <p:cNvSpPr/>
          <p:nvPr/>
        </p:nvSpPr>
        <p:spPr>
          <a:xfrm>
            <a:off x="3794760" y="1792224"/>
            <a:ext cx="4572000" cy="256032"/>
          </a:xfrm>
          <a:prstGeom prst="rect">
            <a:avLst/>
          </a:prstGeom>
          <a:noFill/>
          <a:ln/>
        </p:spPr>
        <p:txBody>
          <a:bodyPr wrap="square" lIns="0" tIns="0" rIns="0" bIns="0" rtlCol="0" anchor="t"/>
          <a:lstStyle/>
          <a:p>
            <a:pPr marL="0" indent="0" algn="l">
              <a:buNone/>
            </a:pPr>
            <a:r>
              <a:rPr lang="en-US" sz="1000" dirty="0">
                <a:solidFill>
                  <a:srgbClr val="B9C4DA"/>
                </a:solidFill>
                <a:latin typeface="Calibri" pitchFamily="34" charset="0"/>
                <a:ea typeface="Calibri" pitchFamily="34" charset="-122"/>
                <a:cs typeface="Calibri" pitchFamily="34" charset="-120"/>
              </a:rPr>
              <a:t>User's device, renders the SPA</a:t>
            </a:r>
            <a:endParaRPr lang="en-US" sz="1000" dirty="0"/>
          </a:p>
        </p:txBody>
      </p:sp>
      <p:sp>
        <p:nvSpPr>
          <p:cNvPr id="7" name="Shape 5"/>
          <p:cNvSpPr/>
          <p:nvPr/>
        </p:nvSpPr>
        <p:spPr>
          <a:xfrm>
            <a:off x="6080760" y="2002536"/>
            <a:ext cx="0" cy="91440"/>
          </a:xfrm>
          <a:prstGeom prst="line">
            <a:avLst/>
          </a:prstGeom>
          <a:noFill/>
          <a:ln w="25400">
            <a:solidFill>
              <a:srgbClr val="C9922A"/>
            </a:solidFill>
            <a:prstDash val="solid"/>
            <a:tailEnd type="triangle"/>
          </a:ln>
        </p:spPr>
      </p:sp>
      <p:sp>
        <p:nvSpPr>
          <p:cNvPr id="8" name="Shape 6"/>
          <p:cNvSpPr/>
          <p:nvPr/>
        </p:nvSpPr>
        <p:spPr>
          <a:xfrm>
            <a:off x="3566160" y="2093976"/>
            <a:ext cx="5029200" cy="630936"/>
          </a:xfrm>
          <a:prstGeom prst="roundRect">
            <a:avLst>
              <a:gd name="adj" fmla="val 13043"/>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9" name="Text 7"/>
          <p:cNvSpPr/>
          <p:nvPr/>
        </p:nvSpPr>
        <p:spPr>
          <a:xfrm>
            <a:off x="3794760" y="2203704"/>
            <a:ext cx="4572000" cy="237744"/>
          </a:xfrm>
          <a:prstGeom prst="rect">
            <a:avLst/>
          </a:prstGeom>
          <a:noFill/>
          <a:ln/>
        </p:spPr>
        <p:txBody>
          <a:bodyPr wrap="square" lIns="0" tIns="0" rIns="0" bIns="0" rtlCol="0" anchor="t"/>
          <a:lstStyle/>
          <a:p>
            <a:pPr marL="0" indent="0" algn="l">
              <a:buNone/>
            </a:pPr>
            <a:r>
              <a:rPr lang="en-US" sz="1450" b="1" dirty="0">
                <a:solidFill>
                  <a:srgbClr val="FFFFFF"/>
                </a:solidFill>
                <a:latin typeface="Calibri" pitchFamily="34" charset="0"/>
                <a:ea typeface="Calibri" pitchFamily="34" charset="-122"/>
                <a:cs typeface="Calibri" pitchFamily="34" charset="-120"/>
              </a:rPr>
              <a:t>React Frontend</a:t>
            </a:r>
            <a:endParaRPr lang="en-US" sz="1450" dirty="0"/>
          </a:p>
        </p:txBody>
      </p:sp>
      <p:sp>
        <p:nvSpPr>
          <p:cNvPr id="10" name="Text 8"/>
          <p:cNvSpPr/>
          <p:nvPr/>
        </p:nvSpPr>
        <p:spPr>
          <a:xfrm>
            <a:off x="3794760" y="2514600"/>
            <a:ext cx="4572000" cy="256032"/>
          </a:xfrm>
          <a:prstGeom prst="rect">
            <a:avLst/>
          </a:prstGeom>
          <a:noFill/>
          <a:ln/>
        </p:spPr>
        <p:txBody>
          <a:bodyPr wrap="square" lIns="0" tIns="0" rIns="0" bIns="0" rtlCol="0" anchor="t"/>
          <a:lstStyle/>
          <a:p>
            <a:pPr marL="0" indent="0" algn="l">
              <a:buNone/>
            </a:pPr>
            <a:r>
              <a:rPr lang="en-US" sz="1000" dirty="0">
                <a:solidFill>
                  <a:srgbClr val="B9C4DA"/>
                </a:solidFill>
                <a:latin typeface="Calibri" pitchFamily="34" charset="0"/>
                <a:ea typeface="Calibri" pitchFamily="34" charset="-122"/>
                <a:cs typeface="Calibri" pitchFamily="34" charset="-120"/>
              </a:rPr>
              <a:t>Vite build, component tree, client state</a:t>
            </a:r>
            <a:endParaRPr lang="en-US" sz="1000" dirty="0"/>
          </a:p>
        </p:txBody>
      </p:sp>
      <p:sp>
        <p:nvSpPr>
          <p:cNvPr id="11" name="Shape 9"/>
          <p:cNvSpPr/>
          <p:nvPr/>
        </p:nvSpPr>
        <p:spPr>
          <a:xfrm>
            <a:off x="6080760" y="2724912"/>
            <a:ext cx="0" cy="91440"/>
          </a:xfrm>
          <a:prstGeom prst="line">
            <a:avLst/>
          </a:prstGeom>
          <a:noFill/>
          <a:ln w="25400">
            <a:solidFill>
              <a:srgbClr val="C9922A"/>
            </a:solidFill>
            <a:prstDash val="solid"/>
            <a:tailEnd type="triangle"/>
          </a:ln>
        </p:spPr>
      </p:sp>
      <p:sp>
        <p:nvSpPr>
          <p:cNvPr id="12" name="Shape 10"/>
          <p:cNvSpPr/>
          <p:nvPr/>
        </p:nvSpPr>
        <p:spPr>
          <a:xfrm>
            <a:off x="3566160" y="2816352"/>
            <a:ext cx="5029200" cy="630936"/>
          </a:xfrm>
          <a:prstGeom prst="roundRect">
            <a:avLst>
              <a:gd name="adj" fmla="val 13043"/>
            </a:avLst>
          </a:prstGeom>
          <a:solidFill>
            <a:srgbClr val="183052"/>
          </a:solidFill>
          <a:ln w="12700">
            <a:solidFill>
              <a:srgbClr val="2E4A73"/>
            </a:solidFill>
            <a:prstDash val="solid"/>
          </a:ln>
          <a:effectLst>
            <a:outerShdw blurRad="101600" dist="38100" dir="5400000" algn="bl" rotWithShape="0">
              <a:srgbClr val="000000">
                <a:alpha val="25000"/>
              </a:srgbClr>
            </a:outerShdw>
          </a:effectLst>
        </p:spPr>
      </p:sp>
      <p:sp>
        <p:nvSpPr>
          <p:cNvPr id="13" name="Text 11"/>
          <p:cNvSpPr/>
          <p:nvPr/>
        </p:nvSpPr>
        <p:spPr>
          <a:xfrm>
            <a:off x="3794760" y="2926080"/>
            <a:ext cx="4572000" cy="237744"/>
          </a:xfrm>
          <a:prstGeom prst="rect">
            <a:avLst/>
          </a:prstGeom>
          <a:noFill/>
          <a:ln/>
        </p:spPr>
        <p:txBody>
          <a:bodyPr wrap="square" lIns="0" tIns="0" rIns="0" bIns="0" rtlCol="0" anchor="t"/>
          <a:lstStyle/>
          <a:p>
            <a:pPr marL="0" indent="0" algn="l">
              <a:buNone/>
            </a:pPr>
            <a:r>
              <a:rPr lang="en-US" sz="1450" b="1" dirty="0">
                <a:solidFill>
                  <a:srgbClr val="FFFFFF"/>
                </a:solidFill>
                <a:latin typeface="Calibri" pitchFamily="34" charset="0"/>
                <a:ea typeface="Calibri" pitchFamily="34" charset="-122"/>
                <a:cs typeface="Calibri" pitchFamily="34" charset="-120"/>
              </a:rPr>
              <a:t>Express Backend APIs</a:t>
            </a:r>
            <a:endParaRPr lang="en-US" sz="1450" dirty="0"/>
          </a:p>
        </p:txBody>
      </p:sp>
      <p:sp>
        <p:nvSpPr>
          <p:cNvPr id="14" name="Text 12"/>
          <p:cNvSpPr/>
          <p:nvPr/>
        </p:nvSpPr>
        <p:spPr>
          <a:xfrm>
            <a:off x="3794760" y="3236976"/>
            <a:ext cx="4572000" cy="256032"/>
          </a:xfrm>
          <a:prstGeom prst="rect">
            <a:avLst/>
          </a:prstGeom>
          <a:noFill/>
          <a:ln/>
        </p:spPr>
        <p:txBody>
          <a:bodyPr wrap="square" lIns="0" tIns="0" rIns="0" bIns="0" rtlCol="0" anchor="t"/>
          <a:lstStyle/>
          <a:p>
            <a:pPr marL="0" indent="0" algn="l">
              <a:buNone/>
            </a:pPr>
            <a:r>
              <a:rPr lang="en-US" sz="1000" dirty="0">
                <a:solidFill>
                  <a:srgbClr val="B9C4DA"/>
                </a:solidFill>
                <a:latin typeface="Calibri" pitchFamily="34" charset="0"/>
                <a:ea typeface="Calibri" pitchFamily="34" charset="-122"/>
                <a:cs typeface="Calibri" pitchFamily="34" charset="-120"/>
              </a:rPr>
              <a:t>Validation, auth, business logic</a:t>
            </a:r>
            <a:endParaRPr lang="en-US" sz="1000" dirty="0"/>
          </a:p>
        </p:txBody>
      </p:sp>
      <p:sp>
        <p:nvSpPr>
          <p:cNvPr id="15" name="Shape 13"/>
          <p:cNvSpPr/>
          <p:nvPr/>
        </p:nvSpPr>
        <p:spPr>
          <a:xfrm>
            <a:off x="6080760" y="3447288"/>
            <a:ext cx="0" cy="91440"/>
          </a:xfrm>
          <a:prstGeom prst="line">
            <a:avLst/>
          </a:prstGeom>
          <a:noFill/>
          <a:ln w="25400">
            <a:solidFill>
              <a:srgbClr val="C9922A"/>
            </a:solidFill>
            <a:prstDash val="solid"/>
            <a:tailEnd type="triangle"/>
          </a:ln>
        </p:spPr>
      </p:sp>
      <p:sp>
        <p:nvSpPr>
          <p:cNvPr id="16" name="Shape 14"/>
          <p:cNvSpPr/>
          <p:nvPr/>
        </p:nvSpPr>
        <p:spPr>
          <a:xfrm>
            <a:off x="3566160" y="3538728"/>
            <a:ext cx="5029200" cy="630936"/>
          </a:xfrm>
          <a:prstGeom prst="roundRect">
            <a:avLst>
              <a:gd name="adj" fmla="val 13043"/>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17" name="Text 15"/>
          <p:cNvSpPr/>
          <p:nvPr/>
        </p:nvSpPr>
        <p:spPr>
          <a:xfrm>
            <a:off x="3794760" y="3648456"/>
            <a:ext cx="4572000" cy="237744"/>
          </a:xfrm>
          <a:prstGeom prst="rect">
            <a:avLst/>
          </a:prstGeom>
          <a:noFill/>
          <a:ln/>
        </p:spPr>
        <p:txBody>
          <a:bodyPr wrap="square" lIns="0" tIns="0" rIns="0" bIns="0" rtlCol="0" anchor="t"/>
          <a:lstStyle/>
          <a:p>
            <a:pPr marL="0" indent="0" algn="l">
              <a:buNone/>
            </a:pPr>
            <a:r>
              <a:rPr lang="en-US" sz="1450" b="1" dirty="0">
                <a:solidFill>
                  <a:srgbClr val="FFFFFF"/>
                </a:solidFill>
                <a:latin typeface="Calibri" pitchFamily="34" charset="0"/>
                <a:ea typeface="Calibri" pitchFamily="34" charset="-122"/>
                <a:cs typeface="Calibri" pitchFamily="34" charset="-120"/>
              </a:rPr>
              <a:t>Supabase</a:t>
            </a:r>
            <a:endParaRPr lang="en-US" sz="1450" dirty="0"/>
          </a:p>
        </p:txBody>
      </p:sp>
      <p:sp>
        <p:nvSpPr>
          <p:cNvPr id="18" name="Text 16"/>
          <p:cNvSpPr/>
          <p:nvPr/>
        </p:nvSpPr>
        <p:spPr>
          <a:xfrm>
            <a:off x="3794760" y="3959352"/>
            <a:ext cx="4572000" cy="256032"/>
          </a:xfrm>
          <a:prstGeom prst="rect">
            <a:avLst/>
          </a:prstGeom>
          <a:noFill/>
          <a:ln/>
        </p:spPr>
        <p:txBody>
          <a:bodyPr wrap="square" lIns="0" tIns="0" rIns="0" bIns="0" rtlCol="0" anchor="t"/>
          <a:lstStyle/>
          <a:p>
            <a:pPr marL="0" indent="0" algn="l">
              <a:buNone/>
            </a:pPr>
            <a:r>
              <a:rPr lang="en-US" sz="1000" dirty="0">
                <a:solidFill>
                  <a:srgbClr val="B9C4DA"/>
                </a:solidFill>
                <a:latin typeface="Calibri" pitchFamily="34" charset="0"/>
                <a:ea typeface="Calibri" pitchFamily="34" charset="-122"/>
                <a:cs typeface="Calibri" pitchFamily="34" charset="-120"/>
              </a:rPr>
              <a:t>Managed Postgres, Row Level Security</a:t>
            </a:r>
            <a:endParaRPr lang="en-US" sz="1000" dirty="0"/>
          </a:p>
        </p:txBody>
      </p:sp>
      <p:sp>
        <p:nvSpPr>
          <p:cNvPr id="19" name="Shape 17"/>
          <p:cNvSpPr/>
          <p:nvPr/>
        </p:nvSpPr>
        <p:spPr>
          <a:xfrm>
            <a:off x="6080760" y="4169664"/>
            <a:ext cx="0" cy="91440"/>
          </a:xfrm>
          <a:prstGeom prst="line">
            <a:avLst/>
          </a:prstGeom>
          <a:noFill/>
          <a:ln w="25400">
            <a:solidFill>
              <a:srgbClr val="C9922A"/>
            </a:solidFill>
            <a:prstDash val="solid"/>
            <a:tailEnd type="triangle"/>
          </a:ln>
        </p:spPr>
      </p:sp>
      <p:sp>
        <p:nvSpPr>
          <p:cNvPr id="20" name="Shape 18"/>
          <p:cNvSpPr/>
          <p:nvPr/>
        </p:nvSpPr>
        <p:spPr>
          <a:xfrm>
            <a:off x="3566160" y="4261104"/>
            <a:ext cx="5029200" cy="630936"/>
          </a:xfrm>
          <a:prstGeom prst="roundRect">
            <a:avLst>
              <a:gd name="adj" fmla="val 13043"/>
            </a:avLst>
          </a:prstGeom>
          <a:solidFill>
            <a:srgbClr val="183052"/>
          </a:solidFill>
          <a:ln w="12700">
            <a:solidFill>
              <a:srgbClr val="2E4A73"/>
            </a:solidFill>
            <a:prstDash val="solid"/>
          </a:ln>
          <a:effectLst>
            <a:outerShdw blurRad="101600" dist="38100" dir="5400000" algn="bl" rotWithShape="0">
              <a:srgbClr val="000000">
                <a:alpha val="25000"/>
              </a:srgbClr>
            </a:outerShdw>
          </a:effectLst>
        </p:spPr>
      </p:sp>
      <p:sp>
        <p:nvSpPr>
          <p:cNvPr id="21" name="Text 19"/>
          <p:cNvSpPr/>
          <p:nvPr/>
        </p:nvSpPr>
        <p:spPr>
          <a:xfrm>
            <a:off x="3794760" y="4370832"/>
            <a:ext cx="4572000" cy="237744"/>
          </a:xfrm>
          <a:prstGeom prst="rect">
            <a:avLst/>
          </a:prstGeom>
          <a:noFill/>
          <a:ln/>
        </p:spPr>
        <p:txBody>
          <a:bodyPr wrap="square" lIns="0" tIns="0" rIns="0" bIns="0" rtlCol="0" anchor="t"/>
          <a:lstStyle/>
          <a:p>
            <a:pPr marL="0" indent="0" algn="l">
              <a:buNone/>
            </a:pPr>
            <a:r>
              <a:rPr lang="en-US" sz="1450" b="1" dirty="0">
                <a:solidFill>
                  <a:srgbClr val="FFFFFF"/>
                </a:solidFill>
                <a:latin typeface="Calibri" pitchFamily="34" charset="0"/>
                <a:ea typeface="Calibri" pitchFamily="34" charset="-122"/>
                <a:cs typeface="Calibri" pitchFamily="34" charset="-120"/>
              </a:rPr>
              <a:t>PostgreSQL Database</a:t>
            </a:r>
            <a:endParaRPr lang="en-US" sz="1450" dirty="0"/>
          </a:p>
        </p:txBody>
      </p:sp>
      <p:sp>
        <p:nvSpPr>
          <p:cNvPr id="22" name="Text 20"/>
          <p:cNvSpPr/>
          <p:nvPr/>
        </p:nvSpPr>
        <p:spPr>
          <a:xfrm>
            <a:off x="3794760" y="4681728"/>
            <a:ext cx="4572000" cy="256032"/>
          </a:xfrm>
          <a:prstGeom prst="rect">
            <a:avLst/>
          </a:prstGeom>
          <a:noFill/>
          <a:ln/>
        </p:spPr>
        <p:txBody>
          <a:bodyPr wrap="square" lIns="0" tIns="0" rIns="0" bIns="0" rtlCol="0" anchor="t"/>
          <a:lstStyle/>
          <a:p>
            <a:pPr marL="0" indent="0" algn="l">
              <a:buNone/>
            </a:pPr>
            <a:r>
              <a:rPr lang="en-US" sz="1000" dirty="0">
                <a:solidFill>
                  <a:srgbClr val="B9C4DA"/>
                </a:solidFill>
                <a:latin typeface="Calibri" pitchFamily="34" charset="0"/>
                <a:ea typeface="Calibri" pitchFamily="34" charset="-122"/>
                <a:cs typeface="Calibri" pitchFamily="34" charset="-120"/>
              </a:rPr>
              <a:t>Leads, submissions, admin data</a:t>
            </a:r>
            <a:endParaRPr lang="en-US" sz="1000" dirty="0"/>
          </a:p>
        </p:txBody>
      </p:sp>
      <p:sp>
        <p:nvSpPr>
          <p:cNvPr id="23" name="Shape 21"/>
          <p:cNvSpPr/>
          <p:nvPr/>
        </p:nvSpPr>
        <p:spPr>
          <a:xfrm>
            <a:off x="6080760" y="4892040"/>
            <a:ext cx="0" cy="91440"/>
          </a:xfrm>
          <a:prstGeom prst="line">
            <a:avLst/>
          </a:prstGeom>
          <a:noFill/>
          <a:ln w="25400">
            <a:solidFill>
              <a:srgbClr val="C9922A"/>
            </a:solidFill>
            <a:prstDash val="solid"/>
            <a:tailEnd type="triangle"/>
          </a:ln>
        </p:spPr>
      </p:sp>
      <p:sp>
        <p:nvSpPr>
          <p:cNvPr id="24" name="Shape 22"/>
          <p:cNvSpPr/>
          <p:nvPr/>
        </p:nvSpPr>
        <p:spPr>
          <a:xfrm>
            <a:off x="3566160" y="4983480"/>
            <a:ext cx="5029200" cy="630936"/>
          </a:xfrm>
          <a:prstGeom prst="roundRect">
            <a:avLst>
              <a:gd name="adj" fmla="val 13043"/>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25" name="Text 23"/>
          <p:cNvSpPr/>
          <p:nvPr/>
        </p:nvSpPr>
        <p:spPr>
          <a:xfrm>
            <a:off x="3794760" y="5093208"/>
            <a:ext cx="4572000" cy="237744"/>
          </a:xfrm>
          <a:prstGeom prst="rect">
            <a:avLst/>
          </a:prstGeom>
          <a:noFill/>
          <a:ln/>
        </p:spPr>
        <p:txBody>
          <a:bodyPr wrap="square" lIns="0" tIns="0" rIns="0" bIns="0" rtlCol="0" anchor="t"/>
          <a:lstStyle/>
          <a:p>
            <a:pPr marL="0" indent="0" algn="l">
              <a:buNone/>
            </a:pPr>
            <a:r>
              <a:rPr lang="en-US" sz="1450" b="1" dirty="0">
                <a:solidFill>
                  <a:srgbClr val="FFFFFF"/>
                </a:solidFill>
                <a:latin typeface="Calibri" pitchFamily="34" charset="0"/>
                <a:ea typeface="Calibri" pitchFamily="34" charset="-122"/>
                <a:cs typeface="Calibri" pitchFamily="34" charset="-120"/>
              </a:rPr>
              <a:t>Admin Dashboard</a:t>
            </a:r>
            <a:endParaRPr lang="en-US" sz="1450" dirty="0"/>
          </a:p>
        </p:txBody>
      </p:sp>
      <p:sp>
        <p:nvSpPr>
          <p:cNvPr id="26" name="Text 24"/>
          <p:cNvSpPr/>
          <p:nvPr/>
        </p:nvSpPr>
        <p:spPr>
          <a:xfrm>
            <a:off x="3794760" y="5404104"/>
            <a:ext cx="4572000" cy="256032"/>
          </a:xfrm>
          <a:prstGeom prst="rect">
            <a:avLst/>
          </a:prstGeom>
          <a:noFill/>
          <a:ln/>
        </p:spPr>
        <p:txBody>
          <a:bodyPr wrap="square" lIns="0" tIns="0" rIns="0" bIns="0" rtlCol="0" anchor="t"/>
          <a:lstStyle/>
          <a:p>
            <a:pPr marL="0" indent="0" algn="l">
              <a:buNone/>
            </a:pPr>
            <a:r>
              <a:rPr lang="en-US" sz="1000" dirty="0">
                <a:solidFill>
                  <a:srgbClr val="B9C4DA"/>
                </a:solidFill>
                <a:latin typeface="Calibri" pitchFamily="34" charset="0"/>
                <a:ea typeface="Calibri" pitchFamily="34" charset="-122"/>
                <a:cs typeface="Calibri" pitchFamily="34" charset="-120"/>
              </a:rPr>
              <a:t>Protected UI, search, filter, export</a:t>
            </a:r>
            <a:endParaRPr lang="en-US" sz="1000" dirty="0"/>
          </a:p>
        </p:txBody>
      </p:sp>
      <p:sp>
        <p:nvSpPr>
          <p:cNvPr id="27" name="Shape 25"/>
          <p:cNvSpPr/>
          <p:nvPr/>
        </p:nvSpPr>
        <p:spPr>
          <a:xfrm>
            <a:off x="6080760" y="5614416"/>
            <a:ext cx="0" cy="91440"/>
          </a:xfrm>
          <a:prstGeom prst="line">
            <a:avLst/>
          </a:prstGeom>
          <a:noFill/>
          <a:ln w="25400">
            <a:solidFill>
              <a:srgbClr val="C9922A"/>
            </a:solidFill>
            <a:prstDash val="solid"/>
            <a:tailEnd type="triangle"/>
          </a:ln>
        </p:spPr>
      </p:sp>
      <p:sp>
        <p:nvSpPr>
          <p:cNvPr id="28" name="Shape 26"/>
          <p:cNvSpPr/>
          <p:nvPr/>
        </p:nvSpPr>
        <p:spPr>
          <a:xfrm>
            <a:off x="3566160" y="5705856"/>
            <a:ext cx="5029200" cy="630936"/>
          </a:xfrm>
          <a:prstGeom prst="roundRect">
            <a:avLst>
              <a:gd name="adj" fmla="val 13043"/>
            </a:avLst>
          </a:prstGeom>
          <a:solidFill>
            <a:srgbClr val="183052"/>
          </a:solidFill>
          <a:ln w="12700">
            <a:solidFill>
              <a:srgbClr val="2E4A73"/>
            </a:solidFill>
            <a:prstDash val="solid"/>
          </a:ln>
          <a:effectLst>
            <a:outerShdw blurRad="101600" dist="38100" dir="5400000" algn="bl" rotWithShape="0">
              <a:srgbClr val="000000">
                <a:alpha val="25000"/>
              </a:srgbClr>
            </a:outerShdw>
          </a:effectLst>
        </p:spPr>
      </p:sp>
      <p:sp>
        <p:nvSpPr>
          <p:cNvPr id="29" name="Text 27"/>
          <p:cNvSpPr/>
          <p:nvPr/>
        </p:nvSpPr>
        <p:spPr>
          <a:xfrm>
            <a:off x="3794760" y="5815584"/>
            <a:ext cx="4572000" cy="237744"/>
          </a:xfrm>
          <a:prstGeom prst="rect">
            <a:avLst/>
          </a:prstGeom>
          <a:noFill/>
          <a:ln/>
        </p:spPr>
        <p:txBody>
          <a:bodyPr wrap="square" lIns="0" tIns="0" rIns="0" bIns="0" rtlCol="0" anchor="t"/>
          <a:lstStyle/>
          <a:p>
            <a:pPr marL="0" indent="0" algn="l">
              <a:buNone/>
            </a:pPr>
            <a:r>
              <a:rPr lang="en-US" sz="1450" b="1" dirty="0">
                <a:solidFill>
                  <a:srgbClr val="FFFFFF"/>
                </a:solidFill>
                <a:latin typeface="Calibri" pitchFamily="34" charset="0"/>
                <a:ea typeface="Calibri" pitchFamily="34" charset="-122"/>
                <a:cs typeface="Calibri" pitchFamily="34" charset="-120"/>
              </a:rPr>
              <a:t>Lead Management</a:t>
            </a:r>
            <a:endParaRPr lang="en-US" sz="1450" dirty="0"/>
          </a:p>
        </p:txBody>
      </p:sp>
      <p:sp>
        <p:nvSpPr>
          <p:cNvPr id="30" name="Text 28"/>
          <p:cNvSpPr/>
          <p:nvPr/>
        </p:nvSpPr>
        <p:spPr>
          <a:xfrm>
            <a:off x="3794760" y="6126480"/>
            <a:ext cx="4572000" cy="256032"/>
          </a:xfrm>
          <a:prstGeom prst="rect">
            <a:avLst/>
          </a:prstGeom>
          <a:noFill/>
          <a:ln/>
        </p:spPr>
        <p:txBody>
          <a:bodyPr wrap="square" lIns="0" tIns="0" rIns="0" bIns="0" rtlCol="0" anchor="t"/>
          <a:lstStyle/>
          <a:p>
            <a:pPr marL="0" indent="0" algn="l">
              <a:buNone/>
            </a:pPr>
            <a:r>
              <a:rPr lang="en-US" sz="1000" dirty="0">
                <a:solidFill>
                  <a:srgbClr val="B9C4DA"/>
                </a:solidFill>
                <a:latin typeface="Calibri" pitchFamily="34" charset="0"/>
                <a:ea typeface="Calibri" pitchFamily="34" charset="-122"/>
                <a:cs typeface="Calibri" pitchFamily="34" charset="-120"/>
              </a:rPr>
              <a:t>Advisory team actions on live data</a:t>
            </a:r>
            <a:endParaRPr lang="en-US" sz="1000" dirty="0"/>
          </a:p>
        </p:txBody>
      </p:sp>
      <p:sp>
        <p:nvSpPr>
          <p:cNvPr id="31" name="Text 29"/>
          <p:cNvSpPr/>
          <p:nvPr/>
        </p:nvSpPr>
        <p:spPr>
          <a:xfrm>
            <a:off x="9006840" y="2432304"/>
            <a:ext cx="2377440" cy="274320"/>
          </a:xfrm>
          <a:prstGeom prst="rect">
            <a:avLst/>
          </a:prstGeom>
          <a:noFill/>
          <a:ln/>
        </p:spPr>
        <p:txBody>
          <a:bodyPr wrap="square" lIns="0" tIns="0" rIns="0" bIns="0" rtlCol="0" anchor="ctr"/>
          <a:lstStyle/>
          <a:p>
            <a:pPr marL="0" indent="0">
              <a:buNone/>
            </a:pPr>
            <a:r>
              <a:rPr lang="en-US" sz="1050" b="1" dirty="0">
                <a:solidFill>
                  <a:srgbClr val="C9922A"/>
                </a:solidFill>
                <a:latin typeface="Calibri" pitchFamily="34" charset="0"/>
                <a:ea typeface="Calibri" pitchFamily="34" charset="-122"/>
                <a:cs typeface="Calibri" pitchFamily="34" charset="-120"/>
              </a:rPr>
              <a:t>Auth Branch</a:t>
            </a:r>
            <a:endParaRPr lang="en-US" sz="1050" dirty="0"/>
          </a:p>
        </p:txBody>
      </p:sp>
      <p:sp>
        <p:nvSpPr>
          <p:cNvPr id="32" name="Shape 30"/>
          <p:cNvSpPr/>
          <p:nvPr/>
        </p:nvSpPr>
        <p:spPr>
          <a:xfrm>
            <a:off x="9006840" y="2724912"/>
            <a:ext cx="2468880" cy="960120"/>
          </a:xfrm>
          <a:prstGeom prst="roundRect">
            <a:avLst>
              <a:gd name="adj" fmla="val 7619"/>
            </a:avLst>
          </a:prstGeom>
          <a:solidFill>
            <a:srgbClr val="13294A"/>
          </a:solidFill>
          <a:ln w="12700">
            <a:solidFill>
              <a:srgbClr val="C9922A"/>
            </a:solidFill>
            <a:prstDash val="solid"/>
          </a:ln>
        </p:spPr>
      </p:sp>
      <p:sp>
        <p:nvSpPr>
          <p:cNvPr id="33" name="Text 31"/>
          <p:cNvSpPr/>
          <p:nvPr/>
        </p:nvSpPr>
        <p:spPr>
          <a:xfrm>
            <a:off x="9189720" y="2798064"/>
            <a:ext cx="2103120" cy="822960"/>
          </a:xfrm>
          <a:prstGeom prst="rect">
            <a:avLst/>
          </a:prstGeom>
          <a:noFill/>
          <a:ln/>
        </p:spPr>
        <p:txBody>
          <a:bodyPr wrap="square" lIns="0" tIns="0" rIns="0" bIns="0" rtlCol="0" anchor="t"/>
          <a:lstStyle/>
          <a:p>
            <a:pPr marL="0" indent="0">
              <a:lnSpc>
                <a:spcPct val="115000"/>
              </a:lnSpc>
              <a:buNone/>
            </a:pPr>
            <a:r>
              <a:rPr lang="en-US" sz="950" dirty="0">
                <a:solidFill>
                  <a:srgbClr val="B9C4DA"/>
                </a:solidFill>
                <a:latin typeface="Calibri" pitchFamily="34" charset="0"/>
                <a:ea typeface="Calibri" pitchFamily="34" charset="-122"/>
                <a:cs typeface="Calibri" pitchFamily="34" charset="-120"/>
              </a:rPr>
              <a:t>JWT issued on login, stored in an HttpOnly cookie, verified on every protected request.</a:t>
            </a:r>
            <a:endParaRPr lang="en-US" sz="950" dirty="0"/>
          </a:p>
        </p:txBody>
      </p:sp>
      <p:sp>
        <p:nvSpPr>
          <p:cNvPr id="34" name="Shape 32"/>
          <p:cNvSpPr/>
          <p:nvPr/>
        </p:nvSpPr>
        <p:spPr>
          <a:xfrm>
            <a:off x="7360920" y="3127248"/>
            <a:ext cx="1600200" cy="0"/>
          </a:xfrm>
          <a:prstGeom prst="line">
            <a:avLst/>
          </a:prstGeom>
          <a:noFill/>
          <a:ln w="19050">
            <a:solidFill>
              <a:srgbClr val="C9922A"/>
            </a:solidFill>
            <a:prstDash val="dash"/>
            <a:tailEnd type="triangle"/>
          </a:ln>
        </p:spPr>
      </p:sp>
      <p:sp>
        <p:nvSpPr>
          <p:cNvPr id="35" name="Text 33"/>
          <p:cNvSpPr/>
          <p:nvPr/>
        </p:nvSpPr>
        <p:spPr>
          <a:xfrm>
            <a:off x="640080" y="6528816"/>
            <a:ext cx="5486400" cy="256032"/>
          </a:xfrm>
          <a:prstGeom prst="rect">
            <a:avLst/>
          </a:prstGeom>
          <a:noFill/>
          <a:ln/>
        </p:spPr>
        <p:txBody>
          <a:bodyPr wrap="square" lIns="0" tIns="0" rIns="0" bIns="0" rtlCol="0" anchor="ctr"/>
          <a:lstStyle/>
          <a:p>
            <a:pPr marL="0" indent="0">
              <a:buNone/>
            </a:pPr>
            <a:r>
              <a:rPr lang="en-US" sz="900" dirty="0">
                <a:solidFill>
                  <a:srgbClr val="8695B3"/>
                </a:solidFill>
                <a:latin typeface="Calibri" pitchFamily="34" charset="0"/>
                <a:ea typeface="Calibri" pitchFamily="34" charset="-122"/>
                <a:cs typeface="Calibri" pitchFamily="34" charset="-120"/>
              </a:rPr>
              <a:t>Drishti Wealth Financial Advisory Platform</a:t>
            </a:r>
            <a:endParaRPr lang="en-US" sz="900" dirty="0"/>
          </a:p>
        </p:txBody>
      </p:sp>
      <p:sp>
        <p:nvSpPr>
          <p:cNvPr id="36" name="Shape 34"/>
          <p:cNvSpPr/>
          <p:nvPr/>
        </p:nvSpPr>
        <p:spPr>
          <a:xfrm>
            <a:off x="11292840" y="6583680"/>
            <a:ext cx="54864" cy="54864"/>
          </a:xfrm>
          <a:prstGeom prst="ellipse">
            <a:avLst/>
          </a:prstGeom>
          <a:solidFill>
            <a:srgbClr val="C9922A"/>
          </a:solidFill>
          <a:ln/>
        </p:spPr>
      </p:sp>
      <p:sp>
        <p:nvSpPr>
          <p:cNvPr id="37" name="Text 35"/>
          <p:cNvSpPr/>
          <p:nvPr/>
        </p:nvSpPr>
        <p:spPr>
          <a:xfrm>
            <a:off x="11430000" y="6528816"/>
            <a:ext cx="365760" cy="256032"/>
          </a:xfrm>
          <a:prstGeom prst="rect">
            <a:avLst/>
          </a:prstGeom>
          <a:noFill/>
          <a:ln/>
        </p:spPr>
        <p:txBody>
          <a:bodyPr wrap="square" lIns="0" tIns="0" rIns="0" bIns="0" rtlCol="0" anchor="ctr"/>
          <a:lstStyle/>
          <a:p>
            <a:pPr marL="0" indent="0" algn="r">
              <a:buNone/>
            </a:pPr>
            <a:r>
              <a:rPr lang="en-US" sz="900" dirty="0">
                <a:solidFill>
                  <a:srgbClr val="8695B3"/>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2545"/>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marL="0" indent="0">
              <a:buNone/>
            </a:pPr>
            <a:r>
              <a:rPr lang="en-US" sz="1150" b="1" kern="0" spc="200" dirty="0">
                <a:solidFill>
                  <a:srgbClr val="C9922A"/>
                </a:solidFill>
                <a:latin typeface="Calibri" pitchFamily="34" charset="0"/>
                <a:ea typeface="Calibri" pitchFamily="34" charset="-122"/>
                <a:cs typeface="Calibri" pitchFamily="34" charset="-120"/>
              </a:rPr>
              <a:t>ENGINEERING PRACTICE</a:t>
            </a:r>
            <a:endParaRPr lang="en-US" sz="1150" dirty="0"/>
          </a:p>
        </p:txBody>
      </p:sp>
      <p:sp>
        <p:nvSpPr>
          <p:cNvPr id="3" name="Text 1"/>
          <p:cNvSpPr/>
          <p:nvPr/>
        </p:nvSpPr>
        <p:spPr>
          <a:xfrm>
            <a:off x="640080" y="713232"/>
            <a:ext cx="996696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Frontend Engineering and Component Architecture</a:t>
            </a:r>
            <a:endParaRPr lang="en-US" sz="2800" dirty="0"/>
          </a:p>
        </p:txBody>
      </p:sp>
      <p:sp>
        <p:nvSpPr>
          <p:cNvPr id="4" name="Shape 2"/>
          <p:cNvSpPr/>
          <p:nvPr/>
        </p:nvSpPr>
        <p:spPr>
          <a:xfrm>
            <a:off x="640080" y="1508760"/>
            <a:ext cx="457200" cy="457200"/>
          </a:xfrm>
          <a:prstGeom prst="ellipse">
            <a:avLst/>
          </a:prstGeom>
          <a:solidFill>
            <a:srgbClr val="C9922A"/>
          </a:solidFill>
          <a:ln/>
        </p:spPr>
      </p:sp>
      <p:pic>
        <p:nvPicPr>
          <p:cNvPr id="5" name="Image 0" descr="/home/claude/dwdeck/icons/layers.png"/>
          <p:cNvPicPr>
            <a:picLocks noChangeAspect="1"/>
          </p:cNvPicPr>
          <p:nvPr/>
        </p:nvPicPr>
        <p:blipFill>
          <a:blip r:embed="rId3"/>
          <a:stretch>
            <a:fillRect/>
          </a:stretch>
        </p:blipFill>
        <p:spPr>
          <a:xfrm>
            <a:off x="749808" y="1618488"/>
            <a:ext cx="237744" cy="237744"/>
          </a:xfrm>
          <a:prstGeom prst="rect">
            <a:avLst/>
          </a:prstGeom>
        </p:spPr>
      </p:pic>
      <p:sp>
        <p:nvSpPr>
          <p:cNvPr id="6" name="Text 3"/>
          <p:cNvSpPr/>
          <p:nvPr/>
        </p:nvSpPr>
        <p:spPr>
          <a:xfrm>
            <a:off x="1234440" y="1481328"/>
            <a:ext cx="5120640" cy="36576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Component Based Architecture</a:t>
            </a:r>
            <a:endParaRPr lang="en-US" sz="1350" dirty="0"/>
          </a:p>
        </p:txBody>
      </p:sp>
      <p:sp>
        <p:nvSpPr>
          <p:cNvPr id="7" name="Text 4"/>
          <p:cNvSpPr/>
          <p:nvPr/>
        </p:nvSpPr>
        <p:spPr>
          <a:xfrm>
            <a:off x="1234440" y="1837944"/>
            <a:ext cx="5120640" cy="685800"/>
          </a:xfrm>
          <a:prstGeom prst="rect">
            <a:avLst/>
          </a:prstGeom>
          <a:noFill/>
          <a:ln/>
        </p:spPr>
        <p:txBody>
          <a:bodyPr wrap="square" lIns="0" tIns="0" rIns="0" bIns="0" rtlCol="0" anchor="t"/>
          <a:lstStyle/>
          <a:p>
            <a:pPr marL="0" indent="0">
              <a:lnSpc>
                <a:spcPct val="115000"/>
              </a:lnSpc>
              <a:buNone/>
            </a:pPr>
            <a:r>
              <a:rPr lang="en-US" sz="1050" dirty="0">
                <a:solidFill>
                  <a:srgbClr val="B9C4DA"/>
                </a:solidFill>
                <a:latin typeface="Calibri" pitchFamily="34" charset="0"/>
                <a:ea typeface="Calibri" pitchFamily="34" charset="-122"/>
                <a:cs typeface="Calibri" pitchFamily="34" charset="-120"/>
              </a:rPr>
              <a:t>Every button, input and layout container is an isolated, reusable piece of logic, not a monolithic page.</a:t>
            </a:r>
            <a:endParaRPr lang="en-US" sz="1050" dirty="0"/>
          </a:p>
        </p:txBody>
      </p:sp>
      <p:sp>
        <p:nvSpPr>
          <p:cNvPr id="8" name="Shape 5"/>
          <p:cNvSpPr/>
          <p:nvPr/>
        </p:nvSpPr>
        <p:spPr>
          <a:xfrm>
            <a:off x="640080" y="2587752"/>
            <a:ext cx="457200" cy="457200"/>
          </a:xfrm>
          <a:prstGeom prst="ellipse">
            <a:avLst/>
          </a:prstGeom>
          <a:solidFill>
            <a:srgbClr val="C9922A"/>
          </a:solidFill>
          <a:ln/>
        </p:spPr>
      </p:sp>
      <p:pic>
        <p:nvPicPr>
          <p:cNvPr id="9" name="Image 1" descr="/home/claude/dwdeck/icons/zap.png"/>
          <p:cNvPicPr>
            <a:picLocks noChangeAspect="1"/>
          </p:cNvPicPr>
          <p:nvPr/>
        </p:nvPicPr>
        <p:blipFill>
          <a:blip r:embed="rId4"/>
          <a:stretch>
            <a:fillRect/>
          </a:stretch>
        </p:blipFill>
        <p:spPr>
          <a:xfrm>
            <a:off x="749808" y="2697480"/>
            <a:ext cx="237744" cy="237744"/>
          </a:xfrm>
          <a:prstGeom prst="rect">
            <a:avLst/>
          </a:prstGeom>
        </p:spPr>
      </p:pic>
      <p:sp>
        <p:nvSpPr>
          <p:cNvPr id="10" name="Text 6"/>
          <p:cNvSpPr/>
          <p:nvPr/>
        </p:nvSpPr>
        <p:spPr>
          <a:xfrm>
            <a:off x="1234440" y="2560320"/>
            <a:ext cx="5120640" cy="36576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Vite for Build Tooling</a:t>
            </a:r>
            <a:endParaRPr lang="en-US" sz="1350" dirty="0"/>
          </a:p>
        </p:txBody>
      </p:sp>
      <p:sp>
        <p:nvSpPr>
          <p:cNvPr id="11" name="Text 7"/>
          <p:cNvSpPr/>
          <p:nvPr/>
        </p:nvSpPr>
        <p:spPr>
          <a:xfrm>
            <a:off x="1234440" y="2916936"/>
            <a:ext cx="5120640" cy="685800"/>
          </a:xfrm>
          <a:prstGeom prst="rect">
            <a:avLst/>
          </a:prstGeom>
          <a:noFill/>
          <a:ln/>
        </p:spPr>
        <p:txBody>
          <a:bodyPr wrap="square" lIns="0" tIns="0" rIns="0" bIns="0" rtlCol="0" anchor="t"/>
          <a:lstStyle/>
          <a:p>
            <a:pPr marL="0" indent="0">
              <a:lnSpc>
                <a:spcPct val="115000"/>
              </a:lnSpc>
              <a:buNone/>
            </a:pPr>
            <a:r>
              <a:rPr lang="en-US" sz="1050" dirty="0">
                <a:solidFill>
                  <a:srgbClr val="B9C4DA"/>
                </a:solidFill>
                <a:latin typeface="Calibri" pitchFamily="34" charset="0"/>
                <a:ea typeface="Calibri" pitchFamily="34" charset="-122"/>
                <a:cs typeface="Calibri" pitchFamily="34" charset="-120"/>
              </a:rPr>
              <a:t>Chosen for fast hot module replacement and optimized production builds over older bundlers.</a:t>
            </a:r>
            <a:endParaRPr lang="en-US" sz="1050" dirty="0"/>
          </a:p>
        </p:txBody>
      </p:sp>
      <p:sp>
        <p:nvSpPr>
          <p:cNvPr id="12" name="Shape 8"/>
          <p:cNvSpPr/>
          <p:nvPr/>
        </p:nvSpPr>
        <p:spPr>
          <a:xfrm>
            <a:off x="640080" y="3666744"/>
            <a:ext cx="457200" cy="457200"/>
          </a:xfrm>
          <a:prstGeom prst="ellipse">
            <a:avLst/>
          </a:prstGeom>
          <a:solidFill>
            <a:srgbClr val="C9922A"/>
          </a:solidFill>
          <a:ln/>
        </p:spPr>
      </p:sp>
      <p:pic>
        <p:nvPicPr>
          <p:cNvPr id="13" name="Image 2" descr="/home/claude/dwdeck/icons/box.png"/>
          <p:cNvPicPr>
            <a:picLocks noChangeAspect="1"/>
          </p:cNvPicPr>
          <p:nvPr/>
        </p:nvPicPr>
        <p:blipFill>
          <a:blip r:embed="rId5"/>
          <a:stretch>
            <a:fillRect/>
          </a:stretch>
        </p:blipFill>
        <p:spPr>
          <a:xfrm>
            <a:off x="749808" y="3776472"/>
            <a:ext cx="237744" cy="237744"/>
          </a:xfrm>
          <a:prstGeom prst="rect">
            <a:avLst/>
          </a:prstGeom>
        </p:spPr>
      </p:pic>
      <p:sp>
        <p:nvSpPr>
          <p:cNvPr id="14" name="Text 9"/>
          <p:cNvSpPr/>
          <p:nvPr/>
        </p:nvSpPr>
        <p:spPr>
          <a:xfrm>
            <a:off x="1234440" y="3639312"/>
            <a:ext cx="5120640" cy="36576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Tailwind CSS</a:t>
            </a:r>
            <a:endParaRPr lang="en-US" sz="1350" dirty="0"/>
          </a:p>
        </p:txBody>
      </p:sp>
      <p:sp>
        <p:nvSpPr>
          <p:cNvPr id="15" name="Text 10"/>
          <p:cNvSpPr/>
          <p:nvPr/>
        </p:nvSpPr>
        <p:spPr>
          <a:xfrm>
            <a:off x="1234440" y="3995928"/>
            <a:ext cx="5120640" cy="685800"/>
          </a:xfrm>
          <a:prstGeom prst="rect">
            <a:avLst/>
          </a:prstGeom>
          <a:noFill/>
          <a:ln/>
        </p:spPr>
        <p:txBody>
          <a:bodyPr wrap="square" lIns="0" tIns="0" rIns="0" bIns="0" rtlCol="0" anchor="t"/>
          <a:lstStyle/>
          <a:p>
            <a:pPr marL="0" indent="0">
              <a:lnSpc>
                <a:spcPct val="115000"/>
              </a:lnSpc>
              <a:buNone/>
            </a:pPr>
            <a:r>
              <a:rPr lang="en-US" sz="1050" dirty="0">
                <a:solidFill>
                  <a:srgbClr val="B9C4DA"/>
                </a:solidFill>
                <a:latin typeface="Calibri" pitchFamily="34" charset="0"/>
                <a:ea typeface="Calibri" pitchFamily="34" charset="-122"/>
                <a:cs typeface="Calibri" pitchFamily="34" charset="-120"/>
              </a:rPr>
              <a:t>Utility first styling with custom design tokens in tailwind.config.js, eliminating cascading style conflicts.</a:t>
            </a:r>
            <a:endParaRPr lang="en-US" sz="1050" dirty="0"/>
          </a:p>
        </p:txBody>
      </p:sp>
      <p:sp>
        <p:nvSpPr>
          <p:cNvPr id="16" name="Shape 11"/>
          <p:cNvSpPr/>
          <p:nvPr/>
        </p:nvSpPr>
        <p:spPr>
          <a:xfrm>
            <a:off x="640080" y="4745736"/>
            <a:ext cx="457200" cy="457200"/>
          </a:xfrm>
          <a:prstGeom prst="ellipse">
            <a:avLst/>
          </a:prstGeom>
          <a:solidFill>
            <a:srgbClr val="C9922A"/>
          </a:solidFill>
          <a:ln/>
        </p:spPr>
      </p:sp>
      <p:pic>
        <p:nvPicPr>
          <p:cNvPr id="17" name="Image 3" descr="/home/claude/dwdeck/icons/gitpr.png"/>
          <p:cNvPicPr>
            <a:picLocks noChangeAspect="1"/>
          </p:cNvPicPr>
          <p:nvPr/>
        </p:nvPicPr>
        <p:blipFill>
          <a:blip r:embed="rId6"/>
          <a:stretch>
            <a:fillRect/>
          </a:stretch>
        </p:blipFill>
        <p:spPr>
          <a:xfrm>
            <a:off x="749808" y="4855464"/>
            <a:ext cx="237744" cy="237744"/>
          </a:xfrm>
          <a:prstGeom prst="rect">
            <a:avLst/>
          </a:prstGeom>
        </p:spPr>
      </p:pic>
      <p:sp>
        <p:nvSpPr>
          <p:cNvPr id="18" name="Text 12"/>
          <p:cNvSpPr/>
          <p:nvPr/>
        </p:nvSpPr>
        <p:spPr>
          <a:xfrm>
            <a:off x="1234440" y="4718304"/>
            <a:ext cx="5120640" cy="36576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Lazy Loading and Suspense</a:t>
            </a:r>
            <a:endParaRPr lang="en-US" sz="1350" dirty="0"/>
          </a:p>
        </p:txBody>
      </p:sp>
      <p:sp>
        <p:nvSpPr>
          <p:cNvPr id="19" name="Text 13"/>
          <p:cNvSpPr/>
          <p:nvPr/>
        </p:nvSpPr>
        <p:spPr>
          <a:xfrm>
            <a:off x="1234440" y="5074920"/>
            <a:ext cx="5120640" cy="685800"/>
          </a:xfrm>
          <a:prstGeom prst="rect">
            <a:avLst/>
          </a:prstGeom>
          <a:noFill/>
          <a:ln/>
        </p:spPr>
        <p:txBody>
          <a:bodyPr wrap="square" lIns="0" tIns="0" rIns="0" bIns="0" rtlCol="0" anchor="t"/>
          <a:lstStyle/>
          <a:p>
            <a:pPr marL="0" indent="0">
              <a:lnSpc>
                <a:spcPct val="115000"/>
              </a:lnSpc>
              <a:buNone/>
            </a:pPr>
            <a:r>
              <a:rPr lang="en-US" sz="1050" dirty="0">
                <a:solidFill>
                  <a:srgbClr val="B9C4DA"/>
                </a:solidFill>
                <a:latin typeface="Calibri" pitchFamily="34" charset="0"/>
                <a:ea typeface="Calibri" pitchFamily="34" charset="-122"/>
                <a:cs typeface="Calibri" pitchFamily="34" charset="-120"/>
              </a:rPr>
              <a:t>Route level code splitting so the landing page never downloads the admin dashboard's JavaScript.</a:t>
            </a:r>
            <a:endParaRPr lang="en-US" sz="1050" dirty="0"/>
          </a:p>
        </p:txBody>
      </p:sp>
      <p:sp>
        <p:nvSpPr>
          <p:cNvPr id="20" name="Shape 14"/>
          <p:cNvSpPr/>
          <p:nvPr/>
        </p:nvSpPr>
        <p:spPr>
          <a:xfrm>
            <a:off x="6492240" y="1508760"/>
            <a:ext cx="5056632" cy="4709160"/>
          </a:xfrm>
          <a:prstGeom prst="roundRect">
            <a:avLst>
              <a:gd name="adj" fmla="val 1748"/>
            </a:avLst>
          </a:prstGeom>
          <a:solidFill>
            <a:srgbClr val="0A1D38"/>
          </a:solidFill>
          <a:ln w="12700">
            <a:solidFill>
              <a:srgbClr val="2E4A73"/>
            </a:solidFill>
            <a:prstDash val="solid"/>
          </a:ln>
          <a:effectLst>
            <a:outerShdw blurRad="101600" dist="38100" dir="5400000" algn="bl" rotWithShape="0">
              <a:srgbClr val="000000">
                <a:alpha val="25000"/>
              </a:srgbClr>
            </a:outerShdw>
          </a:effectLst>
        </p:spPr>
      </p:sp>
      <p:sp>
        <p:nvSpPr>
          <p:cNvPr id="21" name="Text 15"/>
          <p:cNvSpPr/>
          <p:nvPr/>
        </p:nvSpPr>
        <p:spPr>
          <a:xfrm>
            <a:off x="6766560" y="1691640"/>
            <a:ext cx="4572000" cy="274320"/>
          </a:xfrm>
          <a:prstGeom prst="rect">
            <a:avLst/>
          </a:prstGeom>
          <a:noFill/>
          <a:ln/>
        </p:spPr>
        <p:txBody>
          <a:bodyPr wrap="square" lIns="0" tIns="0" rIns="0" bIns="0" rtlCol="0" anchor="ctr"/>
          <a:lstStyle/>
          <a:p>
            <a:pPr marL="0" indent="0">
              <a:buNone/>
            </a:pPr>
            <a:r>
              <a:rPr lang="en-US" sz="1050" b="1" kern="0" spc="150" dirty="0">
                <a:solidFill>
                  <a:srgbClr val="8695B3"/>
                </a:solidFill>
                <a:latin typeface="Calibri" pitchFamily="34" charset="0"/>
                <a:ea typeface="Calibri" pitchFamily="34" charset="-122"/>
                <a:cs typeface="Calibri" pitchFamily="34" charset="-120"/>
              </a:rPr>
              <a:t>PROJECT FOLDER STRUCTURE</a:t>
            </a:r>
            <a:endParaRPr lang="en-US" sz="1050" dirty="0"/>
          </a:p>
        </p:txBody>
      </p:sp>
      <p:sp>
        <p:nvSpPr>
          <p:cNvPr id="22" name="Text 16"/>
          <p:cNvSpPr/>
          <p:nvPr/>
        </p:nvSpPr>
        <p:spPr>
          <a:xfrm>
            <a:off x="6766560" y="2011680"/>
            <a:ext cx="4572000" cy="4023360"/>
          </a:xfrm>
          <a:prstGeom prst="rect">
            <a:avLst/>
          </a:prstGeom>
          <a:noFill/>
          <a:ln/>
        </p:spPr>
        <p:txBody>
          <a:bodyPr wrap="square" lIns="0" tIns="0" rIns="0" bIns="0" rtlCol="0" anchor="t"/>
          <a:lstStyle/>
          <a:p>
            <a:pPr marL="0" indent="0">
              <a:lnSpc>
                <a:spcPct val="112000"/>
              </a:lnSpc>
              <a:buNone/>
            </a:pPr>
            <a:r>
              <a:rPr lang="en-US" sz="1050" dirty="0">
                <a:solidFill>
                  <a:srgbClr val="F0C96A"/>
                </a:solidFill>
                <a:latin typeface="Consolas" pitchFamily="34" charset="0"/>
                <a:ea typeface="Consolas" pitchFamily="34" charset="-122"/>
                <a:cs typeface="Consolas" pitchFamily="34" charset="-120"/>
              </a:rPr>
              <a:t>src/</a:t>
            </a:r>
            <a:endParaRPr lang="en-US" sz="1050" dirty="0"/>
          </a:p>
          <a:p>
            <a:pPr marL="0" indent="0">
              <a:lnSpc>
                <a:spcPct val="112000"/>
              </a:lnSpc>
              <a:buNone/>
            </a:pPr>
            <a:r>
              <a:rPr lang="en-US" sz="1050" dirty="0">
                <a:solidFill>
                  <a:srgbClr val="F0C96A"/>
                </a:solidFill>
                <a:latin typeface="Consolas" pitchFamily="34" charset="0"/>
                <a:ea typeface="Consolas" pitchFamily="34" charset="-122"/>
                <a:cs typeface="Consolas" pitchFamily="34" charset="-120"/>
              </a:rPr>
              <a:t>├─ assets/</a:t>
            </a:r>
            <a:endParaRPr lang="en-US" sz="1050" dirty="0"/>
          </a:p>
          <a:p>
            <a:pPr marL="0" indent="0">
              <a:lnSpc>
                <a:spcPct val="112000"/>
              </a:lnSpc>
              <a:buNone/>
            </a:pPr>
            <a:r>
              <a:rPr lang="en-US" sz="1050" dirty="0">
                <a:solidFill>
                  <a:srgbClr val="F0C96A"/>
                </a:solidFill>
                <a:latin typeface="Consolas" pitchFamily="34" charset="0"/>
                <a:ea typeface="Consolas" pitchFamily="34" charset="-122"/>
                <a:cs typeface="Consolas" pitchFamily="34" charset="-120"/>
              </a:rPr>
              <a:t>├─ components/</a:t>
            </a:r>
            <a:endParaRPr lang="en-US" sz="1050" dirty="0"/>
          </a:p>
          <a:p>
            <a:pPr marL="0" indent="0">
              <a:lnSpc>
                <a:spcPct val="112000"/>
              </a:lnSpc>
              <a:buNone/>
            </a:pPr>
            <a:r>
              <a:rPr lang="en-US" sz="1050" dirty="0">
                <a:solidFill>
                  <a:srgbClr val="F0C96A"/>
                </a:solidFill>
                <a:latin typeface="Consolas" pitchFamily="34" charset="0"/>
                <a:ea typeface="Consolas" pitchFamily="34" charset="-122"/>
                <a:cs typeface="Consolas" pitchFamily="34" charset="-120"/>
              </a:rPr>
              <a:t>│  ├─ common/</a:t>
            </a:r>
            <a:endParaRPr lang="en-US" sz="1050" dirty="0"/>
          </a:p>
          <a:p>
            <a:pPr marL="0" indent="0">
              <a:lnSpc>
                <a:spcPct val="112000"/>
              </a:lnSpc>
              <a:buNone/>
            </a:pPr>
            <a:r>
              <a:rPr lang="en-US" sz="1050" dirty="0">
                <a:solidFill>
                  <a:srgbClr val="F0C96A"/>
                </a:solidFill>
                <a:latin typeface="Consolas" pitchFamily="34" charset="0"/>
                <a:ea typeface="Consolas" pitchFamily="34" charset="-122"/>
                <a:cs typeface="Consolas" pitchFamily="34" charset="-120"/>
              </a:rPr>
              <a:t>│  ├─ layout/</a:t>
            </a:r>
            <a:endParaRPr lang="en-US" sz="1050" dirty="0"/>
          </a:p>
          <a:p>
            <a:pPr marL="0" indent="0">
              <a:lnSpc>
                <a:spcPct val="112000"/>
              </a:lnSpc>
              <a:buNone/>
            </a:pPr>
            <a:r>
              <a:rPr lang="en-US" sz="1050" dirty="0">
                <a:solidFill>
                  <a:srgbClr val="F0C96A"/>
                </a:solidFill>
                <a:latin typeface="Consolas" pitchFamily="34" charset="0"/>
                <a:ea typeface="Consolas" pitchFamily="34" charset="-122"/>
                <a:cs typeface="Consolas" pitchFamily="34" charset="-120"/>
              </a:rPr>
              <a:t>│  ├─ calculators/</a:t>
            </a:r>
            <a:endParaRPr lang="en-US" sz="1050" dirty="0"/>
          </a:p>
          <a:p>
            <a:pPr marL="0" indent="0">
              <a:lnSpc>
                <a:spcPct val="112000"/>
              </a:lnSpc>
              <a:buNone/>
            </a:pPr>
            <a:r>
              <a:rPr lang="en-US" sz="1050" dirty="0">
                <a:solidFill>
                  <a:srgbClr val="F0C96A"/>
                </a:solidFill>
                <a:latin typeface="Consolas" pitchFamily="34" charset="0"/>
                <a:ea typeface="Consolas" pitchFamily="34" charset="-122"/>
                <a:cs typeface="Consolas" pitchFamily="34" charset="-120"/>
              </a:rPr>
              <a:t>│  └─ dashboard/</a:t>
            </a:r>
            <a:endParaRPr lang="en-US" sz="1050" dirty="0"/>
          </a:p>
          <a:p>
            <a:pPr marL="0" indent="0">
              <a:lnSpc>
                <a:spcPct val="112000"/>
              </a:lnSpc>
              <a:buNone/>
            </a:pPr>
            <a:r>
              <a:rPr lang="en-US" sz="1050" dirty="0">
                <a:solidFill>
                  <a:srgbClr val="F0C96A"/>
                </a:solidFill>
                <a:latin typeface="Consolas" pitchFamily="34" charset="0"/>
                <a:ea typeface="Consolas" pitchFamily="34" charset="-122"/>
                <a:cs typeface="Consolas" pitchFamily="34" charset="-120"/>
              </a:rPr>
              <a:t>├─ pages/</a:t>
            </a:r>
            <a:endParaRPr lang="en-US" sz="1050" dirty="0"/>
          </a:p>
          <a:p>
            <a:pPr marL="0" indent="0">
              <a:lnSpc>
                <a:spcPct val="112000"/>
              </a:lnSpc>
              <a:buNone/>
            </a:pPr>
            <a:r>
              <a:rPr lang="en-US" sz="1050" dirty="0">
                <a:solidFill>
                  <a:srgbClr val="F0C96A"/>
                </a:solidFill>
                <a:latin typeface="Consolas" pitchFamily="34" charset="0"/>
                <a:ea typeface="Consolas" pitchFamily="34" charset="-122"/>
                <a:cs typeface="Consolas" pitchFamily="34" charset="-120"/>
              </a:rPr>
              <a:t>│  ├─ Landing.jsx</a:t>
            </a:r>
            <a:endParaRPr lang="en-US" sz="1050" dirty="0"/>
          </a:p>
          <a:p>
            <a:pPr marL="0" indent="0">
              <a:lnSpc>
                <a:spcPct val="112000"/>
              </a:lnSpc>
              <a:buNone/>
            </a:pPr>
            <a:r>
              <a:rPr lang="en-US" sz="1050" dirty="0">
                <a:solidFill>
                  <a:srgbClr val="F0C96A"/>
                </a:solidFill>
                <a:latin typeface="Consolas" pitchFamily="34" charset="0"/>
                <a:ea typeface="Consolas" pitchFamily="34" charset="-122"/>
                <a:cs typeface="Consolas" pitchFamily="34" charset="-120"/>
              </a:rPr>
              <a:t>│  ├─ Advisory.jsx</a:t>
            </a:r>
            <a:endParaRPr lang="en-US" sz="1050" dirty="0"/>
          </a:p>
          <a:p>
            <a:pPr marL="0" indent="0">
              <a:lnSpc>
                <a:spcPct val="112000"/>
              </a:lnSpc>
              <a:buNone/>
            </a:pPr>
            <a:r>
              <a:rPr lang="en-US" sz="1050" dirty="0">
                <a:solidFill>
                  <a:srgbClr val="F0C96A"/>
                </a:solidFill>
                <a:latin typeface="Consolas" pitchFamily="34" charset="0"/>
                <a:ea typeface="Consolas" pitchFamily="34" charset="-122"/>
                <a:cs typeface="Consolas" pitchFamily="34" charset="-120"/>
              </a:rPr>
              <a:t>│  ├─ AdminLogin.jsx</a:t>
            </a:r>
            <a:endParaRPr lang="en-US" sz="1050" dirty="0"/>
          </a:p>
          <a:p>
            <a:pPr marL="0" indent="0">
              <a:lnSpc>
                <a:spcPct val="112000"/>
              </a:lnSpc>
              <a:buNone/>
            </a:pPr>
            <a:r>
              <a:rPr lang="en-US" sz="1050" dirty="0">
                <a:solidFill>
                  <a:srgbClr val="F0C96A"/>
                </a:solidFill>
                <a:latin typeface="Consolas" pitchFamily="34" charset="0"/>
                <a:ea typeface="Consolas" pitchFamily="34" charset="-122"/>
                <a:cs typeface="Consolas" pitchFamily="34" charset="-120"/>
              </a:rPr>
              <a:t>│  └─ AdminDashboard.jsx</a:t>
            </a:r>
            <a:endParaRPr lang="en-US" sz="1050" dirty="0"/>
          </a:p>
          <a:p>
            <a:pPr marL="0" indent="0">
              <a:lnSpc>
                <a:spcPct val="112000"/>
              </a:lnSpc>
              <a:buNone/>
            </a:pPr>
            <a:r>
              <a:rPr lang="en-US" sz="1050" dirty="0">
                <a:solidFill>
                  <a:srgbClr val="F0C96A"/>
                </a:solidFill>
                <a:latin typeface="Consolas" pitchFamily="34" charset="0"/>
                <a:ea typeface="Consolas" pitchFamily="34" charset="-122"/>
                <a:cs typeface="Consolas" pitchFamily="34" charset="-120"/>
              </a:rPr>
              <a:t>├─ utils/</a:t>
            </a:r>
            <a:endParaRPr lang="en-US" sz="1050" dirty="0"/>
          </a:p>
          <a:p>
            <a:pPr marL="0" indent="0">
              <a:lnSpc>
                <a:spcPct val="112000"/>
              </a:lnSpc>
              <a:buNone/>
            </a:pPr>
            <a:r>
              <a:rPr lang="en-US" sz="1050" dirty="0">
                <a:solidFill>
                  <a:srgbClr val="F0C96A"/>
                </a:solidFill>
                <a:latin typeface="Consolas" pitchFamily="34" charset="0"/>
                <a:ea typeface="Consolas" pitchFamily="34" charset="-122"/>
                <a:cs typeface="Consolas" pitchFamily="34" charset="-120"/>
              </a:rPr>
              <a:t>│  ├─ formatCurrency.js</a:t>
            </a:r>
            <a:endParaRPr lang="en-US" sz="1050" dirty="0"/>
          </a:p>
          <a:p>
            <a:pPr marL="0" indent="0">
              <a:lnSpc>
                <a:spcPct val="112000"/>
              </a:lnSpc>
              <a:buNone/>
            </a:pPr>
            <a:r>
              <a:rPr lang="en-US" sz="1050" dirty="0">
                <a:solidFill>
                  <a:srgbClr val="F0C96A"/>
                </a:solidFill>
                <a:latin typeface="Consolas" pitchFamily="34" charset="0"/>
                <a:ea typeface="Consolas" pitchFamily="34" charset="-122"/>
                <a:cs typeface="Consolas" pitchFamily="34" charset="-120"/>
              </a:rPr>
              <a:t>│  └─ calculateCompound.js</a:t>
            </a:r>
            <a:endParaRPr lang="en-US" sz="1050" dirty="0"/>
          </a:p>
          <a:p>
            <a:pPr marL="0" indent="0">
              <a:lnSpc>
                <a:spcPct val="112000"/>
              </a:lnSpc>
              <a:buNone/>
            </a:pPr>
            <a:r>
              <a:rPr lang="en-US" sz="1050" dirty="0">
                <a:solidFill>
                  <a:srgbClr val="F0C96A"/>
                </a:solidFill>
                <a:latin typeface="Consolas" pitchFamily="34" charset="0"/>
                <a:ea typeface="Consolas" pitchFamily="34" charset="-122"/>
                <a:cs typeface="Consolas" pitchFamily="34" charset="-120"/>
              </a:rPr>
              <a:t>├─ hooks/</a:t>
            </a:r>
            <a:endParaRPr lang="en-US" sz="1050" dirty="0"/>
          </a:p>
          <a:p>
            <a:pPr marL="0" indent="0">
              <a:lnSpc>
                <a:spcPct val="112000"/>
              </a:lnSpc>
              <a:buNone/>
            </a:pPr>
            <a:r>
              <a:rPr lang="en-US" sz="1050" dirty="0">
                <a:solidFill>
                  <a:srgbClr val="F0C96A"/>
                </a:solidFill>
                <a:latin typeface="Consolas" pitchFamily="34" charset="0"/>
                <a:ea typeface="Consolas" pitchFamily="34" charset="-122"/>
                <a:cs typeface="Consolas" pitchFamily="34" charset="-120"/>
              </a:rPr>
              <a:t>│  └─ useAuth.js</a:t>
            </a:r>
            <a:endParaRPr lang="en-US" sz="1050" dirty="0"/>
          </a:p>
          <a:p>
            <a:pPr marL="0" indent="0">
              <a:lnSpc>
                <a:spcPct val="112000"/>
              </a:lnSpc>
              <a:buNone/>
            </a:pPr>
            <a:r>
              <a:rPr lang="en-US" sz="1050" dirty="0">
                <a:solidFill>
                  <a:srgbClr val="F0C96A"/>
                </a:solidFill>
                <a:latin typeface="Consolas" pitchFamily="34" charset="0"/>
                <a:ea typeface="Consolas" pitchFamily="34" charset="-122"/>
                <a:cs typeface="Consolas" pitchFamily="34" charset="-120"/>
              </a:rPr>
              <a:t>├─ App.jsx</a:t>
            </a:r>
            <a:endParaRPr lang="en-US" sz="1050" dirty="0"/>
          </a:p>
          <a:p>
            <a:pPr marL="0" indent="0">
              <a:lnSpc>
                <a:spcPct val="112000"/>
              </a:lnSpc>
              <a:buNone/>
            </a:pPr>
            <a:r>
              <a:rPr lang="en-US" sz="1050" dirty="0">
                <a:solidFill>
                  <a:srgbClr val="F0C96A"/>
                </a:solidFill>
                <a:latin typeface="Consolas" pitchFamily="34" charset="0"/>
                <a:ea typeface="Consolas" pitchFamily="34" charset="-122"/>
                <a:cs typeface="Consolas" pitchFamily="34" charset="-120"/>
              </a:rPr>
              <a:t>└─ main.jsx</a:t>
            </a:r>
            <a:endParaRPr lang="en-US" sz="1050" dirty="0"/>
          </a:p>
        </p:txBody>
      </p:sp>
      <p:sp>
        <p:nvSpPr>
          <p:cNvPr id="23" name="Text 17"/>
          <p:cNvSpPr/>
          <p:nvPr/>
        </p:nvSpPr>
        <p:spPr>
          <a:xfrm>
            <a:off x="640080" y="6528816"/>
            <a:ext cx="5486400" cy="256032"/>
          </a:xfrm>
          <a:prstGeom prst="rect">
            <a:avLst/>
          </a:prstGeom>
          <a:noFill/>
          <a:ln/>
        </p:spPr>
        <p:txBody>
          <a:bodyPr wrap="square" lIns="0" tIns="0" rIns="0" bIns="0" rtlCol="0" anchor="ctr"/>
          <a:lstStyle/>
          <a:p>
            <a:pPr marL="0" indent="0">
              <a:buNone/>
            </a:pPr>
            <a:r>
              <a:rPr lang="en-US" sz="900" dirty="0">
                <a:solidFill>
                  <a:srgbClr val="8695B3"/>
                </a:solidFill>
                <a:latin typeface="Calibri" pitchFamily="34" charset="0"/>
                <a:ea typeface="Calibri" pitchFamily="34" charset="-122"/>
                <a:cs typeface="Calibri" pitchFamily="34" charset="-120"/>
              </a:rPr>
              <a:t>Drishti Wealth Financial Advisory Platform</a:t>
            </a:r>
            <a:endParaRPr lang="en-US" sz="900" dirty="0"/>
          </a:p>
        </p:txBody>
      </p:sp>
      <p:sp>
        <p:nvSpPr>
          <p:cNvPr id="24" name="Shape 18"/>
          <p:cNvSpPr/>
          <p:nvPr/>
        </p:nvSpPr>
        <p:spPr>
          <a:xfrm>
            <a:off x="11292840" y="6583680"/>
            <a:ext cx="54864" cy="54864"/>
          </a:xfrm>
          <a:prstGeom prst="ellipse">
            <a:avLst/>
          </a:prstGeom>
          <a:solidFill>
            <a:srgbClr val="C9922A"/>
          </a:solidFill>
          <a:ln/>
        </p:spPr>
      </p:sp>
      <p:sp>
        <p:nvSpPr>
          <p:cNvPr id="25" name="Text 19"/>
          <p:cNvSpPr/>
          <p:nvPr/>
        </p:nvSpPr>
        <p:spPr>
          <a:xfrm>
            <a:off x="11430000" y="6528816"/>
            <a:ext cx="365760" cy="256032"/>
          </a:xfrm>
          <a:prstGeom prst="rect">
            <a:avLst/>
          </a:prstGeom>
          <a:noFill/>
          <a:ln/>
        </p:spPr>
        <p:txBody>
          <a:bodyPr wrap="square" lIns="0" tIns="0" rIns="0" bIns="0" rtlCol="0" anchor="ctr"/>
          <a:lstStyle/>
          <a:p>
            <a:pPr marL="0" indent="0" algn="r">
              <a:buNone/>
            </a:pPr>
            <a:r>
              <a:rPr lang="en-US" sz="900" dirty="0">
                <a:solidFill>
                  <a:srgbClr val="8695B3"/>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2545"/>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marL="0" indent="0">
              <a:buNone/>
            </a:pPr>
            <a:r>
              <a:rPr lang="en-US" sz="1150" b="1" kern="0" spc="200" dirty="0">
                <a:solidFill>
                  <a:srgbClr val="C9922A"/>
                </a:solidFill>
                <a:latin typeface="Calibri" pitchFamily="34" charset="0"/>
                <a:ea typeface="Calibri" pitchFamily="34" charset="-122"/>
                <a:cs typeface="Calibri" pitchFamily="34" charset="-120"/>
              </a:rPr>
              <a:t>COMPONENT INVENTORY</a:t>
            </a:r>
            <a:endParaRPr lang="en-US" sz="1150" dirty="0"/>
          </a:p>
        </p:txBody>
      </p:sp>
      <p:sp>
        <p:nvSpPr>
          <p:cNvPr id="3" name="Text 1"/>
          <p:cNvSpPr/>
          <p:nvPr/>
        </p:nvSpPr>
        <p:spPr>
          <a:xfrm>
            <a:off x="640080" y="713232"/>
            <a:ext cx="996696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Major React Components</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908792" cy="914400"/>
        </p:xfrm>
        <a:graphic>
          <a:graphicData uri="http://schemas.openxmlformats.org/drawingml/2006/table">
            <a:tbl>
              <a:tblPr/>
              <a:tblGrid>
                <a:gridCol w="265176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770632">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384048">
                <a:tc>
                  <a:txBody>
                    <a:bodyPr/>
                    <a:lstStyle/>
                    <a:p>
                      <a:pPr marL="0" indent="0" algn="l">
                        <a:buNone/>
                      </a:pPr>
                      <a:r>
                        <a:rPr lang="en-US" sz="1100" b="1" dirty="0">
                          <a:solidFill>
                            <a:srgbClr val="F0C96A"/>
                          </a:solidFill>
                          <a:latin typeface="Calibri" pitchFamily="34" charset="0"/>
                          <a:ea typeface="Calibri" pitchFamily="34" charset="-122"/>
                          <a:cs typeface="Calibri" pitchFamily="34" charset="-120"/>
                        </a:rPr>
                        <a:t>Component</a:t>
                      </a:r>
                      <a:endParaRPr lang="en-US" sz="110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0D2545"/>
                    </a:solidFill>
                  </a:tcPr>
                </a:tc>
                <a:tc>
                  <a:txBody>
                    <a:bodyPr/>
                    <a:lstStyle/>
                    <a:p>
                      <a:pPr marL="0" indent="0" algn="l">
                        <a:buNone/>
                      </a:pPr>
                      <a:r>
                        <a:rPr lang="en-US" sz="1100" b="1" dirty="0">
                          <a:solidFill>
                            <a:srgbClr val="F0C96A"/>
                          </a:solidFill>
                          <a:latin typeface="Calibri" pitchFamily="34" charset="0"/>
                          <a:ea typeface="Calibri" pitchFamily="34" charset="-122"/>
                          <a:cs typeface="Calibri" pitchFamily="34" charset="-120"/>
                        </a:rPr>
                        <a:t>Purpose</a:t>
                      </a:r>
                      <a:endParaRPr lang="en-US" sz="110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0D2545"/>
                    </a:solidFill>
                  </a:tcPr>
                </a:tc>
                <a:tc>
                  <a:txBody>
                    <a:bodyPr/>
                    <a:lstStyle/>
                    <a:p>
                      <a:pPr marL="0" indent="0" algn="l">
                        <a:buNone/>
                      </a:pPr>
                      <a:r>
                        <a:rPr lang="en-US" sz="1100" b="1" dirty="0">
                          <a:solidFill>
                            <a:srgbClr val="F0C96A"/>
                          </a:solidFill>
                          <a:latin typeface="Calibri" pitchFamily="34" charset="0"/>
                          <a:ea typeface="Calibri" pitchFamily="34" charset="-122"/>
                          <a:cs typeface="Calibri" pitchFamily="34" charset="-120"/>
                        </a:rPr>
                        <a:t>Technologies</a:t>
                      </a:r>
                      <a:endParaRPr lang="en-US" sz="110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0D2545"/>
                    </a:solidFill>
                  </a:tcPr>
                </a:tc>
                <a:tc>
                  <a:txBody>
                    <a:bodyPr/>
                    <a:lstStyle/>
                    <a:p>
                      <a:pPr marL="0" indent="0" algn="l">
                        <a:buNone/>
                      </a:pPr>
                      <a:r>
                        <a:rPr lang="en-US" sz="1100" b="1" dirty="0">
                          <a:solidFill>
                            <a:srgbClr val="F0C96A"/>
                          </a:solidFill>
                          <a:latin typeface="Calibri" pitchFamily="34" charset="0"/>
                          <a:ea typeface="Calibri" pitchFamily="34" charset="-122"/>
                          <a:cs typeface="Calibri" pitchFamily="34" charset="-120"/>
                        </a:rPr>
                        <a:t>Notable Feature</a:t>
                      </a:r>
                      <a:endParaRPr lang="en-US" sz="110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0D2545"/>
                    </a:solidFill>
                  </a:tcPr>
                </a:tc>
                <a:extLst>
                  <a:ext uri="{0D108BD9-81ED-4DB2-BD59-A6C34878D82A}">
                    <a16:rowId xmlns:a16="http://schemas.microsoft.com/office/drawing/2014/main" val="10000"/>
                  </a:ext>
                </a:extLst>
              </a:tr>
              <a:tr h="438912">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Navbar.jsx</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83052"/>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Site wide navigation</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83052"/>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React Router, Tailwind</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83052"/>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Mega menu, sticky on scroll</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83052"/>
                    </a:solidFill>
                  </a:tcPr>
                </a:tc>
                <a:extLst>
                  <a:ext uri="{0D108BD9-81ED-4DB2-BD59-A6C34878D82A}">
                    <a16:rowId xmlns:a16="http://schemas.microsoft.com/office/drawing/2014/main" val="10001"/>
                  </a:ext>
                </a:extLst>
              </a:tr>
              <a:tr h="438912">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EyeFollowButton.jsx</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F3D66"/>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Hero call to action</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F3D66"/>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Framer Motion</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F3D66"/>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Cursor tracking button</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F3D66"/>
                    </a:solidFill>
                  </a:tcPr>
                </a:tc>
                <a:extLst>
                  <a:ext uri="{0D108BD9-81ED-4DB2-BD59-A6C34878D82A}">
                    <a16:rowId xmlns:a16="http://schemas.microsoft.com/office/drawing/2014/main" val="10002"/>
                  </a:ext>
                </a:extLst>
              </a:tr>
              <a:tr h="438912">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StaggeredMenu.jsx</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83052"/>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Mobile navigation</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83052"/>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Framer Motion</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83052"/>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Staggered entrance animation</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83052"/>
                    </a:solidFill>
                  </a:tcPr>
                </a:tc>
                <a:extLst>
                  <a:ext uri="{0D108BD9-81ED-4DB2-BD59-A6C34878D82A}">
                    <a16:rowId xmlns:a16="http://schemas.microsoft.com/office/drawing/2014/main" val="10003"/>
                  </a:ext>
                </a:extLst>
              </a:tr>
              <a:tr h="438912">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ServiceCardGraphic.jsx</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F3D66"/>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Service tile primitive</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F3D66"/>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Tailwind, props</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F3D66"/>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Reusable bento grid block</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F3D66"/>
                    </a:solidFill>
                  </a:tcPr>
                </a:tc>
                <a:extLst>
                  <a:ext uri="{0D108BD9-81ED-4DB2-BD59-A6C34878D82A}">
                    <a16:rowId xmlns:a16="http://schemas.microsoft.com/office/drawing/2014/main" val="10004"/>
                  </a:ext>
                </a:extLst>
              </a:tr>
              <a:tr h="438912">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DwLogo3DViewer.jsx</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83052"/>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Interactive brand mark</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83052"/>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Three.js, React Three Fiber</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83052"/>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Managed canvas lifecycle</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83052"/>
                    </a:solidFill>
                  </a:tcPr>
                </a:tc>
                <a:extLst>
                  <a:ext uri="{0D108BD9-81ED-4DB2-BD59-A6C34878D82A}">
                    <a16:rowId xmlns:a16="http://schemas.microsoft.com/office/drawing/2014/main" val="10005"/>
                  </a:ext>
                </a:extLst>
              </a:tr>
              <a:tr h="438912">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ProtectedRoute.jsx</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F3D66"/>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Route guard</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F3D66"/>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React Router, JWT</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F3D66"/>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Redirects unauthenticated users</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F3D66"/>
                    </a:solidFill>
                  </a:tcPr>
                </a:tc>
                <a:extLst>
                  <a:ext uri="{0D108BD9-81ED-4DB2-BD59-A6C34878D82A}">
                    <a16:rowId xmlns:a16="http://schemas.microsoft.com/office/drawing/2014/main" val="10006"/>
                  </a:ext>
                </a:extLst>
              </a:tr>
              <a:tr h="438912">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SIP / Goal Calculators</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83052"/>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Financial tools</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83052"/>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React state, JS Math</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83052"/>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Live chart, multi step wizard</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83052"/>
                    </a:solidFill>
                  </a:tcPr>
                </a:tc>
                <a:extLst>
                  <a:ext uri="{0D108BD9-81ED-4DB2-BD59-A6C34878D82A}">
                    <a16:rowId xmlns:a16="http://schemas.microsoft.com/office/drawing/2014/main" val="10007"/>
                  </a:ext>
                </a:extLst>
              </a:tr>
              <a:tr h="438912">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Admin Data Table</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F3D66"/>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Lead management grid</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F3D66"/>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React, pagination</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F3D66"/>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Persistent search and filters</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F3D66"/>
                    </a:solidFill>
                  </a:tcPr>
                </a:tc>
                <a:extLst>
                  <a:ext uri="{0D108BD9-81ED-4DB2-BD59-A6C34878D82A}">
                    <a16:rowId xmlns:a16="http://schemas.microsoft.com/office/drawing/2014/main" val="10008"/>
                  </a:ext>
                </a:extLst>
              </a:tr>
              <a:tr h="438912">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WhatsAppFloat.jsx</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83052"/>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Instant lead capture CTA</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83052"/>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React, route aware rendering</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83052"/>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1 click routing to WhatsApp Business chat</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83052"/>
                    </a:solidFill>
                  </a:tcPr>
                </a:tc>
                <a:extLst>
                  <a:ext uri="{0D108BD9-81ED-4DB2-BD59-A6C34878D82A}">
                    <a16:rowId xmlns:a16="http://schemas.microsoft.com/office/drawing/2014/main" val="10009"/>
                  </a:ext>
                </a:extLst>
              </a:tr>
            </a:tbl>
          </a:graphicData>
        </a:graphic>
      </p:graphicFrame>
      <p:sp>
        <p:nvSpPr>
          <p:cNvPr id="5" name="Text 2"/>
          <p:cNvSpPr/>
          <p:nvPr/>
        </p:nvSpPr>
        <p:spPr>
          <a:xfrm>
            <a:off x="640080" y="6528816"/>
            <a:ext cx="5486400" cy="256032"/>
          </a:xfrm>
          <a:prstGeom prst="rect">
            <a:avLst/>
          </a:prstGeom>
          <a:noFill/>
          <a:ln/>
        </p:spPr>
        <p:txBody>
          <a:bodyPr wrap="square" lIns="0" tIns="0" rIns="0" bIns="0" rtlCol="0" anchor="ctr"/>
          <a:lstStyle/>
          <a:p>
            <a:pPr marL="0" indent="0">
              <a:buNone/>
            </a:pPr>
            <a:r>
              <a:rPr lang="en-US" sz="900" dirty="0">
                <a:solidFill>
                  <a:srgbClr val="8695B3"/>
                </a:solidFill>
                <a:latin typeface="Calibri" pitchFamily="34" charset="0"/>
                <a:ea typeface="Calibri" pitchFamily="34" charset="-122"/>
                <a:cs typeface="Calibri" pitchFamily="34" charset="-120"/>
              </a:rPr>
              <a:t>Drishti Wealth Financial Advisory Platform</a:t>
            </a:r>
            <a:endParaRPr lang="en-US" sz="900" dirty="0"/>
          </a:p>
        </p:txBody>
      </p:sp>
      <p:sp>
        <p:nvSpPr>
          <p:cNvPr id="6" name="Shape 3"/>
          <p:cNvSpPr/>
          <p:nvPr/>
        </p:nvSpPr>
        <p:spPr>
          <a:xfrm>
            <a:off x="11292840" y="6583680"/>
            <a:ext cx="54864" cy="54864"/>
          </a:xfrm>
          <a:prstGeom prst="ellipse">
            <a:avLst/>
          </a:prstGeom>
          <a:solidFill>
            <a:srgbClr val="C9922A"/>
          </a:solidFill>
          <a:ln/>
        </p:spPr>
      </p:sp>
      <p:sp>
        <p:nvSpPr>
          <p:cNvPr id="7" name="Text 4"/>
          <p:cNvSpPr/>
          <p:nvPr/>
        </p:nvSpPr>
        <p:spPr>
          <a:xfrm>
            <a:off x="11430000" y="6528816"/>
            <a:ext cx="365760" cy="256032"/>
          </a:xfrm>
          <a:prstGeom prst="rect">
            <a:avLst/>
          </a:prstGeom>
          <a:noFill/>
          <a:ln/>
        </p:spPr>
        <p:txBody>
          <a:bodyPr wrap="square" lIns="0" tIns="0" rIns="0" bIns="0" rtlCol="0" anchor="ctr"/>
          <a:lstStyle/>
          <a:p>
            <a:pPr marL="0" indent="0" algn="r">
              <a:buNone/>
            </a:pPr>
            <a:r>
              <a:rPr lang="en-US" sz="900" dirty="0">
                <a:solidFill>
                  <a:srgbClr val="8695B3"/>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2545"/>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marL="0" indent="0">
              <a:buNone/>
            </a:pPr>
            <a:r>
              <a:rPr lang="en-US" sz="1150" b="1" kern="0" spc="200" dirty="0">
                <a:solidFill>
                  <a:srgbClr val="C9922A"/>
                </a:solidFill>
                <a:latin typeface="Calibri" pitchFamily="34" charset="0"/>
                <a:ea typeface="Calibri" pitchFamily="34" charset="-122"/>
                <a:cs typeface="Calibri" pitchFamily="34" charset="-120"/>
              </a:rPr>
              <a:t>DESIGN ENGINEERING</a:t>
            </a:r>
            <a:endParaRPr lang="en-US" sz="1150" dirty="0"/>
          </a:p>
        </p:txBody>
      </p:sp>
      <p:sp>
        <p:nvSpPr>
          <p:cNvPr id="3" name="Text 1"/>
          <p:cNvSpPr/>
          <p:nvPr/>
        </p:nvSpPr>
        <p:spPr>
          <a:xfrm>
            <a:off x="640080" y="713232"/>
            <a:ext cx="996696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UI and UX Engineering</a:t>
            </a:r>
            <a:endParaRPr lang="en-US" sz="2800" dirty="0"/>
          </a:p>
        </p:txBody>
      </p:sp>
      <p:sp>
        <p:nvSpPr>
          <p:cNvPr id="4" name="Shape 2"/>
          <p:cNvSpPr/>
          <p:nvPr/>
        </p:nvSpPr>
        <p:spPr>
          <a:xfrm>
            <a:off x="640080" y="1508760"/>
            <a:ext cx="3502152" cy="1737360"/>
          </a:xfrm>
          <a:prstGeom prst="roundRect">
            <a:avLst>
              <a:gd name="adj" fmla="val 4737"/>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5" name="Shape 3"/>
          <p:cNvSpPr/>
          <p:nvPr/>
        </p:nvSpPr>
        <p:spPr>
          <a:xfrm>
            <a:off x="859536" y="1728216"/>
            <a:ext cx="475488" cy="475488"/>
          </a:xfrm>
          <a:prstGeom prst="ellipse">
            <a:avLst/>
          </a:prstGeom>
          <a:solidFill>
            <a:srgbClr val="C9922A"/>
          </a:solidFill>
          <a:ln/>
        </p:spPr>
      </p:sp>
      <p:pic>
        <p:nvPicPr>
          <p:cNvPr id="6" name="Image 0" descr="/home/claude/dwdeck/icons/layout.png"/>
          <p:cNvPicPr>
            <a:picLocks noChangeAspect="1"/>
          </p:cNvPicPr>
          <p:nvPr/>
        </p:nvPicPr>
        <p:blipFill>
          <a:blip r:embed="rId3"/>
          <a:stretch>
            <a:fillRect/>
          </a:stretch>
        </p:blipFill>
        <p:spPr>
          <a:xfrm>
            <a:off x="969264" y="1837944"/>
            <a:ext cx="256032" cy="256032"/>
          </a:xfrm>
          <a:prstGeom prst="rect">
            <a:avLst/>
          </a:prstGeom>
        </p:spPr>
      </p:pic>
      <p:sp>
        <p:nvSpPr>
          <p:cNvPr id="7" name="Text 4"/>
          <p:cNvSpPr/>
          <p:nvPr/>
        </p:nvSpPr>
        <p:spPr>
          <a:xfrm>
            <a:off x="859536" y="2368296"/>
            <a:ext cx="3063240" cy="45720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Bento Grid and Glassmorphism</a:t>
            </a:r>
            <a:endParaRPr lang="en-US" sz="1250" dirty="0"/>
          </a:p>
        </p:txBody>
      </p:sp>
      <p:sp>
        <p:nvSpPr>
          <p:cNvPr id="8" name="Text 5"/>
          <p:cNvSpPr/>
          <p:nvPr/>
        </p:nvSpPr>
        <p:spPr>
          <a:xfrm>
            <a:off x="859536" y="2788920"/>
            <a:ext cx="3063240" cy="411480"/>
          </a:xfrm>
          <a:prstGeom prst="rect">
            <a:avLst/>
          </a:prstGeom>
          <a:noFill/>
          <a:ln/>
        </p:spPr>
        <p:txBody>
          <a:bodyPr wrap="square" lIns="0" tIns="0" rIns="0" bIns="0" rtlCol="0" anchor="t"/>
          <a:lstStyle/>
          <a:p>
            <a:pPr marL="0" indent="0">
              <a:lnSpc>
                <a:spcPct val="110000"/>
              </a:lnSpc>
              <a:buNone/>
            </a:pPr>
            <a:r>
              <a:rPr lang="en-US" sz="1000" dirty="0">
                <a:solidFill>
                  <a:srgbClr val="B9C4DA"/>
                </a:solidFill>
                <a:latin typeface="Calibri" pitchFamily="34" charset="0"/>
                <a:ea typeface="Calibri" pitchFamily="34" charset="-122"/>
                <a:cs typeface="Calibri" pitchFamily="34" charset="-120"/>
              </a:rPr>
              <a:t>Segmented card layouts with soft translucent panels for a premium, modern feel.</a:t>
            </a:r>
            <a:endParaRPr lang="en-US" sz="1000" dirty="0"/>
          </a:p>
        </p:txBody>
      </p:sp>
      <p:sp>
        <p:nvSpPr>
          <p:cNvPr id="9" name="Shape 6"/>
          <p:cNvSpPr/>
          <p:nvPr/>
        </p:nvSpPr>
        <p:spPr>
          <a:xfrm>
            <a:off x="4343400" y="1508760"/>
            <a:ext cx="3502152" cy="1737360"/>
          </a:xfrm>
          <a:prstGeom prst="roundRect">
            <a:avLst>
              <a:gd name="adj" fmla="val 4737"/>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10" name="Shape 7"/>
          <p:cNvSpPr/>
          <p:nvPr/>
        </p:nvSpPr>
        <p:spPr>
          <a:xfrm>
            <a:off x="4562856" y="1728216"/>
            <a:ext cx="475488" cy="475488"/>
          </a:xfrm>
          <a:prstGeom prst="ellipse">
            <a:avLst/>
          </a:prstGeom>
          <a:solidFill>
            <a:srgbClr val="C9922A"/>
          </a:solidFill>
          <a:ln/>
        </p:spPr>
      </p:sp>
      <p:pic>
        <p:nvPicPr>
          <p:cNvPr id="11" name="Image 1" descr="/home/claude/dwdeck/icons/grid.png"/>
          <p:cNvPicPr>
            <a:picLocks noChangeAspect="1"/>
          </p:cNvPicPr>
          <p:nvPr/>
        </p:nvPicPr>
        <p:blipFill>
          <a:blip r:embed="rId4"/>
          <a:stretch>
            <a:fillRect/>
          </a:stretch>
        </p:blipFill>
        <p:spPr>
          <a:xfrm>
            <a:off x="4672584" y="1837944"/>
            <a:ext cx="256032" cy="256032"/>
          </a:xfrm>
          <a:prstGeom prst="rect">
            <a:avLst/>
          </a:prstGeom>
        </p:spPr>
      </p:pic>
      <p:sp>
        <p:nvSpPr>
          <p:cNvPr id="12" name="Text 8"/>
          <p:cNvSpPr/>
          <p:nvPr/>
        </p:nvSpPr>
        <p:spPr>
          <a:xfrm>
            <a:off x="4562856" y="2368296"/>
            <a:ext cx="3063240" cy="45720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Responsive Grid and Flex</a:t>
            </a:r>
            <a:endParaRPr lang="en-US" sz="1250" dirty="0"/>
          </a:p>
        </p:txBody>
      </p:sp>
      <p:sp>
        <p:nvSpPr>
          <p:cNvPr id="13" name="Text 9"/>
          <p:cNvSpPr/>
          <p:nvPr/>
        </p:nvSpPr>
        <p:spPr>
          <a:xfrm>
            <a:off x="4562856" y="2788920"/>
            <a:ext cx="3063240" cy="411480"/>
          </a:xfrm>
          <a:prstGeom prst="rect">
            <a:avLst/>
          </a:prstGeom>
          <a:noFill/>
          <a:ln/>
        </p:spPr>
        <p:txBody>
          <a:bodyPr wrap="square" lIns="0" tIns="0" rIns="0" bIns="0" rtlCol="0" anchor="t"/>
          <a:lstStyle/>
          <a:p>
            <a:pPr marL="0" indent="0">
              <a:lnSpc>
                <a:spcPct val="110000"/>
              </a:lnSpc>
              <a:buNone/>
            </a:pPr>
            <a:r>
              <a:rPr lang="en-US" sz="1000" dirty="0">
                <a:solidFill>
                  <a:srgbClr val="B9C4DA"/>
                </a:solidFill>
                <a:latin typeface="Calibri" pitchFamily="34" charset="0"/>
                <a:ea typeface="Calibri" pitchFamily="34" charset="-122"/>
                <a:cs typeface="Calibri" pitchFamily="34" charset="-120"/>
              </a:rPr>
              <a:t>Mobile first breakpoints across every page, tuned in Tailwind's config.</a:t>
            </a:r>
            <a:endParaRPr lang="en-US" sz="1000" dirty="0"/>
          </a:p>
        </p:txBody>
      </p:sp>
      <p:sp>
        <p:nvSpPr>
          <p:cNvPr id="14" name="Shape 10"/>
          <p:cNvSpPr/>
          <p:nvPr/>
        </p:nvSpPr>
        <p:spPr>
          <a:xfrm>
            <a:off x="8046720" y="1508760"/>
            <a:ext cx="3502152" cy="1737360"/>
          </a:xfrm>
          <a:prstGeom prst="roundRect">
            <a:avLst>
              <a:gd name="adj" fmla="val 4737"/>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15" name="Shape 11"/>
          <p:cNvSpPr/>
          <p:nvPr/>
        </p:nvSpPr>
        <p:spPr>
          <a:xfrm>
            <a:off x="8266176" y="1728216"/>
            <a:ext cx="475488" cy="475488"/>
          </a:xfrm>
          <a:prstGeom prst="ellipse">
            <a:avLst/>
          </a:prstGeom>
          <a:solidFill>
            <a:srgbClr val="C9922A"/>
          </a:solidFill>
          <a:ln/>
        </p:spPr>
      </p:sp>
      <p:pic>
        <p:nvPicPr>
          <p:cNvPr id="16" name="Image 2" descr="/home/claude/dwdeck/icons/move.png"/>
          <p:cNvPicPr>
            <a:picLocks noChangeAspect="1"/>
          </p:cNvPicPr>
          <p:nvPr/>
        </p:nvPicPr>
        <p:blipFill>
          <a:blip r:embed="rId5"/>
          <a:stretch>
            <a:fillRect/>
          </a:stretch>
        </p:blipFill>
        <p:spPr>
          <a:xfrm>
            <a:off x="8375904" y="1837944"/>
            <a:ext cx="256032" cy="256032"/>
          </a:xfrm>
          <a:prstGeom prst="rect">
            <a:avLst/>
          </a:prstGeom>
        </p:spPr>
      </p:pic>
      <p:sp>
        <p:nvSpPr>
          <p:cNvPr id="17" name="Text 12"/>
          <p:cNvSpPr/>
          <p:nvPr/>
        </p:nvSpPr>
        <p:spPr>
          <a:xfrm>
            <a:off x="8266176" y="2368296"/>
            <a:ext cx="3063240" cy="45720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Hover Effects and Transitions</a:t>
            </a:r>
            <a:endParaRPr lang="en-US" sz="1250" dirty="0"/>
          </a:p>
        </p:txBody>
      </p:sp>
      <p:sp>
        <p:nvSpPr>
          <p:cNvPr id="18" name="Text 13"/>
          <p:cNvSpPr/>
          <p:nvPr/>
        </p:nvSpPr>
        <p:spPr>
          <a:xfrm>
            <a:off x="8266176" y="2788920"/>
            <a:ext cx="3063240" cy="411480"/>
          </a:xfrm>
          <a:prstGeom prst="rect">
            <a:avLst/>
          </a:prstGeom>
          <a:noFill/>
          <a:ln/>
        </p:spPr>
        <p:txBody>
          <a:bodyPr wrap="square" lIns="0" tIns="0" rIns="0" bIns="0" rtlCol="0" anchor="t"/>
          <a:lstStyle/>
          <a:p>
            <a:pPr marL="0" indent="0">
              <a:lnSpc>
                <a:spcPct val="110000"/>
              </a:lnSpc>
              <a:buNone/>
            </a:pPr>
            <a:r>
              <a:rPr lang="en-US" sz="1000" dirty="0">
                <a:solidFill>
                  <a:srgbClr val="B9C4DA"/>
                </a:solidFill>
                <a:latin typeface="Calibri" pitchFamily="34" charset="0"/>
                <a:ea typeface="Calibri" pitchFamily="34" charset="-122"/>
                <a:cs typeface="Calibri" pitchFamily="34" charset="-120"/>
              </a:rPr>
              <a:t>Smooth, purposeful motion on cards and buttons rather than static UI.</a:t>
            </a:r>
            <a:endParaRPr lang="en-US" sz="1000" dirty="0"/>
          </a:p>
        </p:txBody>
      </p:sp>
      <p:sp>
        <p:nvSpPr>
          <p:cNvPr id="19" name="Text 14"/>
          <p:cNvSpPr/>
          <p:nvPr/>
        </p:nvSpPr>
        <p:spPr>
          <a:xfrm>
            <a:off x="640080" y="3520440"/>
            <a:ext cx="7315200" cy="3200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Real Engineering Fixes From the Build</a:t>
            </a:r>
            <a:endParaRPr lang="en-US" sz="1450" dirty="0"/>
          </a:p>
        </p:txBody>
      </p:sp>
      <p:sp>
        <p:nvSpPr>
          <p:cNvPr id="20" name="Shape 15"/>
          <p:cNvSpPr/>
          <p:nvPr/>
        </p:nvSpPr>
        <p:spPr>
          <a:xfrm>
            <a:off x="640080" y="3931920"/>
            <a:ext cx="10908792" cy="960120"/>
          </a:xfrm>
          <a:prstGeom prst="roundRect">
            <a:avLst>
              <a:gd name="adj" fmla="val 8571"/>
            </a:avLst>
          </a:prstGeom>
          <a:solidFill>
            <a:srgbClr val="183052"/>
          </a:solidFill>
          <a:ln w="12700">
            <a:solidFill>
              <a:srgbClr val="2E4A73"/>
            </a:solidFill>
            <a:prstDash val="solid"/>
          </a:ln>
          <a:effectLst>
            <a:outerShdw blurRad="101600" dist="38100" dir="5400000" algn="bl" rotWithShape="0">
              <a:srgbClr val="000000">
                <a:alpha val="25000"/>
              </a:srgbClr>
            </a:outerShdw>
          </a:effectLst>
        </p:spPr>
      </p:sp>
      <p:sp>
        <p:nvSpPr>
          <p:cNvPr id="21" name="Text 16"/>
          <p:cNvSpPr/>
          <p:nvPr/>
        </p:nvSpPr>
        <p:spPr>
          <a:xfrm>
            <a:off x="914400" y="3931920"/>
            <a:ext cx="10424160" cy="960120"/>
          </a:xfrm>
          <a:prstGeom prst="rect">
            <a:avLst/>
          </a:prstGeom>
          <a:noFill/>
          <a:ln/>
        </p:spPr>
        <p:txBody>
          <a:bodyPr wrap="square" lIns="0" tIns="0" rIns="0" bIns="0" rtlCol="0" anchor="ctr"/>
          <a:lstStyle/>
          <a:p>
            <a:pPr marL="0" indent="0">
              <a:lnSpc>
                <a:spcPct val="120000"/>
              </a:lnSpc>
              <a:buNone/>
            </a:pPr>
            <a:r>
              <a:rPr lang="en-US" sz="1200" b="1" dirty="0">
                <a:solidFill>
                  <a:srgbClr val="F0C96A"/>
                </a:solidFill>
                <a:latin typeface="Calibri" pitchFamily="34" charset="0"/>
                <a:ea typeface="Calibri" pitchFamily="34" charset="-122"/>
                <a:cs typeface="Calibri" pitchFamily="34" charset="-120"/>
              </a:rPr>
              <a:t>Inconsistent partner logo sizes:  </a:t>
            </a:r>
            <a:r>
              <a:rPr lang="en-US" sz="1200" dirty="0">
                <a:solidFill>
                  <a:srgbClr val="B9C4DA"/>
                </a:solidFill>
                <a:latin typeface="Calibri" pitchFamily="34" charset="0"/>
                <a:ea typeface="Calibri" pitchFamily="34" charset="-122"/>
                <a:cs typeface="Calibri" pitchFamily="34" charset="-120"/>
              </a:rPr>
              <a:t>Fixed with container constraints and CSS object-fit: contain to normalize visual weight.</a:t>
            </a:r>
            <a:endParaRPr lang="en-US" sz="1200" dirty="0"/>
          </a:p>
        </p:txBody>
      </p:sp>
      <p:sp>
        <p:nvSpPr>
          <p:cNvPr id="22" name="Shape 17"/>
          <p:cNvSpPr/>
          <p:nvPr/>
        </p:nvSpPr>
        <p:spPr>
          <a:xfrm>
            <a:off x="640080" y="5010912"/>
            <a:ext cx="10908792" cy="960120"/>
          </a:xfrm>
          <a:prstGeom prst="roundRect">
            <a:avLst>
              <a:gd name="adj" fmla="val 8571"/>
            </a:avLst>
          </a:prstGeom>
          <a:solidFill>
            <a:srgbClr val="183052"/>
          </a:solidFill>
          <a:ln w="12700">
            <a:solidFill>
              <a:srgbClr val="2E4A73"/>
            </a:solidFill>
            <a:prstDash val="solid"/>
          </a:ln>
          <a:effectLst>
            <a:outerShdw blurRad="101600" dist="38100" dir="5400000" algn="bl" rotWithShape="0">
              <a:srgbClr val="000000">
                <a:alpha val="25000"/>
              </a:srgbClr>
            </a:outerShdw>
          </a:effectLst>
        </p:spPr>
      </p:sp>
      <p:sp>
        <p:nvSpPr>
          <p:cNvPr id="23" name="Text 18"/>
          <p:cNvSpPr/>
          <p:nvPr/>
        </p:nvSpPr>
        <p:spPr>
          <a:xfrm>
            <a:off x="914400" y="5010912"/>
            <a:ext cx="10424160" cy="960120"/>
          </a:xfrm>
          <a:prstGeom prst="rect">
            <a:avLst/>
          </a:prstGeom>
          <a:noFill/>
          <a:ln/>
        </p:spPr>
        <p:txBody>
          <a:bodyPr wrap="square" lIns="0" tIns="0" rIns="0" bIns="0" rtlCol="0" anchor="ctr"/>
          <a:lstStyle/>
          <a:p>
            <a:pPr marL="0" indent="0">
              <a:lnSpc>
                <a:spcPct val="120000"/>
              </a:lnSpc>
              <a:buNone/>
            </a:pPr>
            <a:r>
              <a:rPr lang="en-US" sz="1200" b="1" dirty="0">
                <a:solidFill>
                  <a:srgbClr val="F0C96A"/>
                </a:solidFill>
                <a:latin typeface="Calibri" pitchFamily="34" charset="0"/>
                <a:ea typeface="Calibri" pitchFamily="34" charset="-122"/>
                <a:cs typeface="Calibri" pitchFamily="34" charset="-120"/>
              </a:rPr>
              <a:t>Alternating timeline broke on Grid:  </a:t>
            </a:r>
            <a:r>
              <a:rPr lang="en-US" sz="1200" dirty="0">
                <a:solidFill>
                  <a:srgbClr val="B9C4DA"/>
                </a:solidFill>
                <a:latin typeface="Calibri" pitchFamily="34" charset="0"/>
                <a:ea typeface="Calibri" pitchFamily="34" charset="-122"/>
                <a:cs typeface="Calibri" pitchFamily="34" charset="-120"/>
              </a:rPr>
              <a:t>Rebuilt with Flexbox, using row and row-reverse on odd and even children, collapsing to one column on mobile.</a:t>
            </a:r>
            <a:endParaRPr lang="en-US" sz="1200" dirty="0"/>
          </a:p>
        </p:txBody>
      </p:sp>
      <p:sp>
        <p:nvSpPr>
          <p:cNvPr id="24" name="Text 19"/>
          <p:cNvSpPr/>
          <p:nvPr/>
        </p:nvSpPr>
        <p:spPr>
          <a:xfrm>
            <a:off x="640080" y="6528816"/>
            <a:ext cx="5486400" cy="256032"/>
          </a:xfrm>
          <a:prstGeom prst="rect">
            <a:avLst/>
          </a:prstGeom>
          <a:noFill/>
          <a:ln/>
        </p:spPr>
        <p:txBody>
          <a:bodyPr wrap="square" lIns="0" tIns="0" rIns="0" bIns="0" rtlCol="0" anchor="ctr"/>
          <a:lstStyle/>
          <a:p>
            <a:pPr marL="0" indent="0">
              <a:buNone/>
            </a:pPr>
            <a:r>
              <a:rPr lang="en-US" sz="900" dirty="0">
                <a:solidFill>
                  <a:srgbClr val="8695B3"/>
                </a:solidFill>
                <a:latin typeface="Calibri" pitchFamily="34" charset="0"/>
                <a:ea typeface="Calibri" pitchFamily="34" charset="-122"/>
                <a:cs typeface="Calibri" pitchFamily="34" charset="-120"/>
              </a:rPr>
              <a:t>Drishti Wealth Financial Advisory Platform</a:t>
            </a:r>
            <a:endParaRPr lang="en-US" sz="900" dirty="0"/>
          </a:p>
        </p:txBody>
      </p:sp>
      <p:sp>
        <p:nvSpPr>
          <p:cNvPr id="25" name="Shape 20"/>
          <p:cNvSpPr/>
          <p:nvPr/>
        </p:nvSpPr>
        <p:spPr>
          <a:xfrm>
            <a:off x="11292840" y="6583680"/>
            <a:ext cx="54864" cy="54864"/>
          </a:xfrm>
          <a:prstGeom prst="ellipse">
            <a:avLst/>
          </a:prstGeom>
          <a:solidFill>
            <a:srgbClr val="C9922A"/>
          </a:solidFill>
          <a:ln/>
        </p:spPr>
      </p:sp>
      <p:sp>
        <p:nvSpPr>
          <p:cNvPr id="26" name="Text 21"/>
          <p:cNvSpPr/>
          <p:nvPr/>
        </p:nvSpPr>
        <p:spPr>
          <a:xfrm>
            <a:off x="11430000" y="6528816"/>
            <a:ext cx="365760" cy="256032"/>
          </a:xfrm>
          <a:prstGeom prst="rect">
            <a:avLst/>
          </a:prstGeom>
          <a:noFill/>
          <a:ln/>
        </p:spPr>
        <p:txBody>
          <a:bodyPr wrap="square" lIns="0" tIns="0" rIns="0" bIns="0" rtlCol="0" anchor="ctr"/>
          <a:lstStyle/>
          <a:p>
            <a:pPr marL="0" indent="0" algn="r">
              <a:buNone/>
            </a:pPr>
            <a:r>
              <a:rPr lang="en-US" sz="900" dirty="0">
                <a:solidFill>
                  <a:srgbClr val="8695B3"/>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2545"/>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marL="0" indent="0">
              <a:buNone/>
            </a:pPr>
            <a:r>
              <a:rPr lang="en-US" sz="1150" b="1" kern="0" spc="200" dirty="0">
                <a:solidFill>
                  <a:srgbClr val="C9922A"/>
                </a:solidFill>
                <a:latin typeface="Calibri" pitchFamily="34" charset="0"/>
                <a:ea typeface="Calibri" pitchFamily="34" charset="-122"/>
                <a:cs typeface="Calibri" pitchFamily="34" charset="-120"/>
              </a:rPr>
              <a:t>CORE TOOL AND FEATURE</a:t>
            </a:r>
            <a:endParaRPr lang="en-US" sz="1150" dirty="0"/>
          </a:p>
        </p:txBody>
      </p:sp>
      <p:sp>
        <p:nvSpPr>
          <p:cNvPr id="3" name="Text 1"/>
          <p:cNvSpPr/>
          <p:nvPr/>
        </p:nvSpPr>
        <p:spPr>
          <a:xfrm>
            <a:off x="640080" y="713232"/>
            <a:ext cx="996696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Financial Calculators and Math Engineering</a:t>
            </a:r>
            <a:endParaRPr lang="en-US" sz="2800" dirty="0"/>
          </a:p>
        </p:txBody>
      </p:sp>
      <p:sp>
        <p:nvSpPr>
          <p:cNvPr id="4" name="Shape 2"/>
          <p:cNvSpPr/>
          <p:nvPr/>
        </p:nvSpPr>
        <p:spPr>
          <a:xfrm>
            <a:off x="640080" y="1508760"/>
            <a:ext cx="10908792" cy="777240"/>
          </a:xfrm>
          <a:prstGeom prst="roundRect">
            <a:avLst>
              <a:gd name="adj" fmla="val 8235"/>
            </a:avLst>
          </a:prstGeom>
          <a:solidFill>
            <a:srgbClr val="0A1D38"/>
          </a:solidFill>
          <a:ln w="12700">
            <a:solidFill>
              <a:srgbClr val="C9922A"/>
            </a:solidFill>
            <a:prstDash val="solid"/>
          </a:ln>
        </p:spPr>
      </p:sp>
      <p:sp>
        <p:nvSpPr>
          <p:cNvPr id="5" name="Text 3"/>
          <p:cNvSpPr/>
          <p:nvPr/>
        </p:nvSpPr>
        <p:spPr>
          <a:xfrm>
            <a:off x="914400" y="1508760"/>
            <a:ext cx="10332720" cy="777240"/>
          </a:xfrm>
          <a:prstGeom prst="rect">
            <a:avLst/>
          </a:prstGeom>
          <a:noFill/>
          <a:ln/>
        </p:spPr>
        <p:txBody>
          <a:bodyPr wrap="square" lIns="0" tIns="0" rIns="0" bIns="0" rtlCol="0" anchor="ctr"/>
          <a:lstStyle/>
          <a:p>
            <a:pPr marL="0" indent="0">
              <a:buNone/>
            </a:pPr>
            <a:r>
              <a:rPr lang="en-US" sz="2000" b="1" dirty="0">
                <a:solidFill>
                  <a:srgbClr val="F0C96A"/>
                </a:solidFill>
                <a:latin typeface="Consolas" pitchFamily="34" charset="0"/>
                <a:ea typeface="Consolas" pitchFamily="34" charset="-122"/>
                <a:cs typeface="Consolas" pitchFamily="34" charset="-120"/>
              </a:rPr>
              <a:t>P × (((1 + i)^n − 1) / i) × (1 + i)</a:t>
            </a:r>
            <a:endParaRPr lang="en-US" sz="2000" dirty="0"/>
          </a:p>
        </p:txBody>
      </p:sp>
      <p:sp>
        <p:nvSpPr>
          <p:cNvPr id="6" name="Text 4"/>
          <p:cNvSpPr/>
          <p:nvPr/>
        </p:nvSpPr>
        <p:spPr>
          <a:xfrm>
            <a:off x="640080" y="2514600"/>
            <a:ext cx="8229600" cy="3200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Real Precision Bugs Fixed During Development</a:t>
            </a:r>
            <a:endParaRPr lang="en-US" sz="1450" dirty="0"/>
          </a:p>
        </p:txBody>
      </p:sp>
      <p:sp>
        <p:nvSpPr>
          <p:cNvPr id="7" name="Shape 5"/>
          <p:cNvSpPr/>
          <p:nvPr/>
        </p:nvSpPr>
        <p:spPr>
          <a:xfrm>
            <a:off x="640080" y="2880360"/>
            <a:ext cx="5349240" cy="1417320"/>
          </a:xfrm>
          <a:prstGeom prst="roundRect">
            <a:avLst>
              <a:gd name="adj" fmla="val 5806"/>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8" name="Shape 6"/>
          <p:cNvSpPr/>
          <p:nvPr/>
        </p:nvSpPr>
        <p:spPr>
          <a:xfrm>
            <a:off x="859536" y="3081528"/>
            <a:ext cx="438912" cy="438912"/>
          </a:xfrm>
          <a:prstGeom prst="ellipse">
            <a:avLst/>
          </a:prstGeom>
          <a:solidFill>
            <a:srgbClr val="C9922A"/>
          </a:solidFill>
          <a:ln/>
        </p:spPr>
      </p:sp>
      <p:pic>
        <p:nvPicPr>
          <p:cNvPr id="9" name="Image 0" descr="/home/claude/dwdeck/icons/alerttriangle.png"/>
          <p:cNvPicPr>
            <a:picLocks noChangeAspect="1"/>
          </p:cNvPicPr>
          <p:nvPr/>
        </p:nvPicPr>
        <p:blipFill>
          <a:blip r:embed="rId3"/>
          <a:stretch>
            <a:fillRect/>
          </a:stretch>
        </p:blipFill>
        <p:spPr>
          <a:xfrm>
            <a:off x="960120" y="3182112"/>
            <a:ext cx="237744" cy="237744"/>
          </a:xfrm>
          <a:prstGeom prst="rect">
            <a:avLst/>
          </a:prstGeom>
        </p:spPr>
      </p:pic>
      <p:sp>
        <p:nvSpPr>
          <p:cNvPr id="10" name="Text 7"/>
          <p:cNvSpPr/>
          <p:nvPr/>
        </p:nvSpPr>
        <p:spPr>
          <a:xfrm>
            <a:off x="1426464" y="3063240"/>
            <a:ext cx="4343400" cy="45720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Floating Point Precision</a:t>
            </a:r>
            <a:endParaRPr lang="en-US" sz="1250" dirty="0"/>
          </a:p>
        </p:txBody>
      </p:sp>
      <p:sp>
        <p:nvSpPr>
          <p:cNvPr id="11" name="Text 8"/>
          <p:cNvSpPr/>
          <p:nvPr/>
        </p:nvSpPr>
        <p:spPr>
          <a:xfrm>
            <a:off x="859536" y="3593592"/>
            <a:ext cx="4910328" cy="640080"/>
          </a:xfrm>
          <a:prstGeom prst="rect">
            <a:avLst/>
          </a:prstGeom>
          <a:noFill/>
          <a:ln/>
        </p:spPr>
        <p:txBody>
          <a:bodyPr wrap="square" lIns="0" tIns="0" rIns="0" bIns="0" rtlCol="0" anchor="t"/>
          <a:lstStyle/>
          <a:p>
            <a:pPr marL="0" indent="0">
              <a:lnSpc>
                <a:spcPct val="112000"/>
              </a:lnSpc>
              <a:buNone/>
            </a:pPr>
            <a:r>
              <a:rPr lang="en-US" sz="1000" dirty="0">
                <a:solidFill>
                  <a:srgbClr val="B9C4DA"/>
                </a:solidFill>
                <a:latin typeface="Calibri" pitchFamily="34" charset="0"/>
                <a:ea typeface="Calibri" pitchFamily="34" charset="-122"/>
                <a:cs typeface="Calibri" pitchFamily="34" charset="-120"/>
              </a:rPr>
              <a:t>Compounding math produced values like 1200000.0000000002. Fixed using parseFloat() combined with .toFixed() for clean currency formatting.</a:t>
            </a:r>
            <a:endParaRPr lang="en-US" sz="1000" dirty="0"/>
          </a:p>
        </p:txBody>
      </p:sp>
      <p:sp>
        <p:nvSpPr>
          <p:cNvPr id="12" name="Shape 9"/>
          <p:cNvSpPr/>
          <p:nvPr/>
        </p:nvSpPr>
        <p:spPr>
          <a:xfrm>
            <a:off x="6190488" y="2880360"/>
            <a:ext cx="5349240" cy="1417320"/>
          </a:xfrm>
          <a:prstGeom prst="roundRect">
            <a:avLst>
              <a:gd name="adj" fmla="val 5806"/>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13" name="Shape 10"/>
          <p:cNvSpPr/>
          <p:nvPr/>
        </p:nvSpPr>
        <p:spPr>
          <a:xfrm>
            <a:off x="6409944" y="3081528"/>
            <a:ext cx="438912" cy="438912"/>
          </a:xfrm>
          <a:prstGeom prst="ellipse">
            <a:avLst/>
          </a:prstGeom>
          <a:solidFill>
            <a:srgbClr val="C9922A"/>
          </a:solidFill>
          <a:ln/>
        </p:spPr>
      </p:sp>
      <p:pic>
        <p:nvPicPr>
          <p:cNvPr id="14" name="Image 1" descr="/home/claude/dwdeck/icons/alerttriangle.png"/>
          <p:cNvPicPr>
            <a:picLocks noChangeAspect="1"/>
          </p:cNvPicPr>
          <p:nvPr/>
        </p:nvPicPr>
        <p:blipFill>
          <a:blip r:embed="rId3"/>
          <a:stretch>
            <a:fillRect/>
          </a:stretch>
        </p:blipFill>
        <p:spPr>
          <a:xfrm>
            <a:off x="6510528" y="3182112"/>
            <a:ext cx="237744" cy="237744"/>
          </a:xfrm>
          <a:prstGeom prst="rect">
            <a:avLst/>
          </a:prstGeom>
        </p:spPr>
      </p:pic>
      <p:sp>
        <p:nvSpPr>
          <p:cNvPr id="15" name="Text 11"/>
          <p:cNvSpPr/>
          <p:nvPr/>
        </p:nvSpPr>
        <p:spPr>
          <a:xfrm>
            <a:off x="6976872" y="3063240"/>
            <a:ext cx="4343400" cy="45720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Zero Duration NaN Bug</a:t>
            </a:r>
            <a:endParaRPr lang="en-US" sz="1250" dirty="0"/>
          </a:p>
        </p:txBody>
      </p:sp>
      <p:sp>
        <p:nvSpPr>
          <p:cNvPr id="16" name="Text 12"/>
          <p:cNvSpPr/>
          <p:nvPr/>
        </p:nvSpPr>
        <p:spPr>
          <a:xfrm>
            <a:off x="6409944" y="3593592"/>
            <a:ext cx="4910328" cy="640080"/>
          </a:xfrm>
          <a:prstGeom prst="rect">
            <a:avLst/>
          </a:prstGeom>
          <a:noFill/>
          <a:ln/>
        </p:spPr>
        <p:txBody>
          <a:bodyPr wrap="square" lIns="0" tIns="0" rIns="0" bIns="0" rtlCol="0" anchor="t"/>
          <a:lstStyle/>
          <a:p>
            <a:pPr marL="0" indent="0">
              <a:lnSpc>
                <a:spcPct val="112000"/>
              </a:lnSpc>
              <a:buNone/>
            </a:pPr>
            <a:r>
              <a:rPr lang="en-US" sz="1000" dirty="0">
                <a:solidFill>
                  <a:srgbClr val="B9C4DA"/>
                </a:solidFill>
                <a:latin typeface="Calibri" pitchFamily="34" charset="0"/>
                <a:ea typeface="Calibri" pitchFamily="34" charset="-122"/>
                <a:cs typeface="Calibri" pitchFamily="34" charset="-120"/>
              </a:rPr>
              <a:t>An input duration of 0 produced a NaN output. Identified in review and patched with an input constraint.</a:t>
            </a:r>
            <a:endParaRPr lang="en-US" sz="1000" dirty="0"/>
          </a:p>
        </p:txBody>
      </p:sp>
      <p:sp>
        <p:nvSpPr>
          <p:cNvPr id="17" name="Text 13"/>
          <p:cNvSpPr/>
          <p:nvPr/>
        </p:nvSpPr>
        <p:spPr>
          <a:xfrm>
            <a:off x="640080" y="4526280"/>
            <a:ext cx="5486400" cy="3200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Goal Planning Wizard</a:t>
            </a:r>
            <a:endParaRPr lang="en-US" sz="1450" dirty="0"/>
          </a:p>
        </p:txBody>
      </p:sp>
      <p:sp>
        <p:nvSpPr>
          <p:cNvPr id="18" name="Shape 14"/>
          <p:cNvSpPr/>
          <p:nvPr/>
        </p:nvSpPr>
        <p:spPr>
          <a:xfrm>
            <a:off x="640080" y="4892040"/>
            <a:ext cx="10908792" cy="1005840"/>
          </a:xfrm>
          <a:prstGeom prst="roundRect">
            <a:avLst>
              <a:gd name="adj" fmla="val 8182"/>
            </a:avLst>
          </a:prstGeom>
          <a:solidFill>
            <a:srgbClr val="183052"/>
          </a:solidFill>
          <a:ln w="12700">
            <a:solidFill>
              <a:srgbClr val="2E4A73"/>
            </a:solidFill>
            <a:prstDash val="solid"/>
          </a:ln>
          <a:effectLst>
            <a:outerShdw blurRad="101600" dist="38100" dir="5400000" algn="bl" rotWithShape="0">
              <a:srgbClr val="000000">
                <a:alpha val="25000"/>
              </a:srgbClr>
            </a:outerShdw>
          </a:effectLst>
        </p:spPr>
      </p:sp>
      <p:sp>
        <p:nvSpPr>
          <p:cNvPr id="19" name="Shape 15"/>
          <p:cNvSpPr/>
          <p:nvPr/>
        </p:nvSpPr>
        <p:spPr>
          <a:xfrm>
            <a:off x="914400" y="5120640"/>
            <a:ext cx="502920" cy="502920"/>
          </a:xfrm>
          <a:prstGeom prst="ellipse">
            <a:avLst/>
          </a:prstGeom>
          <a:solidFill>
            <a:srgbClr val="0D2545"/>
          </a:solidFill>
          <a:ln/>
        </p:spPr>
      </p:sp>
      <p:pic>
        <p:nvPicPr>
          <p:cNvPr id="20" name="Image 2" descr="/home/claude/dwdeck/icons/gitbranch.png"/>
          <p:cNvPicPr>
            <a:picLocks noChangeAspect="1"/>
          </p:cNvPicPr>
          <p:nvPr/>
        </p:nvPicPr>
        <p:blipFill>
          <a:blip r:embed="rId4"/>
          <a:stretch>
            <a:fillRect/>
          </a:stretch>
        </p:blipFill>
        <p:spPr>
          <a:xfrm>
            <a:off x="1033272" y="5239512"/>
            <a:ext cx="265176" cy="265176"/>
          </a:xfrm>
          <a:prstGeom prst="rect">
            <a:avLst/>
          </a:prstGeom>
        </p:spPr>
      </p:pic>
      <p:sp>
        <p:nvSpPr>
          <p:cNvPr id="21" name="Text 16"/>
          <p:cNvSpPr/>
          <p:nvPr/>
        </p:nvSpPr>
        <p:spPr>
          <a:xfrm>
            <a:off x="1600200" y="4892040"/>
            <a:ext cx="9692640" cy="1005840"/>
          </a:xfrm>
          <a:prstGeom prst="rect">
            <a:avLst/>
          </a:prstGeom>
          <a:noFill/>
          <a:ln/>
        </p:spPr>
        <p:txBody>
          <a:bodyPr wrap="square" lIns="0" tIns="0" rIns="0" bIns="0" rtlCol="0" anchor="ctr"/>
          <a:lstStyle/>
          <a:p>
            <a:pPr marL="0" indent="0">
              <a:lnSpc>
                <a:spcPct val="120000"/>
              </a:lnSpc>
              <a:buNone/>
            </a:pPr>
            <a:r>
              <a:rPr lang="en-US" sz="1250" dirty="0">
                <a:solidFill>
                  <a:srgbClr val="B9C4DA"/>
                </a:solidFill>
                <a:latin typeface="Calibri" pitchFamily="34" charset="0"/>
                <a:ea typeface="Calibri" pitchFamily="34" charset="-122"/>
                <a:cs typeface="Calibri" pitchFamily="34" charset="-120"/>
              </a:rPr>
              <a:t>A multi step wizard form uses a step history array to preserve every prior input when a user navigates backward. Unit tests cover zero and extreme value edge cases.</a:t>
            </a:r>
            <a:endParaRPr lang="en-US" sz="1250" dirty="0"/>
          </a:p>
        </p:txBody>
      </p:sp>
      <p:sp>
        <p:nvSpPr>
          <p:cNvPr id="22" name="Text 17"/>
          <p:cNvSpPr/>
          <p:nvPr/>
        </p:nvSpPr>
        <p:spPr>
          <a:xfrm>
            <a:off x="640080" y="6528816"/>
            <a:ext cx="5486400" cy="256032"/>
          </a:xfrm>
          <a:prstGeom prst="rect">
            <a:avLst/>
          </a:prstGeom>
          <a:noFill/>
          <a:ln/>
        </p:spPr>
        <p:txBody>
          <a:bodyPr wrap="square" lIns="0" tIns="0" rIns="0" bIns="0" rtlCol="0" anchor="ctr"/>
          <a:lstStyle/>
          <a:p>
            <a:pPr marL="0" indent="0">
              <a:buNone/>
            </a:pPr>
            <a:r>
              <a:rPr lang="en-US" sz="900" dirty="0">
                <a:solidFill>
                  <a:srgbClr val="8695B3"/>
                </a:solidFill>
                <a:latin typeface="Calibri" pitchFamily="34" charset="0"/>
                <a:ea typeface="Calibri" pitchFamily="34" charset="-122"/>
                <a:cs typeface="Calibri" pitchFamily="34" charset="-120"/>
              </a:rPr>
              <a:t>Drishti Wealth Financial Advisory Platform</a:t>
            </a:r>
            <a:endParaRPr lang="en-US" sz="900" dirty="0"/>
          </a:p>
        </p:txBody>
      </p:sp>
      <p:sp>
        <p:nvSpPr>
          <p:cNvPr id="23" name="Shape 18"/>
          <p:cNvSpPr/>
          <p:nvPr/>
        </p:nvSpPr>
        <p:spPr>
          <a:xfrm>
            <a:off x="11292840" y="6583680"/>
            <a:ext cx="54864" cy="54864"/>
          </a:xfrm>
          <a:prstGeom prst="ellipse">
            <a:avLst/>
          </a:prstGeom>
          <a:solidFill>
            <a:srgbClr val="C9922A"/>
          </a:solidFill>
          <a:ln/>
        </p:spPr>
      </p:sp>
      <p:sp>
        <p:nvSpPr>
          <p:cNvPr id="24" name="Text 19"/>
          <p:cNvSpPr/>
          <p:nvPr/>
        </p:nvSpPr>
        <p:spPr>
          <a:xfrm>
            <a:off x="11430000" y="6528816"/>
            <a:ext cx="365760" cy="256032"/>
          </a:xfrm>
          <a:prstGeom prst="rect">
            <a:avLst/>
          </a:prstGeom>
          <a:noFill/>
          <a:ln/>
        </p:spPr>
        <p:txBody>
          <a:bodyPr wrap="square" lIns="0" tIns="0" rIns="0" bIns="0" rtlCol="0" anchor="ctr"/>
          <a:lstStyle/>
          <a:p>
            <a:pPr marL="0" indent="0" algn="r">
              <a:buNone/>
            </a:pPr>
            <a:r>
              <a:rPr lang="en-US" sz="900" dirty="0">
                <a:solidFill>
                  <a:srgbClr val="8695B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2545"/>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marL="0" indent="0">
              <a:buNone/>
            </a:pPr>
            <a:r>
              <a:rPr lang="en-US" sz="1150" b="1" kern="0" spc="200" dirty="0">
                <a:solidFill>
                  <a:srgbClr val="C9922A"/>
                </a:solidFill>
                <a:latin typeface="Calibri" pitchFamily="34" charset="0"/>
                <a:ea typeface="Calibri" pitchFamily="34" charset="-122"/>
                <a:cs typeface="Calibri" pitchFamily="34" charset="-120"/>
              </a:rPr>
              <a:t>CHARTING ENGINE</a:t>
            </a:r>
            <a:endParaRPr lang="en-US" sz="1150" dirty="0"/>
          </a:p>
        </p:txBody>
      </p:sp>
      <p:sp>
        <p:nvSpPr>
          <p:cNvPr id="3" name="Text 1"/>
          <p:cNvSpPr/>
          <p:nvPr/>
        </p:nvSpPr>
        <p:spPr>
          <a:xfrm>
            <a:off x="640080" y="713232"/>
            <a:ext cx="640080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Data Visualization</a:t>
            </a:r>
            <a:endParaRPr lang="en-US" sz="2800" dirty="0"/>
          </a:p>
        </p:txBody>
      </p:sp>
      <p:sp>
        <p:nvSpPr>
          <p:cNvPr id="4" name="Shape 2"/>
          <p:cNvSpPr/>
          <p:nvPr/>
        </p:nvSpPr>
        <p:spPr>
          <a:xfrm>
            <a:off x="7818120" y="658368"/>
            <a:ext cx="3730752" cy="384048"/>
          </a:xfrm>
          <a:prstGeom prst="roundRect">
            <a:avLst>
              <a:gd name="adj" fmla="val 14286"/>
            </a:avLst>
          </a:prstGeom>
          <a:solidFill>
            <a:srgbClr val="0A1D38"/>
          </a:solidFill>
          <a:ln w="12700">
            <a:solidFill>
              <a:srgbClr val="2E4A73"/>
            </a:solidFill>
            <a:prstDash val="solid"/>
          </a:ln>
        </p:spPr>
      </p:sp>
      <p:sp>
        <p:nvSpPr>
          <p:cNvPr id="5" name="Shape 3"/>
          <p:cNvSpPr/>
          <p:nvPr/>
        </p:nvSpPr>
        <p:spPr>
          <a:xfrm>
            <a:off x="7964424" y="800100"/>
            <a:ext cx="100584" cy="100584"/>
          </a:xfrm>
          <a:prstGeom prst="ellipse">
            <a:avLst/>
          </a:prstGeom>
          <a:solidFill>
            <a:srgbClr val="E15B4D"/>
          </a:solidFill>
          <a:ln/>
        </p:spPr>
      </p:sp>
      <p:sp>
        <p:nvSpPr>
          <p:cNvPr id="6" name="Shape 4"/>
          <p:cNvSpPr/>
          <p:nvPr/>
        </p:nvSpPr>
        <p:spPr>
          <a:xfrm>
            <a:off x="8165592" y="800100"/>
            <a:ext cx="100584" cy="100584"/>
          </a:xfrm>
          <a:prstGeom prst="ellipse">
            <a:avLst/>
          </a:prstGeom>
          <a:solidFill>
            <a:srgbClr val="E3B84D"/>
          </a:solidFill>
          <a:ln/>
        </p:spPr>
      </p:sp>
      <p:sp>
        <p:nvSpPr>
          <p:cNvPr id="7" name="Shape 5"/>
          <p:cNvSpPr/>
          <p:nvPr/>
        </p:nvSpPr>
        <p:spPr>
          <a:xfrm>
            <a:off x="8366760" y="800100"/>
            <a:ext cx="100584" cy="100584"/>
          </a:xfrm>
          <a:prstGeom prst="ellipse">
            <a:avLst/>
          </a:prstGeom>
          <a:solidFill>
            <a:srgbClr val="4DA35B"/>
          </a:solidFill>
          <a:ln/>
        </p:spPr>
      </p:sp>
      <p:sp>
        <p:nvSpPr>
          <p:cNvPr id="8" name="Text 6"/>
          <p:cNvSpPr/>
          <p:nvPr/>
        </p:nvSpPr>
        <p:spPr>
          <a:xfrm>
            <a:off x="8595360" y="658368"/>
            <a:ext cx="2816352" cy="384048"/>
          </a:xfrm>
          <a:prstGeom prst="rect">
            <a:avLst/>
          </a:prstGeom>
          <a:noFill/>
          <a:ln/>
        </p:spPr>
        <p:txBody>
          <a:bodyPr wrap="square" lIns="0" tIns="0" rIns="0" bIns="0" rtlCol="0" anchor="ctr"/>
          <a:lstStyle/>
          <a:p>
            <a:pPr marL="0" indent="0">
              <a:buNone/>
            </a:pPr>
            <a:r>
              <a:rPr lang="en-US" sz="1200" dirty="0">
                <a:solidFill>
                  <a:srgbClr val="B9C4DA"/>
                </a:solidFill>
                <a:latin typeface="Consolas" pitchFamily="34" charset="0"/>
                <a:ea typeface="Consolas" pitchFamily="34" charset="-122"/>
                <a:cs typeface="Consolas" pitchFamily="34" charset="-120"/>
              </a:rPr>
              <a:t>drishtiwealth.in/#calculator</a:t>
            </a:r>
            <a:endParaRPr lang="en-US" sz="1200" dirty="0"/>
          </a:p>
        </p:txBody>
      </p:sp>
      <p:sp>
        <p:nvSpPr>
          <p:cNvPr id="9" name="Shape 7"/>
          <p:cNvSpPr/>
          <p:nvPr/>
        </p:nvSpPr>
        <p:spPr>
          <a:xfrm>
            <a:off x="640080" y="1600200"/>
            <a:ext cx="438912" cy="438912"/>
          </a:xfrm>
          <a:prstGeom prst="ellipse">
            <a:avLst/>
          </a:prstGeom>
          <a:solidFill>
            <a:srgbClr val="C9922A"/>
          </a:solidFill>
          <a:ln/>
        </p:spPr>
      </p:sp>
      <p:pic>
        <p:nvPicPr>
          <p:cNvPr id="10" name="Image 0" descr="/home/claude/dwdeck/icons/barchart.png"/>
          <p:cNvPicPr>
            <a:picLocks noChangeAspect="1"/>
          </p:cNvPicPr>
          <p:nvPr/>
        </p:nvPicPr>
        <p:blipFill>
          <a:blip r:embed="rId3"/>
          <a:stretch>
            <a:fillRect/>
          </a:stretch>
        </p:blipFill>
        <p:spPr>
          <a:xfrm>
            <a:off x="740664" y="1700784"/>
            <a:ext cx="237744" cy="237744"/>
          </a:xfrm>
          <a:prstGeom prst="rect">
            <a:avLst/>
          </a:prstGeom>
        </p:spPr>
      </p:pic>
      <p:sp>
        <p:nvSpPr>
          <p:cNvPr id="11" name="Text 8"/>
          <p:cNvSpPr/>
          <p:nvPr/>
        </p:nvSpPr>
        <p:spPr>
          <a:xfrm>
            <a:off x="1234440" y="1554480"/>
            <a:ext cx="50292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Recharts SVG Area Charts</a:t>
            </a:r>
            <a:endParaRPr lang="en-US" sz="1300" dirty="0"/>
          </a:p>
        </p:txBody>
      </p:sp>
      <p:sp>
        <p:nvSpPr>
          <p:cNvPr id="12" name="Text 9"/>
          <p:cNvSpPr/>
          <p:nvPr/>
        </p:nvSpPr>
        <p:spPr>
          <a:xfrm>
            <a:off x="1234440" y="1911096"/>
            <a:ext cx="5029200" cy="548640"/>
          </a:xfrm>
          <a:prstGeom prst="rect">
            <a:avLst/>
          </a:prstGeom>
          <a:noFill/>
          <a:ln/>
        </p:spPr>
        <p:txBody>
          <a:bodyPr wrap="square" lIns="0" tIns="0" rIns="0" bIns="0" rtlCol="0" anchor="t"/>
          <a:lstStyle/>
          <a:p>
            <a:pPr marL="0" indent="0">
              <a:lnSpc>
                <a:spcPct val="112000"/>
              </a:lnSpc>
              <a:buNone/>
            </a:pPr>
            <a:r>
              <a:rPr lang="en-US" sz="1050" dirty="0">
                <a:solidFill>
                  <a:srgbClr val="B9C4DA"/>
                </a:solidFill>
                <a:latin typeface="Calibri" pitchFamily="34" charset="0"/>
                <a:ea typeface="Calibri" pitchFamily="34" charset="-122"/>
                <a:cs typeface="Calibri" pitchFamily="34" charset="-120"/>
              </a:rPr>
              <a:t>Declarative, React native charting with animated transitions between states.</a:t>
            </a:r>
            <a:endParaRPr lang="en-US" sz="1050" dirty="0"/>
          </a:p>
        </p:txBody>
      </p:sp>
      <p:sp>
        <p:nvSpPr>
          <p:cNvPr id="13" name="Shape 10"/>
          <p:cNvSpPr/>
          <p:nvPr/>
        </p:nvSpPr>
        <p:spPr>
          <a:xfrm>
            <a:off x="640080" y="2606040"/>
            <a:ext cx="438912" cy="438912"/>
          </a:xfrm>
          <a:prstGeom prst="ellipse">
            <a:avLst/>
          </a:prstGeom>
          <a:solidFill>
            <a:srgbClr val="C9922A"/>
          </a:solidFill>
          <a:ln/>
        </p:spPr>
      </p:sp>
      <p:pic>
        <p:nvPicPr>
          <p:cNvPr id="14" name="Image 1" descr="/home/claude/dwdeck/icons/activity.png"/>
          <p:cNvPicPr>
            <a:picLocks noChangeAspect="1"/>
          </p:cNvPicPr>
          <p:nvPr/>
        </p:nvPicPr>
        <p:blipFill>
          <a:blip r:embed="rId4"/>
          <a:stretch>
            <a:fillRect/>
          </a:stretch>
        </p:blipFill>
        <p:spPr>
          <a:xfrm>
            <a:off x="740664" y="2706624"/>
            <a:ext cx="237744" cy="237744"/>
          </a:xfrm>
          <a:prstGeom prst="rect">
            <a:avLst/>
          </a:prstGeom>
        </p:spPr>
      </p:pic>
      <p:sp>
        <p:nvSpPr>
          <p:cNvPr id="15" name="Text 11"/>
          <p:cNvSpPr/>
          <p:nvPr/>
        </p:nvSpPr>
        <p:spPr>
          <a:xfrm>
            <a:off x="1234440" y="2560320"/>
            <a:ext cx="50292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Real Time Updates</a:t>
            </a:r>
            <a:endParaRPr lang="en-US" sz="1300" dirty="0"/>
          </a:p>
        </p:txBody>
      </p:sp>
      <p:sp>
        <p:nvSpPr>
          <p:cNvPr id="16" name="Text 12"/>
          <p:cNvSpPr/>
          <p:nvPr/>
        </p:nvSpPr>
        <p:spPr>
          <a:xfrm>
            <a:off x="1234440" y="2916936"/>
            <a:ext cx="5029200" cy="548640"/>
          </a:xfrm>
          <a:prstGeom prst="rect">
            <a:avLst/>
          </a:prstGeom>
          <a:noFill/>
          <a:ln/>
        </p:spPr>
        <p:txBody>
          <a:bodyPr wrap="square" lIns="0" tIns="0" rIns="0" bIns="0" rtlCol="0" anchor="t"/>
          <a:lstStyle/>
          <a:p>
            <a:pPr marL="0" indent="0">
              <a:lnSpc>
                <a:spcPct val="112000"/>
              </a:lnSpc>
              <a:buNone/>
            </a:pPr>
            <a:r>
              <a:rPr lang="en-US" sz="1050" dirty="0">
                <a:solidFill>
                  <a:srgbClr val="B9C4DA"/>
                </a:solidFill>
                <a:latin typeface="Calibri" pitchFamily="34" charset="0"/>
                <a:ea typeface="Calibri" pitchFamily="34" charset="-122"/>
                <a:cs typeface="Calibri" pitchFamily="34" charset="-120"/>
              </a:rPr>
              <a:t>The chart re-renders on every slider change, driven by the same state as the calculator inputs.</a:t>
            </a:r>
            <a:endParaRPr lang="en-US" sz="1050" dirty="0"/>
          </a:p>
        </p:txBody>
      </p:sp>
      <p:sp>
        <p:nvSpPr>
          <p:cNvPr id="17" name="Shape 13"/>
          <p:cNvSpPr/>
          <p:nvPr/>
        </p:nvSpPr>
        <p:spPr>
          <a:xfrm>
            <a:off x="640080" y="3611880"/>
            <a:ext cx="438912" cy="438912"/>
          </a:xfrm>
          <a:prstGeom prst="ellipse">
            <a:avLst/>
          </a:prstGeom>
          <a:solidFill>
            <a:srgbClr val="C9922A"/>
          </a:solidFill>
          <a:ln/>
        </p:spPr>
      </p:sp>
      <p:pic>
        <p:nvPicPr>
          <p:cNvPr id="18" name="Image 2" descr="/home/claude/dwdeck/icons/sliders.png"/>
          <p:cNvPicPr>
            <a:picLocks noChangeAspect="1"/>
          </p:cNvPicPr>
          <p:nvPr/>
        </p:nvPicPr>
        <p:blipFill>
          <a:blip r:embed="rId5"/>
          <a:stretch>
            <a:fillRect/>
          </a:stretch>
        </p:blipFill>
        <p:spPr>
          <a:xfrm>
            <a:off x="740664" y="3712464"/>
            <a:ext cx="237744" cy="237744"/>
          </a:xfrm>
          <a:prstGeom prst="rect">
            <a:avLst/>
          </a:prstGeom>
        </p:spPr>
      </p:pic>
      <p:sp>
        <p:nvSpPr>
          <p:cNvPr id="19" name="Text 14"/>
          <p:cNvSpPr/>
          <p:nvPr/>
        </p:nvSpPr>
        <p:spPr>
          <a:xfrm>
            <a:off x="1234440" y="3566160"/>
            <a:ext cx="50292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Inflation Adjustment Toggle</a:t>
            </a:r>
            <a:endParaRPr lang="en-US" sz="1300" dirty="0"/>
          </a:p>
        </p:txBody>
      </p:sp>
      <p:sp>
        <p:nvSpPr>
          <p:cNvPr id="20" name="Text 15"/>
          <p:cNvSpPr/>
          <p:nvPr/>
        </p:nvSpPr>
        <p:spPr>
          <a:xfrm>
            <a:off x="1234440" y="3922776"/>
            <a:ext cx="5029200" cy="548640"/>
          </a:xfrm>
          <a:prstGeom prst="rect">
            <a:avLst/>
          </a:prstGeom>
          <a:noFill/>
          <a:ln/>
        </p:spPr>
        <p:txBody>
          <a:bodyPr wrap="square" lIns="0" tIns="0" rIns="0" bIns="0" rtlCol="0" anchor="t"/>
          <a:lstStyle/>
          <a:p>
            <a:pPr marL="0" indent="0">
              <a:lnSpc>
                <a:spcPct val="112000"/>
              </a:lnSpc>
              <a:buNone/>
            </a:pPr>
            <a:r>
              <a:rPr lang="en-US" sz="1050" dirty="0">
                <a:solidFill>
                  <a:srgbClr val="B9C4DA"/>
                </a:solidFill>
                <a:latin typeface="Calibri" pitchFamily="34" charset="0"/>
                <a:ea typeface="Calibri" pitchFamily="34" charset="-122"/>
                <a:cs typeface="Calibri" pitchFamily="34" charset="-120"/>
              </a:rPr>
              <a:t>A single control that recalculates the entire projection with inflation adjusted returns.</a:t>
            </a:r>
            <a:endParaRPr lang="en-US" sz="1050" dirty="0"/>
          </a:p>
        </p:txBody>
      </p:sp>
      <p:sp>
        <p:nvSpPr>
          <p:cNvPr id="21" name="Shape 16"/>
          <p:cNvSpPr/>
          <p:nvPr/>
        </p:nvSpPr>
        <p:spPr>
          <a:xfrm>
            <a:off x="640080" y="4617720"/>
            <a:ext cx="438912" cy="438912"/>
          </a:xfrm>
          <a:prstGeom prst="ellipse">
            <a:avLst/>
          </a:prstGeom>
          <a:solidFill>
            <a:srgbClr val="C9922A"/>
          </a:solidFill>
          <a:ln/>
        </p:spPr>
      </p:sp>
      <p:pic>
        <p:nvPicPr>
          <p:cNvPr id="22" name="Image 3" descr="/home/claude/dwdeck/icons/helpcircle.png"/>
          <p:cNvPicPr>
            <a:picLocks noChangeAspect="1"/>
          </p:cNvPicPr>
          <p:nvPr/>
        </p:nvPicPr>
        <p:blipFill>
          <a:blip r:embed="rId6"/>
          <a:stretch>
            <a:fillRect/>
          </a:stretch>
        </p:blipFill>
        <p:spPr>
          <a:xfrm>
            <a:off x="740664" y="4718304"/>
            <a:ext cx="237744" cy="237744"/>
          </a:xfrm>
          <a:prstGeom prst="rect">
            <a:avLst/>
          </a:prstGeom>
        </p:spPr>
      </p:pic>
      <p:sp>
        <p:nvSpPr>
          <p:cNvPr id="23" name="Text 17"/>
          <p:cNvSpPr/>
          <p:nvPr/>
        </p:nvSpPr>
        <p:spPr>
          <a:xfrm>
            <a:off x="1234440" y="4572000"/>
            <a:ext cx="50292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Tooltips and Interactivity</a:t>
            </a:r>
            <a:endParaRPr lang="en-US" sz="1300" dirty="0"/>
          </a:p>
        </p:txBody>
      </p:sp>
      <p:sp>
        <p:nvSpPr>
          <p:cNvPr id="24" name="Text 18"/>
          <p:cNvSpPr/>
          <p:nvPr/>
        </p:nvSpPr>
        <p:spPr>
          <a:xfrm>
            <a:off x="1234440" y="4928616"/>
            <a:ext cx="5029200" cy="548640"/>
          </a:xfrm>
          <a:prstGeom prst="rect">
            <a:avLst/>
          </a:prstGeom>
          <a:noFill/>
          <a:ln/>
        </p:spPr>
        <p:txBody>
          <a:bodyPr wrap="square" lIns="0" tIns="0" rIns="0" bIns="0" rtlCol="0" anchor="t"/>
          <a:lstStyle/>
          <a:p>
            <a:pPr marL="0" indent="0">
              <a:lnSpc>
                <a:spcPct val="112000"/>
              </a:lnSpc>
              <a:buNone/>
            </a:pPr>
            <a:r>
              <a:rPr lang="en-US" sz="1050" dirty="0">
                <a:solidFill>
                  <a:srgbClr val="B9C4DA"/>
                </a:solidFill>
                <a:latin typeface="Calibri" pitchFamily="34" charset="0"/>
                <a:ea typeface="Calibri" pitchFamily="34" charset="-122"/>
                <a:cs typeface="Calibri" pitchFamily="34" charset="-120"/>
              </a:rPr>
              <a:t>Hoverable data points expose exact year by year figures without cluttering the base chart.</a:t>
            </a:r>
            <a:endParaRPr lang="en-US" sz="1050" dirty="0"/>
          </a:p>
        </p:txBody>
      </p:sp>
      <p:sp>
        <p:nvSpPr>
          <p:cNvPr id="25" name="Shape 19"/>
          <p:cNvSpPr/>
          <p:nvPr/>
        </p:nvSpPr>
        <p:spPr>
          <a:xfrm>
            <a:off x="6309360" y="1600200"/>
            <a:ext cx="5239512" cy="4480560"/>
          </a:xfrm>
          <a:prstGeom prst="roundRect">
            <a:avLst>
              <a:gd name="adj" fmla="val 1837"/>
            </a:avLst>
          </a:prstGeom>
          <a:solidFill>
            <a:srgbClr val="183052"/>
          </a:solidFill>
          <a:ln w="12700">
            <a:solidFill>
              <a:srgbClr val="2E4A73"/>
            </a:solidFill>
            <a:prstDash val="solid"/>
          </a:ln>
          <a:effectLst>
            <a:outerShdw blurRad="101600" dist="38100" dir="5400000" algn="bl" rotWithShape="0">
              <a:srgbClr val="000000">
                <a:alpha val="25000"/>
              </a:srgbClr>
            </a:outerShdw>
          </a:effectLst>
        </p:spPr>
      </p:sp>
      <p:sp>
        <p:nvSpPr>
          <p:cNvPr id="26" name="Text 20"/>
          <p:cNvSpPr/>
          <p:nvPr/>
        </p:nvSpPr>
        <p:spPr>
          <a:xfrm>
            <a:off x="6537960" y="1755648"/>
            <a:ext cx="4846320" cy="320040"/>
          </a:xfrm>
          <a:prstGeom prst="rect">
            <a:avLst/>
          </a:prstGeom>
          <a:noFill/>
          <a:ln/>
        </p:spPr>
        <p:txBody>
          <a:bodyPr wrap="square" lIns="0" tIns="0" rIns="0" bIns="0" rtlCol="0" anchor="ctr"/>
          <a:lstStyle/>
          <a:p>
            <a:pPr marL="0" indent="0">
              <a:buNone/>
            </a:pPr>
            <a:r>
              <a:rPr lang="en-US" sz="1100" b="1" dirty="0">
                <a:solidFill>
                  <a:srgbClr val="B9C4DA"/>
                </a:solidFill>
                <a:latin typeface="Calibri" pitchFamily="34" charset="0"/>
                <a:ea typeface="Calibri" pitchFamily="34" charset="-122"/>
                <a:cs typeface="Calibri" pitchFamily="34" charset="-120"/>
              </a:rPr>
              <a:t>Invested vs. Wealth Growth (Illustrative)</a:t>
            </a:r>
            <a:endParaRPr lang="en-US" sz="1100" dirty="0"/>
          </a:p>
        </p:txBody>
      </p:sp>
      <p:graphicFrame>
        <p:nvGraphicFramePr>
          <p:cNvPr id="27" name="Chart 0"/>
          <p:cNvGraphicFramePr/>
          <p:nvPr/>
        </p:nvGraphicFramePr>
        <p:xfrm>
          <a:off x="6446520" y="2103120"/>
          <a:ext cx="4983480" cy="3794760"/>
        </p:xfrm>
        <a:graphic>
          <a:graphicData uri="http://schemas.openxmlformats.org/drawingml/2006/chart">
            <c:chart xmlns:c="http://schemas.openxmlformats.org/drawingml/2006/chart" xmlns:r="http://schemas.openxmlformats.org/officeDocument/2006/relationships" r:id="rId7"/>
          </a:graphicData>
        </a:graphic>
      </p:graphicFrame>
      <p:sp>
        <p:nvSpPr>
          <p:cNvPr id="28" name="Text 21"/>
          <p:cNvSpPr/>
          <p:nvPr/>
        </p:nvSpPr>
        <p:spPr>
          <a:xfrm>
            <a:off x="640080" y="6528816"/>
            <a:ext cx="5486400" cy="256032"/>
          </a:xfrm>
          <a:prstGeom prst="rect">
            <a:avLst/>
          </a:prstGeom>
          <a:noFill/>
          <a:ln/>
        </p:spPr>
        <p:txBody>
          <a:bodyPr wrap="square" lIns="0" tIns="0" rIns="0" bIns="0" rtlCol="0" anchor="ctr"/>
          <a:lstStyle/>
          <a:p>
            <a:pPr marL="0" indent="0">
              <a:buNone/>
            </a:pPr>
            <a:r>
              <a:rPr lang="en-US" sz="900" dirty="0">
                <a:solidFill>
                  <a:srgbClr val="8695B3"/>
                </a:solidFill>
                <a:latin typeface="Calibri" pitchFamily="34" charset="0"/>
                <a:ea typeface="Calibri" pitchFamily="34" charset="-122"/>
                <a:cs typeface="Calibri" pitchFamily="34" charset="-120"/>
              </a:rPr>
              <a:t>Drishti Wealth Financial Advisory Platform</a:t>
            </a:r>
            <a:endParaRPr lang="en-US" sz="900" dirty="0"/>
          </a:p>
        </p:txBody>
      </p:sp>
      <p:sp>
        <p:nvSpPr>
          <p:cNvPr id="29" name="Shape 22"/>
          <p:cNvSpPr/>
          <p:nvPr/>
        </p:nvSpPr>
        <p:spPr>
          <a:xfrm>
            <a:off x="11292840" y="6583680"/>
            <a:ext cx="54864" cy="54864"/>
          </a:xfrm>
          <a:prstGeom prst="ellipse">
            <a:avLst/>
          </a:prstGeom>
          <a:solidFill>
            <a:srgbClr val="C9922A"/>
          </a:solidFill>
          <a:ln/>
        </p:spPr>
      </p:sp>
      <p:sp>
        <p:nvSpPr>
          <p:cNvPr id="30" name="Text 23"/>
          <p:cNvSpPr/>
          <p:nvPr/>
        </p:nvSpPr>
        <p:spPr>
          <a:xfrm>
            <a:off x="11430000" y="6528816"/>
            <a:ext cx="365760" cy="256032"/>
          </a:xfrm>
          <a:prstGeom prst="rect">
            <a:avLst/>
          </a:prstGeom>
          <a:noFill/>
          <a:ln/>
        </p:spPr>
        <p:txBody>
          <a:bodyPr wrap="square" lIns="0" tIns="0" rIns="0" bIns="0" rtlCol="0" anchor="ctr"/>
          <a:lstStyle/>
          <a:p>
            <a:pPr marL="0" indent="0" algn="r">
              <a:buNone/>
            </a:pPr>
            <a:r>
              <a:rPr lang="en-US" sz="900" dirty="0">
                <a:solidFill>
                  <a:srgbClr val="8695B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2545"/>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marL="0" indent="0">
              <a:buNone/>
            </a:pPr>
            <a:r>
              <a:rPr lang="en-US" sz="1150" b="1" kern="0" spc="200" dirty="0">
                <a:solidFill>
                  <a:srgbClr val="C9922A"/>
                </a:solidFill>
                <a:latin typeface="Calibri" pitchFamily="34" charset="0"/>
                <a:ea typeface="Calibri" pitchFamily="34" charset="-122"/>
                <a:cs typeface="Calibri" pitchFamily="34" charset="-120"/>
              </a:rPr>
              <a:t>DATA ENGINEERING</a:t>
            </a:r>
            <a:endParaRPr lang="en-US" sz="1150" dirty="0"/>
          </a:p>
        </p:txBody>
      </p:sp>
      <p:sp>
        <p:nvSpPr>
          <p:cNvPr id="3" name="Text 1"/>
          <p:cNvSpPr/>
          <p:nvPr/>
        </p:nvSpPr>
        <p:spPr>
          <a:xfrm>
            <a:off x="640080" y="713232"/>
            <a:ext cx="996696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Search and Data Handling</a:t>
            </a:r>
            <a:endParaRPr lang="en-US" sz="2800" dirty="0"/>
          </a:p>
        </p:txBody>
      </p:sp>
      <p:sp>
        <p:nvSpPr>
          <p:cNvPr id="4" name="Shape 2"/>
          <p:cNvSpPr/>
          <p:nvPr/>
        </p:nvSpPr>
        <p:spPr>
          <a:xfrm>
            <a:off x="640080" y="1508760"/>
            <a:ext cx="5349240" cy="1600200"/>
          </a:xfrm>
          <a:prstGeom prst="roundRect">
            <a:avLst>
              <a:gd name="adj" fmla="val 5143"/>
            </a:avLst>
          </a:prstGeom>
          <a:solidFill>
            <a:srgbClr val="183052"/>
          </a:solidFill>
          <a:ln w="12700">
            <a:solidFill>
              <a:srgbClr val="2E4A73"/>
            </a:solidFill>
            <a:prstDash val="solid"/>
          </a:ln>
          <a:effectLst>
            <a:outerShdw blurRad="101600" dist="38100" dir="5400000" algn="bl" rotWithShape="0">
              <a:srgbClr val="000000">
                <a:alpha val="25000"/>
              </a:srgbClr>
            </a:outerShdw>
          </a:effectLst>
        </p:spPr>
      </p:sp>
      <p:sp>
        <p:nvSpPr>
          <p:cNvPr id="5" name="Shape 3"/>
          <p:cNvSpPr/>
          <p:nvPr/>
        </p:nvSpPr>
        <p:spPr>
          <a:xfrm>
            <a:off x="859536" y="1728216"/>
            <a:ext cx="457200" cy="457200"/>
          </a:xfrm>
          <a:prstGeom prst="ellipse">
            <a:avLst/>
          </a:prstGeom>
          <a:solidFill>
            <a:srgbClr val="C9922A"/>
          </a:solidFill>
          <a:ln/>
        </p:spPr>
      </p:sp>
      <p:pic>
        <p:nvPicPr>
          <p:cNvPr id="6" name="Image 0" descr="/home/claude/dwdeck/icons/mappin.png"/>
          <p:cNvPicPr>
            <a:picLocks noChangeAspect="1"/>
          </p:cNvPicPr>
          <p:nvPr/>
        </p:nvPicPr>
        <p:blipFill>
          <a:blip r:embed="rId3"/>
          <a:stretch>
            <a:fillRect/>
          </a:stretch>
        </p:blipFill>
        <p:spPr>
          <a:xfrm>
            <a:off x="969264" y="1837944"/>
            <a:ext cx="237744" cy="237744"/>
          </a:xfrm>
          <a:prstGeom prst="rect">
            <a:avLst/>
          </a:prstGeom>
        </p:spPr>
      </p:pic>
      <p:sp>
        <p:nvSpPr>
          <p:cNvPr id="7" name="Text 4"/>
          <p:cNvSpPr/>
          <p:nvPr/>
        </p:nvSpPr>
        <p:spPr>
          <a:xfrm>
            <a:off x="1481328" y="1709928"/>
            <a:ext cx="4297680" cy="45720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190+ Country Dataset</a:t>
            </a:r>
            <a:endParaRPr lang="en-US" sz="1250" dirty="0"/>
          </a:p>
        </p:txBody>
      </p:sp>
      <p:sp>
        <p:nvSpPr>
          <p:cNvPr id="8" name="Text 5"/>
          <p:cNvSpPr/>
          <p:nvPr/>
        </p:nvSpPr>
        <p:spPr>
          <a:xfrm>
            <a:off x="859536" y="2258568"/>
            <a:ext cx="4910328" cy="777240"/>
          </a:xfrm>
          <a:prstGeom prst="rect">
            <a:avLst/>
          </a:prstGeom>
          <a:noFill/>
          <a:ln/>
        </p:spPr>
        <p:txBody>
          <a:bodyPr wrap="square" lIns="0" tIns="0" rIns="0" bIns="0" rtlCol="0" anchor="t"/>
          <a:lstStyle/>
          <a:p>
            <a:pPr marL="0" indent="0">
              <a:lnSpc>
                <a:spcPct val="112000"/>
              </a:lnSpc>
              <a:buNone/>
            </a:pPr>
            <a:r>
              <a:rPr lang="en-US" sz="1000" dirty="0">
                <a:solidFill>
                  <a:srgbClr val="B9C4DA"/>
                </a:solidFill>
                <a:latin typeface="Calibri" pitchFamily="34" charset="0"/>
                <a:ea typeface="Calibri" pitchFamily="34" charset="-122"/>
                <a:cs typeface="Calibri" pitchFamily="34" charset="-120"/>
              </a:rPr>
              <a:t>Autocomplete selector mapping international dial codes from countries.js for the NRI advisory forms.</a:t>
            </a:r>
            <a:endParaRPr lang="en-US" sz="1000" dirty="0"/>
          </a:p>
        </p:txBody>
      </p:sp>
      <p:sp>
        <p:nvSpPr>
          <p:cNvPr id="9" name="Shape 6"/>
          <p:cNvSpPr/>
          <p:nvPr/>
        </p:nvSpPr>
        <p:spPr>
          <a:xfrm>
            <a:off x="6199632" y="1508760"/>
            <a:ext cx="5349240" cy="1600200"/>
          </a:xfrm>
          <a:prstGeom prst="roundRect">
            <a:avLst>
              <a:gd name="adj" fmla="val 5143"/>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10" name="Shape 7"/>
          <p:cNvSpPr/>
          <p:nvPr/>
        </p:nvSpPr>
        <p:spPr>
          <a:xfrm>
            <a:off x="6419088" y="1728216"/>
            <a:ext cx="457200" cy="457200"/>
          </a:xfrm>
          <a:prstGeom prst="ellipse">
            <a:avLst/>
          </a:prstGeom>
          <a:solidFill>
            <a:srgbClr val="C9922A"/>
          </a:solidFill>
          <a:ln/>
        </p:spPr>
      </p:sp>
      <p:pic>
        <p:nvPicPr>
          <p:cNvPr id="11" name="Image 1" descr="/home/claude/dwdeck/icons/filter.png"/>
          <p:cNvPicPr>
            <a:picLocks noChangeAspect="1"/>
          </p:cNvPicPr>
          <p:nvPr/>
        </p:nvPicPr>
        <p:blipFill>
          <a:blip r:embed="rId4"/>
          <a:stretch>
            <a:fillRect/>
          </a:stretch>
        </p:blipFill>
        <p:spPr>
          <a:xfrm>
            <a:off x="6528816" y="1837944"/>
            <a:ext cx="237744" cy="237744"/>
          </a:xfrm>
          <a:prstGeom prst="rect">
            <a:avLst/>
          </a:prstGeom>
        </p:spPr>
      </p:pic>
      <p:sp>
        <p:nvSpPr>
          <p:cNvPr id="12" name="Text 8"/>
          <p:cNvSpPr/>
          <p:nvPr/>
        </p:nvSpPr>
        <p:spPr>
          <a:xfrm>
            <a:off x="7040880" y="1709928"/>
            <a:ext cx="4297680" cy="45720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Multi Parameter Filtering</a:t>
            </a:r>
            <a:endParaRPr lang="en-US" sz="1250" dirty="0"/>
          </a:p>
        </p:txBody>
      </p:sp>
      <p:sp>
        <p:nvSpPr>
          <p:cNvPr id="13" name="Text 9"/>
          <p:cNvSpPr/>
          <p:nvPr/>
        </p:nvSpPr>
        <p:spPr>
          <a:xfrm>
            <a:off x="6419088" y="2258568"/>
            <a:ext cx="4910328" cy="777240"/>
          </a:xfrm>
          <a:prstGeom prst="rect">
            <a:avLst/>
          </a:prstGeom>
          <a:noFill/>
          <a:ln/>
        </p:spPr>
        <p:txBody>
          <a:bodyPr wrap="square" lIns="0" tIns="0" rIns="0" bIns="0" rtlCol="0" anchor="t"/>
          <a:lstStyle/>
          <a:p>
            <a:pPr marL="0" indent="0">
              <a:lnSpc>
                <a:spcPct val="112000"/>
              </a:lnSpc>
              <a:buNone/>
            </a:pPr>
            <a:r>
              <a:rPr lang="en-US" sz="1000" dirty="0">
                <a:solidFill>
                  <a:srgbClr val="B9C4DA"/>
                </a:solidFill>
                <a:latin typeface="Calibri" pitchFamily="34" charset="0"/>
                <a:ea typeface="Calibri" pitchFamily="34" charset="-122"/>
                <a:cs typeface="Calibri" pitchFamily="34" charset="-120"/>
              </a:rPr>
              <a:t>The Admin Dashboard supports client side search combined with status and service type filters simultaneously.</a:t>
            </a:r>
            <a:endParaRPr lang="en-US" sz="1000" dirty="0"/>
          </a:p>
        </p:txBody>
      </p:sp>
      <p:sp>
        <p:nvSpPr>
          <p:cNvPr id="14" name="Shape 10"/>
          <p:cNvSpPr/>
          <p:nvPr/>
        </p:nvSpPr>
        <p:spPr>
          <a:xfrm>
            <a:off x="640080" y="3291840"/>
            <a:ext cx="5349240" cy="1600200"/>
          </a:xfrm>
          <a:prstGeom prst="roundRect">
            <a:avLst>
              <a:gd name="adj" fmla="val 5143"/>
            </a:avLst>
          </a:prstGeom>
          <a:solidFill>
            <a:srgbClr val="183052"/>
          </a:solidFill>
          <a:ln w="12700">
            <a:solidFill>
              <a:srgbClr val="2E4A73"/>
            </a:solidFill>
            <a:prstDash val="solid"/>
          </a:ln>
          <a:effectLst>
            <a:outerShdw blurRad="101600" dist="38100" dir="5400000" algn="bl" rotWithShape="0">
              <a:srgbClr val="000000">
                <a:alpha val="25000"/>
              </a:srgbClr>
            </a:outerShdw>
          </a:effectLst>
        </p:spPr>
      </p:sp>
      <p:sp>
        <p:nvSpPr>
          <p:cNvPr id="15" name="Shape 11"/>
          <p:cNvSpPr/>
          <p:nvPr/>
        </p:nvSpPr>
        <p:spPr>
          <a:xfrm>
            <a:off x="859536" y="3511296"/>
            <a:ext cx="457200" cy="457200"/>
          </a:xfrm>
          <a:prstGeom prst="ellipse">
            <a:avLst/>
          </a:prstGeom>
          <a:solidFill>
            <a:srgbClr val="C9922A"/>
          </a:solidFill>
          <a:ln/>
        </p:spPr>
      </p:sp>
      <p:pic>
        <p:nvPicPr>
          <p:cNvPr id="16" name="Image 2" descr="/home/claude/dwdeck/icons/refreshcw.png"/>
          <p:cNvPicPr>
            <a:picLocks noChangeAspect="1"/>
          </p:cNvPicPr>
          <p:nvPr/>
        </p:nvPicPr>
        <p:blipFill>
          <a:blip r:embed="rId5"/>
          <a:stretch>
            <a:fillRect/>
          </a:stretch>
        </p:blipFill>
        <p:spPr>
          <a:xfrm>
            <a:off x="969264" y="3621024"/>
            <a:ext cx="237744" cy="237744"/>
          </a:xfrm>
          <a:prstGeom prst="rect">
            <a:avLst/>
          </a:prstGeom>
        </p:spPr>
      </p:pic>
      <p:sp>
        <p:nvSpPr>
          <p:cNvPr id="17" name="Text 12"/>
          <p:cNvSpPr/>
          <p:nvPr/>
        </p:nvSpPr>
        <p:spPr>
          <a:xfrm>
            <a:off x="1481328" y="3493008"/>
            <a:ext cx="4297680" cy="45720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Persistent Filter State</a:t>
            </a:r>
            <a:endParaRPr lang="en-US" sz="1250" dirty="0"/>
          </a:p>
        </p:txBody>
      </p:sp>
      <p:sp>
        <p:nvSpPr>
          <p:cNvPr id="18" name="Text 13"/>
          <p:cNvSpPr/>
          <p:nvPr/>
        </p:nvSpPr>
        <p:spPr>
          <a:xfrm>
            <a:off x="859536" y="4041648"/>
            <a:ext cx="4910328" cy="777240"/>
          </a:xfrm>
          <a:prstGeom prst="rect">
            <a:avLst/>
          </a:prstGeom>
          <a:noFill/>
          <a:ln/>
        </p:spPr>
        <p:txBody>
          <a:bodyPr wrap="square" lIns="0" tIns="0" rIns="0" bIns="0" rtlCol="0" anchor="t"/>
          <a:lstStyle/>
          <a:p>
            <a:pPr marL="0" indent="0">
              <a:lnSpc>
                <a:spcPct val="112000"/>
              </a:lnSpc>
              <a:buNone/>
            </a:pPr>
            <a:r>
              <a:rPr lang="en-US" sz="1000" dirty="0">
                <a:solidFill>
                  <a:srgbClr val="B9C4DA"/>
                </a:solidFill>
                <a:latin typeface="Calibri" pitchFamily="34" charset="0"/>
                <a:ea typeface="Calibri" pitchFamily="34" charset="-122"/>
                <a:cs typeface="Calibri" pitchFamily="34" charset="-120"/>
              </a:rPr>
              <a:t>A specific requirement: refreshing the lead data must not clear the active search or filters, solved through careful state synchronization.</a:t>
            </a:r>
            <a:endParaRPr lang="en-US" sz="1000" dirty="0"/>
          </a:p>
        </p:txBody>
      </p:sp>
      <p:sp>
        <p:nvSpPr>
          <p:cNvPr id="19" name="Shape 14"/>
          <p:cNvSpPr/>
          <p:nvPr/>
        </p:nvSpPr>
        <p:spPr>
          <a:xfrm>
            <a:off x="6199632" y="3291840"/>
            <a:ext cx="5349240" cy="1600200"/>
          </a:xfrm>
          <a:prstGeom prst="roundRect">
            <a:avLst>
              <a:gd name="adj" fmla="val 5143"/>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20" name="Shape 15"/>
          <p:cNvSpPr/>
          <p:nvPr/>
        </p:nvSpPr>
        <p:spPr>
          <a:xfrm>
            <a:off x="6419088" y="3511296"/>
            <a:ext cx="457200" cy="457200"/>
          </a:xfrm>
          <a:prstGeom prst="ellipse">
            <a:avLst/>
          </a:prstGeom>
          <a:solidFill>
            <a:srgbClr val="C9922A"/>
          </a:solidFill>
          <a:ln/>
        </p:spPr>
      </p:sp>
      <p:pic>
        <p:nvPicPr>
          <p:cNvPr id="21" name="Image 3" descr="/home/claude/dwdeck/icons/clock.png"/>
          <p:cNvPicPr>
            <a:picLocks noChangeAspect="1"/>
          </p:cNvPicPr>
          <p:nvPr/>
        </p:nvPicPr>
        <p:blipFill>
          <a:blip r:embed="rId6"/>
          <a:stretch>
            <a:fillRect/>
          </a:stretch>
        </p:blipFill>
        <p:spPr>
          <a:xfrm>
            <a:off x="6528816" y="3621024"/>
            <a:ext cx="237744" cy="237744"/>
          </a:xfrm>
          <a:prstGeom prst="rect">
            <a:avLst/>
          </a:prstGeom>
        </p:spPr>
      </p:pic>
      <p:sp>
        <p:nvSpPr>
          <p:cNvPr id="22" name="Text 16"/>
          <p:cNvSpPr/>
          <p:nvPr/>
        </p:nvSpPr>
        <p:spPr>
          <a:xfrm>
            <a:off x="7040880" y="3493008"/>
            <a:ext cx="4297680" cy="45720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Server Side Pagination</a:t>
            </a:r>
            <a:endParaRPr lang="en-US" sz="1250" dirty="0"/>
          </a:p>
        </p:txBody>
      </p:sp>
      <p:sp>
        <p:nvSpPr>
          <p:cNvPr id="23" name="Text 17"/>
          <p:cNvSpPr/>
          <p:nvPr/>
        </p:nvSpPr>
        <p:spPr>
          <a:xfrm>
            <a:off x="6419088" y="4041648"/>
            <a:ext cx="4910328" cy="777240"/>
          </a:xfrm>
          <a:prstGeom prst="rect">
            <a:avLst/>
          </a:prstGeom>
          <a:noFill/>
          <a:ln/>
        </p:spPr>
        <p:txBody>
          <a:bodyPr wrap="square" lIns="0" tIns="0" rIns="0" bIns="0" rtlCol="0" anchor="t"/>
          <a:lstStyle/>
          <a:p>
            <a:pPr marL="0" indent="0">
              <a:lnSpc>
                <a:spcPct val="112000"/>
              </a:lnSpc>
              <a:buNone/>
            </a:pPr>
            <a:r>
              <a:rPr lang="en-US" sz="1000" dirty="0">
                <a:solidFill>
                  <a:srgbClr val="B9C4DA"/>
                </a:solidFill>
                <a:latin typeface="Calibri" pitchFamily="34" charset="0"/>
                <a:ea typeface="Calibri" pitchFamily="34" charset="-122"/>
                <a:cs typeface="Calibri" pitchFamily="34" charset="-120"/>
              </a:rPr>
              <a:t>Only the required range of records is fetched per page, keeping the dashboard fast as lead volume grows.</a:t>
            </a:r>
            <a:endParaRPr lang="en-US" sz="1000" dirty="0"/>
          </a:p>
        </p:txBody>
      </p:sp>
      <p:sp>
        <p:nvSpPr>
          <p:cNvPr id="24" name="Text 18"/>
          <p:cNvSpPr/>
          <p:nvPr/>
        </p:nvSpPr>
        <p:spPr>
          <a:xfrm>
            <a:off x="640080" y="6528816"/>
            <a:ext cx="5486400" cy="256032"/>
          </a:xfrm>
          <a:prstGeom prst="rect">
            <a:avLst/>
          </a:prstGeom>
          <a:noFill/>
          <a:ln/>
        </p:spPr>
        <p:txBody>
          <a:bodyPr wrap="square" lIns="0" tIns="0" rIns="0" bIns="0" rtlCol="0" anchor="ctr"/>
          <a:lstStyle/>
          <a:p>
            <a:pPr marL="0" indent="0">
              <a:buNone/>
            </a:pPr>
            <a:r>
              <a:rPr lang="en-US" sz="900" dirty="0">
                <a:solidFill>
                  <a:srgbClr val="8695B3"/>
                </a:solidFill>
                <a:latin typeface="Calibri" pitchFamily="34" charset="0"/>
                <a:ea typeface="Calibri" pitchFamily="34" charset="-122"/>
                <a:cs typeface="Calibri" pitchFamily="34" charset="-120"/>
              </a:rPr>
              <a:t>Drishti Wealth Financial Advisory Platform</a:t>
            </a:r>
            <a:endParaRPr lang="en-US" sz="900" dirty="0"/>
          </a:p>
        </p:txBody>
      </p:sp>
      <p:sp>
        <p:nvSpPr>
          <p:cNvPr id="25" name="Shape 19"/>
          <p:cNvSpPr/>
          <p:nvPr/>
        </p:nvSpPr>
        <p:spPr>
          <a:xfrm>
            <a:off x="11292840" y="6583680"/>
            <a:ext cx="54864" cy="54864"/>
          </a:xfrm>
          <a:prstGeom prst="ellipse">
            <a:avLst/>
          </a:prstGeom>
          <a:solidFill>
            <a:srgbClr val="C9922A"/>
          </a:solidFill>
          <a:ln/>
        </p:spPr>
      </p:sp>
      <p:sp>
        <p:nvSpPr>
          <p:cNvPr id="26" name="Text 20"/>
          <p:cNvSpPr/>
          <p:nvPr/>
        </p:nvSpPr>
        <p:spPr>
          <a:xfrm>
            <a:off x="11430000" y="6528816"/>
            <a:ext cx="365760" cy="256032"/>
          </a:xfrm>
          <a:prstGeom prst="rect">
            <a:avLst/>
          </a:prstGeom>
          <a:noFill/>
          <a:ln/>
        </p:spPr>
        <p:txBody>
          <a:bodyPr wrap="square" lIns="0" tIns="0" rIns="0" bIns="0" rtlCol="0" anchor="ctr"/>
          <a:lstStyle/>
          <a:p>
            <a:pPr marL="0" indent="0" algn="r">
              <a:buNone/>
            </a:pPr>
            <a:r>
              <a:rPr lang="en-US" sz="900" dirty="0">
                <a:solidFill>
                  <a:srgbClr val="8695B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2545"/>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marL="0" indent="0">
              <a:buNone/>
            </a:pPr>
            <a:r>
              <a:rPr lang="en-US" sz="1150" b="1" kern="0" spc="200" dirty="0">
                <a:solidFill>
                  <a:srgbClr val="C9922A"/>
                </a:solidFill>
                <a:latin typeface="Calibri" pitchFamily="34" charset="0"/>
                <a:ea typeface="Calibri" pitchFamily="34" charset="-122"/>
                <a:cs typeface="Calibri" pitchFamily="34" charset="-120"/>
              </a:rPr>
              <a:t>IMMERSIVE ENGINEERING</a:t>
            </a:r>
            <a:endParaRPr lang="en-US" sz="1150" dirty="0"/>
          </a:p>
        </p:txBody>
      </p:sp>
      <p:sp>
        <p:nvSpPr>
          <p:cNvPr id="3" name="Text 1"/>
          <p:cNvSpPr/>
          <p:nvPr/>
        </p:nvSpPr>
        <p:spPr>
          <a:xfrm>
            <a:off x="640080" y="713232"/>
            <a:ext cx="996696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3D Graphics Engineering</a:t>
            </a:r>
            <a:endParaRPr lang="en-US" sz="2800" dirty="0"/>
          </a:p>
        </p:txBody>
      </p:sp>
      <p:sp>
        <p:nvSpPr>
          <p:cNvPr id="4" name="Text 2"/>
          <p:cNvSpPr/>
          <p:nvPr/>
        </p:nvSpPr>
        <p:spPr>
          <a:xfrm>
            <a:off x="640080" y="1508760"/>
            <a:ext cx="10881360" cy="548640"/>
          </a:xfrm>
          <a:prstGeom prst="rect">
            <a:avLst/>
          </a:prstGeom>
          <a:noFill/>
          <a:ln/>
        </p:spPr>
        <p:txBody>
          <a:bodyPr wrap="square" lIns="0" tIns="0" rIns="0" bIns="0" rtlCol="0" anchor="t"/>
          <a:lstStyle/>
          <a:p>
            <a:pPr marL="0" indent="0">
              <a:lnSpc>
                <a:spcPct val="120000"/>
              </a:lnSpc>
              <a:buNone/>
            </a:pPr>
            <a:r>
              <a:rPr lang="en-US" sz="1400" b="1" dirty="0">
                <a:solidFill>
                  <a:srgbClr val="F0C96A"/>
                </a:solidFill>
                <a:latin typeface="Consolas" pitchFamily="34" charset="0"/>
                <a:ea typeface="Consolas" pitchFamily="34" charset="-122"/>
                <a:cs typeface="Consolas" pitchFamily="34" charset="-120"/>
              </a:rPr>
              <a:t>DwLogo3DViewer.jsx</a:t>
            </a:r>
            <a:r>
              <a:rPr lang="en-US" sz="1400" dirty="0">
                <a:solidFill>
                  <a:srgbClr val="B9C4DA"/>
                </a:solidFill>
                <a:latin typeface="Calibri" pitchFamily="34" charset="0"/>
                <a:ea typeface="Calibri" pitchFamily="34" charset="-122"/>
                <a:cs typeface="Calibri" pitchFamily="34" charset="-120"/>
              </a:rPr>
              <a:t> renders an interactive brand mark using Three.js through the React Three Fiber renderer.</a:t>
            </a:r>
            <a:endParaRPr lang="en-US" sz="1400" dirty="0"/>
          </a:p>
        </p:txBody>
      </p:sp>
      <p:sp>
        <p:nvSpPr>
          <p:cNvPr id="5" name="Text 3"/>
          <p:cNvSpPr/>
          <p:nvPr/>
        </p:nvSpPr>
        <p:spPr>
          <a:xfrm>
            <a:off x="640080" y="2286000"/>
            <a:ext cx="5486400" cy="3200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Rendering Pipeline</a:t>
            </a:r>
            <a:endParaRPr lang="en-US" sz="1450" dirty="0"/>
          </a:p>
        </p:txBody>
      </p:sp>
      <p:sp>
        <p:nvSpPr>
          <p:cNvPr id="6" name="Shape 4"/>
          <p:cNvSpPr/>
          <p:nvPr/>
        </p:nvSpPr>
        <p:spPr>
          <a:xfrm>
            <a:off x="640080" y="2697480"/>
            <a:ext cx="1965960" cy="1280160"/>
          </a:xfrm>
          <a:prstGeom prst="roundRect">
            <a:avLst>
              <a:gd name="adj" fmla="val 6429"/>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7" name="Shape 5"/>
          <p:cNvSpPr/>
          <p:nvPr/>
        </p:nvSpPr>
        <p:spPr>
          <a:xfrm>
            <a:off x="1367028" y="2880360"/>
            <a:ext cx="512064" cy="512064"/>
          </a:xfrm>
          <a:prstGeom prst="ellipse">
            <a:avLst/>
          </a:prstGeom>
          <a:solidFill>
            <a:srgbClr val="C9922A"/>
          </a:solidFill>
          <a:ln/>
        </p:spPr>
      </p:sp>
      <p:pic>
        <p:nvPicPr>
          <p:cNvPr id="8" name="Image 0" descr="/home/claude/dwdeck/icons/box.png"/>
          <p:cNvPicPr>
            <a:picLocks noChangeAspect="1"/>
          </p:cNvPicPr>
          <p:nvPr/>
        </p:nvPicPr>
        <p:blipFill>
          <a:blip r:embed="rId3"/>
          <a:stretch>
            <a:fillRect/>
          </a:stretch>
        </p:blipFill>
        <p:spPr>
          <a:xfrm>
            <a:off x="1485900" y="2999232"/>
            <a:ext cx="274320" cy="274320"/>
          </a:xfrm>
          <a:prstGeom prst="rect">
            <a:avLst/>
          </a:prstGeom>
        </p:spPr>
      </p:pic>
      <p:sp>
        <p:nvSpPr>
          <p:cNvPr id="9" name="Text 6"/>
          <p:cNvSpPr/>
          <p:nvPr/>
        </p:nvSpPr>
        <p:spPr>
          <a:xfrm>
            <a:off x="640080" y="3520440"/>
            <a:ext cx="1965960" cy="3657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Scene</a:t>
            </a:r>
            <a:endParaRPr lang="en-US" sz="1150" dirty="0"/>
          </a:p>
        </p:txBody>
      </p:sp>
      <p:sp>
        <p:nvSpPr>
          <p:cNvPr id="10" name="Text 7"/>
          <p:cNvSpPr/>
          <p:nvPr/>
        </p:nvSpPr>
        <p:spPr>
          <a:xfrm>
            <a:off x="2606040" y="3108960"/>
            <a:ext cx="182880" cy="457200"/>
          </a:xfrm>
          <a:prstGeom prst="rect">
            <a:avLst/>
          </a:prstGeom>
          <a:noFill/>
          <a:ln/>
        </p:spPr>
        <p:txBody>
          <a:bodyPr wrap="square" lIns="0" tIns="0" rIns="0" bIns="0" rtlCol="0" anchor="ctr"/>
          <a:lstStyle/>
          <a:p>
            <a:pPr marL="0" indent="0" algn="ctr">
              <a:buNone/>
            </a:pPr>
            <a:r>
              <a:rPr lang="en-US" sz="1600" b="1" dirty="0">
                <a:solidFill>
                  <a:srgbClr val="C9922A"/>
                </a:solidFill>
                <a:latin typeface="Calibri" pitchFamily="34" charset="0"/>
                <a:ea typeface="Calibri" pitchFamily="34" charset="-122"/>
                <a:cs typeface="Calibri" pitchFamily="34" charset="-120"/>
              </a:rPr>
              <a:t>&gt;</a:t>
            </a:r>
            <a:endParaRPr lang="en-US" sz="1600" dirty="0"/>
          </a:p>
        </p:txBody>
      </p:sp>
      <p:sp>
        <p:nvSpPr>
          <p:cNvPr id="11" name="Shape 8"/>
          <p:cNvSpPr/>
          <p:nvPr/>
        </p:nvSpPr>
        <p:spPr>
          <a:xfrm>
            <a:off x="2788920" y="2697480"/>
            <a:ext cx="1965960" cy="1280160"/>
          </a:xfrm>
          <a:prstGeom prst="roundRect">
            <a:avLst>
              <a:gd name="adj" fmla="val 6429"/>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12" name="Shape 9"/>
          <p:cNvSpPr/>
          <p:nvPr/>
        </p:nvSpPr>
        <p:spPr>
          <a:xfrm>
            <a:off x="3515868" y="2880360"/>
            <a:ext cx="512064" cy="512064"/>
          </a:xfrm>
          <a:prstGeom prst="ellipse">
            <a:avLst/>
          </a:prstGeom>
          <a:solidFill>
            <a:srgbClr val="C9922A"/>
          </a:solidFill>
          <a:ln/>
        </p:spPr>
      </p:sp>
      <p:pic>
        <p:nvPicPr>
          <p:cNvPr id="13" name="Image 1" descr="/home/claude/dwdeck/icons/camera.png"/>
          <p:cNvPicPr>
            <a:picLocks noChangeAspect="1"/>
          </p:cNvPicPr>
          <p:nvPr/>
        </p:nvPicPr>
        <p:blipFill>
          <a:blip r:embed="rId4"/>
          <a:stretch>
            <a:fillRect/>
          </a:stretch>
        </p:blipFill>
        <p:spPr>
          <a:xfrm>
            <a:off x="3634740" y="2999232"/>
            <a:ext cx="274320" cy="274320"/>
          </a:xfrm>
          <a:prstGeom prst="rect">
            <a:avLst/>
          </a:prstGeom>
        </p:spPr>
      </p:pic>
      <p:sp>
        <p:nvSpPr>
          <p:cNvPr id="14" name="Text 10"/>
          <p:cNvSpPr/>
          <p:nvPr/>
        </p:nvSpPr>
        <p:spPr>
          <a:xfrm>
            <a:off x="2788920" y="3520440"/>
            <a:ext cx="1965960" cy="3657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Camera</a:t>
            </a:r>
            <a:endParaRPr lang="en-US" sz="1150" dirty="0"/>
          </a:p>
        </p:txBody>
      </p:sp>
      <p:sp>
        <p:nvSpPr>
          <p:cNvPr id="15" name="Text 11"/>
          <p:cNvSpPr/>
          <p:nvPr/>
        </p:nvSpPr>
        <p:spPr>
          <a:xfrm>
            <a:off x="4754880" y="3108960"/>
            <a:ext cx="182880" cy="457200"/>
          </a:xfrm>
          <a:prstGeom prst="rect">
            <a:avLst/>
          </a:prstGeom>
          <a:noFill/>
          <a:ln/>
        </p:spPr>
        <p:txBody>
          <a:bodyPr wrap="square" lIns="0" tIns="0" rIns="0" bIns="0" rtlCol="0" anchor="ctr"/>
          <a:lstStyle/>
          <a:p>
            <a:pPr marL="0" indent="0" algn="ctr">
              <a:buNone/>
            </a:pPr>
            <a:r>
              <a:rPr lang="en-US" sz="1600" b="1" dirty="0">
                <a:solidFill>
                  <a:srgbClr val="C9922A"/>
                </a:solidFill>
                <a:latin typeface="Calibri" pitchFamily="34" charset="0"/>
                <a:ea typeface="Calibri" pitchFamily="34" charset="-122"/>
                <a:cs typeface="Calibri" pitchFamily="34" charset="-120"/>
              </a:rPr>
              <a:t>&gt;</a:t>
            </a:r>
            <a:endParaRPr lang="en-US" sz="1600" dirty="0"/>
          </a:p>
        </p:txBody>
      </p:sp>
      <p:sp>
        <p:nvSpPr>
          <p:cNvPr id="16" name="Shape 12"/>
          <p:cNvSpPr/>
          <p:nvPr/>
        </p:nvSpPr>
        <p:spPr>
          <a:xfrm>
            <a:off x="4937760" y="2697480"/>
            <a:ext cx="1965960" cy="1280160"/>
          </a:xfrm>
          <a:prstGeom prst="roundRect">
            <a:avLst>
              <a:gd name="adj" fmla="val 6429"/>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17" name="Shape 13"/>
          <p:cNvSpPr/>
          <p:nvPr/>
        </p:nvSpPr>
        <p:spPr>
          <a:xfrm>
            <a:off x="5664708" y="2880360"/>
            <a:ext cx="512064" cy="512064"/>
          </a:xfrm>
          <a:prstGeom prst="ellipse">
            <a:avLst/>
          </a:prstGeom>
          <a:solidFill>
            <a:srgbClr val="C9922A"/>
          </a:solidFill>
          <a:ln/>
        </p:spPr>
      </p:sp>
      <p:pic>
        <p:nvPicPr>
          <p:cNvPr id="18" name="Image 2" descr="/home/claude/dwdeck/icons/sun.png"/>
          <p:cNvPicPr>
            <a:picLocks noChangeAspect="1"/>
          </p:cNvPicPr>
          <p:nvPr/>
        </p:nvPicPr>
        <p:blipFill>
          <a:blip r:embed="rId5"/>
          <a:stretch>
            <a:fillRect/>
          </a:stretch>
        </p:blipFill>
        <p:spPr>
          <a:xfrm>
            <a:off x="5783580" y="2999232"/>
            <a:ext cx="274320" cy="274320"/>
          </a:xfrm>
          <a:prstGeom prst="rect">
            <a:avLst/>
          </a:prstGeom>
        </p:spPr>
      </p:pic>
      <p:sp>
        <p:nvSpPr>
          <p:cNvPr id="19" name="Text 14"/>
          <p:cNvSpPr/>
          <p:nvPr/>
        </p:nvSpPr>
        <p:spPr>
          <a:xfrm>
            <a:off x="4937760" y="3520440"/>
            <a:ext cx="1965960" cy="3657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Lighting</a:t>
            </a:r>
            <a:endParaRPr lang="en-US" sz="1150" dirty="0"/>
          </a:p>
        </p:txBody>
      </p:sp>
      <p:sp>
        <p:nvSpPr>
          <p:cNvPr id="20" name="Text 15"/>
          <p:cNvSpPr/>
          <p:nvPr/>
        </p:nvSpPr>
        <p:spPr>
          <a:xfrm>
            <a:off x="6903720" y="3108960"/>
            <a:ext cx="182880" cy="457200"/>
          </a:xfrm>
          <a:prstGeom prst="rect">
            <a:avLst/>
          </a:prstGeom>
          <a:noFill/>
          <a:ln/>
        </p:spPr>
        <p:txBody>
          <a:bodyPr wrap="square" lIns="0" tIns="0" rIns="0" bIns="0" rtlCol="0" anchor="ctr"/>
          <a:lstStyle/>
          <a:p>
            <a:pPr marL="0" indent="0" algn="ctr">
              <a:buNone/>
            </a:pPr>
            <a:r>
              <a:rPr lang="en-US" sz="1600" b="1" dirty="0">
                <a:solidFill>
                  <a:srgbClr val="C9922A"/>
                </a:solidFill>
                <a:latin typeface="Calibri" pitchFamily="34" charset="0"/>
                <a:ea typeface="Calibri" pitchFamily="34" charset="-122"/>
                <a:cs typeface="Calibri" pitchFamily="34" charset="-120"/>
              </a:rPr>
              <a:t>&gt;</a:t>
            </a:r>
            <a:endParaRPr lang="en-US" sz="1600" dirty="0"/>
          </a:p>
        </p:txBody>
      </p:sp>
      <p:sp>
        <p:nvSpPr>
          <p:cNvPr id="21" name="Shape 16"/>
          <p:cNvSpPr/>
          <p:nvPr/>
        </p:nvSpPr>
        <p:spPr>
          <a:xfrm>
            <a:off x="7086600" y="2697480"/>
            <a:ext cx="1965960" cy="1280160"/>
          </a:xfrm>
          <a:prstGeom prst="roundRect">
            <a:avLst>
              <a:gd name="adj" fmla="val 6429"/>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22" name="Shape 17"/>
          <p:cNvSpPr/>
          <p:nvPr/>
        </p:nvSpPr>
        <p:spPr>
          <a:xfrm>
            <a:off x="7813548" y="2880360"/>
            <a:ext cx="512064" cy="512064"/>
          </a:xfrm>
          <a:prstGeom prst="ellipse">
            <a:avLst/>
          </a:prstGeom>
          <a:solidFill>
            <a:srgbClr val="C9922A"/>
          </a:solidFill>
          <a:ln/>
        </p:spPr>
      </p:sp>
      <p:pic>
        <p:nvPicPr>
          <p:cNvPr id="23" name="Image 3" descr="/home/claude/dwdeck/icons/hexagon.png"/>
          <p:cNvPicPr>
            <a:picLocks noChangeAspect="1"/>
          </p:cNvPicPr>
          <p:nvPr/>
        </p:nvPicPr>
        <p:blipFill>
          <a:blip r:embed="rId6"/>
          <a:stretch>
            <a:fillRect/>
          </a:stretch>
        </p:blipFill>
        <p:spPr>
          <a:xfrm>
            <a:off x="7932420" y="2999232"/>
            <a:ext cx="274320" cy="274320"/>
          </a:xfrm>
          <a:prstGeom prst="rect">
            <a:avLst/>
          </a:prstGeom>
        </p:spPr>
      </p:pic>
      <p:sp>
        <p:nvSpPr>
          <p:cNvPr id="24" name="Text 18"/>
          <p:cNvSpPr/>
          <p:nvPr/>
        </p:nvSpPr>
        <p:spPr>
          <a:xfrm>
            <a:off x="7086600" y="3520440"/>
            <a:ext cx="1965960" cy="3657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Geometry</a:t>
            </a:r>
            <a:endParaRPr lang="en-US" sz="1150" dirty="0"/>
          </a:p>
        </p:txBody>
      </p:sp>
      <p:sp>
        <p:nvSpPr>
          <p:cNvPr id="25" name="Text 19"/>
          <p:cNvSpPr/>
          <p:nvPr/>
        </p:nvSpPr>
        <p:spPr>
          <a:xfrm>
            <a:off x="9052560" y="3108960"/>
            <a:ext cx="182880" cy="457200"/>
          </a:xfrm>
          <a:prstGeom prst="rect">
            <a:avLst/>
          </a:prstGeom>
          <a:noFill/>
          <a:ln/>
        </p:spPr>
        <p:txBody>
          <a:bodyPr wrap="square" lIns="0" tIns="0" rIns="0" bIns="0" rtlCol="0" anchor="ctr"/>
          <a:lstStyle/>
          <a:p>
            <a:pPr marL="0" indent="0" algn="ctr">
              <a:buNone/>
            </a:pPr>
            <a:r>
              <a:rPr lang="en-US" sz="1600" b="1" dirty="0">
                <a:solidFill>
                  <a:srgbClr val="C9922A"/>
                </a:solidFill>
                <a:latin typeface="Calibri" pitchFamily="34" charset="0"/>
                <a:ea typeface="Calibri" pitchFamily="34" charset="-122"/>
                <a:cs typeface="Calibri" pitchFamily="34" charset="-120"/>
              </a:rPr>
              <a:t>&gt;</a:t>
            </a:r>
            <a:endParaRPr lang="en-US" sz="1600" dirty="0"/>
          </a:p>
        </p:txBody>
      </p:sp>
      <p:sp>
        <p:nvSpPr>
          <p:cNvPr id="26" name="Shape 20"/>
          <p:cNvSpPr/>
          <p:nvPr/>
        </p:nvSpPr>
        <p:spPr>
          <a:xfrm>
            <a:off x="9235440" y="2697480"/>
            <a:ext cx="1965960" cy="1280160"/>
          </a:xfrm>
          <a:prstGeom prst="roundRect">
            <a:avLst>
              <a:gd name="adj" fmla="val 6429"/>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27" name="Shape 21"/>
          <p:cNvSpPr/>
          <p:nvPr/>
        </p:nvSpPr>
        <p:spPr>
          <a:xfrm>
            <a:off x="9962388" y="2880360"/>
            <a:ext cx="512064" cy="512064"/>
          </a:xfrm>
          <a:prstGeom prst="ellipse">
            <a:avLst/>
          </a:prstGeom>
          <a:solidFill>
            <a:srgbClr val="C9922A"/>
          </a:solidFill>
          <a:ln/>
        </p:spPr>
      </p:sp>
      <p:pic>
        <p:nvPicPr>
          <p:cNvPr id="28" name="Image 4" descr="/home/claude/dwdeck/icons/monitor.png"/>
          <p:cNvPicPr>
            <a:picLocks noChangeAspect="1"/>
          </p:cNvPicPr>
          <p:nvPr/>
        </p:nvPicPr>
        <p:blipFill>
          <a:blip r:embed="rId7"/>
          <a:stretch>
            <a:fillRect/>
          </a:stretch>
        </p:blipFill>
        <p:spPr>
          <a:xfrm>
            <a:off x="10081260" y="2999232"/>
            <a:ext cx="274320" cy="274320"/>
          </a:xfrm>
          <a:prstGeom prst="rect">
            <a:avLst/>
          </a:prstGeom>
        </p:spPr>
      </p:pic>
      <p:sp>
        <p:nvSpPr>
          <p:cNvPr id="29" name="Text 22"/>
          <p:cNvSpPr/>
          <p:nvPr/>
        </p:nvSpPr>
        <p:spPr>
          <a:xfrm>
            <a:off x="9235440" y="3520440"/>
            <a:ext cx="1965960" cy="3657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Renderer / Canvas</a:t>
            </a:r>
            <a:endParaRPr lang="en-US" sz="1150" dirty="0"/>
          </a:p>
        </p:txBody>
      </p:sp>
      <p:sp>
        <p:nvSpPr>
          <p:cNvPr id="30" name="Text 23"/>
          <p:cNvSpPr/>
          <p:nvPr/>
        </p:nvSpPr>
        <p:spPr>
          <a:xfrm>
            <a:off x="640080" y="4206240"/>
            <a:ext cx="5486400" cy="3200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Key Considerations</a:t>
            </a:r>
            <a:endParaRPr lang="en-US" sz="1450" dirty="0"/>
          </a:p>
        </p:txBody>
      </p:sp>
      <p:sp>
        <p:nvSpPr>
          <p:cNvPr id="31" name="Text 24"/>
          <p:cNvSpPr/>
          <p:nvPr/>
        </p:nvSpPr>
        <p:spPr>
          <a:xfrm>
            <a:off x="640080" y="4572000"/>
            <a:ext cx="10515600" cy="365760"/>
          </a:xfrm>
          <a:prstGeom prst="rect">
            <a:avLst/>
          </a:prstGeom>
          <a:noFill/>
          <a:ln/>
        </p:spPr>
        <p:txBody>
          <a:bodyPr wrap="square" lIns="0" tIns="0" rIns="0" bIns="0" rtlCol="0" anchor="ctr"/>
          <a:lstStyle/>
          <a:p>
            <a:pPr marL="0" indent="0">
              <a:buNone/>
            </a:pPr>
            <a:r>
              <a:rPr lang="en-US" sz="1200" dirty="0">
                <a:solidFill>
                  <a:srgbClr val="B9C4DA"/>
                </a:solidFill>
                <a:latin typeface="Calibri" pitchFamily="34" charset="0"/>
                <a:ea typeface="Calibri" pitchFamily="34" charset="-122"/>
                <a:cs typeface="Calibri" pitchFamily="34" charset="-120"/>
              </a:rPr>
              <a:t>●  Canvas lifecycle managed on mount and unmount to prevent memory leaks</a:t>
            </a:r>
            <a:endParaRPr lang="en-US" sz="1200" dirty="0"/>
          </a:p>
        </p:txBody>
      </p:sp>
      <p:sp>
        <p:nvSpPr>
          <p:cNvPr id="32" name="Text 25"/>
          <p:cNvSpPr/>
          <p:nvPr/>
        </p:nvSpPr>
        <p:spPr>
          <a:xfrm>
            <a:off x="640080" y="4956048"/>
            <a:ext cx="10515600" cy="365760"/>
          </a:xfrm>
          <a:prstGeom prst="rect">
            <a:avLst/>
          </a:prstGeom>
          <a:noFill/>
          <a:ln/>
        </p:spPr>
        <p:txBody>
          <a:bodyPr wrap="square" lIns="0" tIns="0" rIns="0" bIns="0" rtlCol="0" anchor="ctr"/>
          <a:lstStyle/>
          <a:p>
            <a:pPr marL="0" indent="0">
              <a:buNone/>
            </a:pPr>
            <a:r>
              <a:rPr lang="en-US" sz="1200" dirty="0">
                <a:solidFill>
                  <a:srgbClr val="B9C4DA"/>
                </a:solidFill>
                <a:latin typeface="Calibri" pitchFamily="34" charset="0"/>
                <a:ea typeface="Calibri" pitchFamily="34" charset="-122"/>
                <a:cs typeface="Calibri" pitchFamily="34" charset="-120"/>
              </a:rPr>
              <a:t>●  Lighting and camera tuned so the logo reads clearly at small hero sizes</a:t>
            </a:r>
            <a:endParaRPr lang="en-US" sz="1200" dirty="0"/>
          </a:p>
        </p:txBody>
      </p:sp>
      <p:sp>
        <p:nvSpPr>
          <p:cNvPr id="33" name="Text 26"/>
          <p:cNvSpPr/>
          <p:nvPr/>
        </p:nvSpPr>
        <p:spPr>
          <a:xfrm>
            <a:off x="640080" y="5340096"/>
            <a:ext cx="10515600" cy="365760"/>
          </a:xfrm>
          <a:prstGeom prst="rect">
            <a:avLst/>
          </a:prstGeom>
          <a:noFill/>
          <a:ln/>
        </p:spPr>
        <p:txBody>
          <a:bodyPr wrap="square" lIns="0" tIns="0" rIns="0" bIns="0" rtlCol="0" anchor="ctr"/>
          <a:lstStyle/>
          <a:p>
            <a:pPr marL="0" indent="0">
              <a:buNone/>
            </a:pPr>
            <a:r>
              <a:rPr lang="en-US" sz="1200" dirty="0">
                <a:solidFill>
                  <a:srgbClr val="B9C4DA"/>
                </a:solidFill>
                <a:latin typeface="Calibri" pitchFamily="34" charset="0"/>
                <a:ea typeface="Calibri" pitchFamily="34" charset="-122"/>
                <a:cs typeface="Calibri" pitchFamily="34" charset="-120"/>
              </a:rPr>
              <a:t>●  Interaction wired for subtle rotation on pointer movement, not a full game loop</a:t>
            </a:r>
            <a:endParaRPr lang="en-US" sz="1200" dirty="0"/>
          </a:p>
        </p:txBody>
      </p:sp>
      <p:sp>
        <p:nvSpPr>
          <p:cNvPr id="34" name="Text 27"/>
          <p:cNvSpPr/>
          <p:nvPr/>
        </p:nvSpPr>
        <p:spPr>
          <a:xfrm>
            <a:off x="640080" y="6528816"/>
            <a:ext cx="5486400" cy="256032"/>
          </a:xfrm>
          <a:prstGeom prst="rect">
            <a:avLst/>
          </a:prstGeom>
          <a:noFill/>
          <a:ln/>
        </p:spPr>
        <p:txBody>
          <a:bodyPr wrap="square" lIns="0" tIns="0" rIns="0" bIns="0" rtlCol="0" anchor="ctr"/>
          <a:lstStyle/>
          <a:p>
            <a:pPr marL="0" indent="0">
              <a:buNone/>
            </a:pPr>
            <a:r>
              <a:rPr lang="en-US" sz="900" dirty="0">
                <a:solidFill>
                  <a:srgbClr val="8695B3"/>
                </a:solidFill>
                <a:latin typeface="Calibri" pitchFamily="34" charset="0"/>
                <a:ea typeface="Calibri" pitchFamily="34" charset="-122"/>
                <a:cs typeface="Calibri" pitchFamily="34" charset="-120"/>
              </a:rPr>
              <a:t>Drishti Wealth Financial Advisory Platform</a:t>
            </a:r>
            <a:endParaRPr lang="en-US" sz="900" dirty="0"/>
          </a:p>
        </p:txBody>
      </p:sp>
      <p:sp>
        <p:nvSpPr>
          <p:cNvPr id="35" name="Shape 28"/>
          <p:cNvSpPr/>
          <p:nvPr/>
        </p:nvSpPr>
        <p:spPr>
          <a:xfrm>
            <a:off x="11292840" y="6583680"/>
            <a:ext cx="54864" cy="54864"/>
          </a:xfrm>
          <a:prstGeom prst="ellipse">
            <a:avLst/>
          </a:prstGeom>
          <a:solidFill>
            <a:srgbClr val="C9922A"/>
          </a:solidFill>
          <a:ln/>
        </p:spPr>
      </p:sp>
      <p:sp>
        <p:nvSpPr>
          <p:cNvPr id="36" name="Text 29"/>
          <p:cNvSpPr/>
          <p:nvPr/>
        </p:nvSpPr>
        <p:spPr>
          <a:xfrm>
            <a:off x="11430000" y="6528816"/>
            <a:ext cx="365760" cy="256032"/>
          </a:xfrm>
          <a:prstGeom prst="rect">
            <a:avLst/>
          </a:prstGeom>
          <a:noFill/>
          <a:ln/>
        </p:spPr>
        <p:txBody>
          <a:bodyPr wrap="square" lIns="0" tIns="0" rIns="0" bIns="0" rtlCol="0" anchor="ctr"/>
          <a:lstStyle/>
          <a:p>
            <a:pPr marL="0" indent="0" algn="r">
              <a:buNone/>
            </a:pPr>
            <a:r>
              <a:rPr lang="en-US" sz="900" dirty="0">
                <a:solidFill>
                  <a:srgbClr val="8695B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2545"/>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marL="0" indent="0">
              <a:buNone/>
            </a:pPr>
            <a:r>
              <a:rPr lang="en-US" sz="1150" b="1" kern="0" spc="200" dirty="0">
                <a:solidFill>
                  <a:srgbClr val="C9922A"/>
                </a:solidFill>
                <a:latin typeface="Calibri" pitchFamily="34" charset="0"/>
                <a:ea typeface="Calibri" pitchFamily="34" charset="-122"/>
                <a:cs typeface="Calibri" pitchFamily="34" charset="-120"/>
              </a:rPr>
              <a:t>MOTION DESIGN</a:t>
            </a:r>
            <a:endParaRPr lang="en-US" sz="1150" dirty="0"/>
          </a:p>
        </p:txBody>
      </p:sp>
      <p:sp>
        <p:nvSpPr>
          <p:cNvPr id="3" name="Text 1"/>
          <p:cNvSpPr/>
          <p:nvPr/>
        </p:nvSpPr>
        <p:spPr>
          <a:xfrm>
            <a:off x="640080" y="713232"/>
            <a:ext cx="996696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Animation System</a:t>
            </a:r>
            <a:endParaRPr lang="en-US" sz="2800" dirty="0"/>
          </a:p>
        </p:txBody>
      </p:sp>
      <p:sp>
        <p:nvSpPr>
          <p:cNvPr id="4" name="Shape 2"/>
          <p:cNvSpPr/>
          <p:nvPr/>
        </p:nvSpPr>
        <p:spPr>
          <a:xfrm>
            <a:off x="640080" y="1508760"/>
            <a:ext cx="5349240" cy="1600200"/>
          </a:xfrm>
          <a:prstGeom prst="roundRect">
            <a:avLst>
              <a:gd name="adj" fmla="val 5143"/>
            </a:avLst>
          </a:prstGeom>
          <a:solidFill>
            <a:srgbClr val="183052"/>
          </a:solidFill>
          <a:ln w="12700">
            <a:solidFill>
              <a:srgbClr val="2E4A73"/>
            </a:solidFill>
            <a:prstDash val="solid"/>
          </a:ln>
          <a:effectLst>
            <a:outerShdw blurRad="101600" dist="38100" dir="5400000" algn="bl" rotWithShape="0">
              <a:srgbClr val="000000">
                <a:alpha val="25000"/>
              </a:srgbClr>
            </a:outerShdw>
          </a:effectLst>
        </p:spPr>
      </p:sp>
      <p:sp>
        <p:nvSpPr>
          <p:cNvPr id="5" name="Shape 3"/>
          <p:cNvSpPr/>
          <p:nvPr/>
        </p:nvSpPr>
        <p:spPr>
          <a:xfrm>
            <a:off x="859536" y="1728216"/>
            <a:ext cx="457200" cy="457200"/>
          </a:xfrm>
          <a:prstGeom prst="ellipse">
            <a:avLst/>
          </a:prstGeom>
          <a:solidFill>
            <a:srgbClr val="C9922A"/>
          </a:solidFill>
          <a:ln/>
        </p:spPr>
      </p:sp>
      <p:pic>
        <p:nvPicPr>
          <p:cNvPr id="6" name="Image 0" descr="/home/claude/dwdeck/icons/move.png"/>
          <p:cNvPicPr>
            <a:picLocks noChangeAspect="1"/>
          </p:cNvPicPr>
          <p:nvPr/>
        </p:nvPicPr>
        <p:blipFill>
          <a:blip r:embed="rId3"/>
          <a:stretch>
            <a:fillRect/>
          </a:stretch>
        </p:blipFill>
        <p:spPr>
          <a:xfrm>
            <a:off x="969264" y="1837944"/>
            <a:ext cx="237744" cy="237744"/>
          </a:xfrm>
          <a:prstGeom prst="rect">
            <a:avLst/>
          </a:prstGeom>
        </p:spPr>
      </p:pic>
      <p:sp>
        <p:nvSpPr>
          <p:cNvPr id="7" name="Text 4"/>
          <p:cNvSpPr/>
          <p:nvPr/>
        </p:nvSpPr>
        <p:spPr>
          <a:xfrm>
            <a:off x="1481328" y="1709928"/>
            <a:ext cx="4297680" cy="45720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Framer Motion</a:t>
            </a:r>
            <a:endParaRPr lang="en-US" sz="1250" dirty="0"/>
          </a:p>
        </p:txBody>
      </p:sp>
      <p:sp>
        <p:nvSpPr>
          <p:cNvPr id="8" name="Text 5"/>
          <p:cNvSpPr/>
          <p:nvPr/>
        </p:nvSpPr>
        <p:spPr>
          <a:xfrm>
            <a:off x="859536" y="2258568"/>
            <a:ext cx="4910328" cy="777240"/>
          </a:xfrm>
          <a:prstGeom prst="rect">
            <a:avLst/>
          </a:prstGeom>
          <a:noFill/>
          <a:ln/>
        </p:spPr>
        <p:txBody>
          <a:bodyPr wrap="square" lIns="0" tIns="0" rIns="0" bIns="0" rtlCol="0" anchor="t"/>
          <a:lstStyle/>
          <a:p>
            <a:pPr marL="0" indent="0">
              <a:lnSpc>
                <a:spcPct val="112000"/>
              </a:lnSpc>
              <a:buNone/>
            </a:pPr>
            <a:r>
              <a:rPr lang="en-US" sz="1000" dirty="0">
                <a:solidFill>
                  <a:srgbClr val="B9C4DA"/>
                </a:solidFill>
                <a:latin typeface="Calibri" pitchFamily="34" charset="0"/>
                <a:ea typeface="Calibri" pitchFamily="34" charset="-122"/>
                <a:cs typeface="Calibri" pitchFamily="34" charset="-120"/>
              </a:rPr>
              <a:t>Micro interactions, hover states and the accordion FAQ panels across advisory pages.</a:t>
            </a:r>
            <a:endParaRPr lang="en-US" sz="1000" dirty="0"/>
          </a:p>
        </p:txBody>
      </p:sp>
      <p:sp>
        <p:nvSpPr>
          <p:cNvPr id="9" name="Shape 6"/>
          <p:cNvSpPr/>
          <p:nvPr/>
        </p:nvSpPr>
        <p:spPr>
          <a:xfrm>
            <a:off x="6199632" y="1508760"/>
            <a:ext cx="5349240" cy="1600200"/>
          </a:xfrm>
          <a:prstGeom prst="roundRect">
            <a:avLst>
              <a:gd name="adj" fmla="val 5143"/>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10" name="Shape 7"/>
          <p:cNvSpPr/>
          <p:nvPr/>
        </p:nvSpPr>
        <p:spPr>
          <a:xfrm>
            <a:off x="6419088" y="1728216"/>
            <a:ext cx="457200" cy="457200"/>
          </a:xfrm>
          <a:prstGeom prst="ellipse">
            <a:avLst/>
          </a:prstGeom>
          <a:solidFill>
            <a:srgbClr val="C9922A"/>
          </a:solidFill>
          <a:ln/>
        </p:spPr>
      </p:sp>
      <p:pic>
        <p:nvPicPr>
          <p:cNvPr id="11" name="Image 1" descr="/home/claude/dwdeck/icons/zap.png"/>
          <p:cNvPicPr>
            <a:picLocks noChangeAspect="1"/>
          </p:cNvPicPr>
          <p:nvPr/>
        </p:nvPicPr>
        <p:blipFill>
          <a:blip r:embed="rId4"/>
          <a:stretch>
            <a:fillRect/>
          </a:stretch>
        </p:blipFill>
        <p:spPr>
          <a:xfrm>
            <a:off x="6528816" y="1837944"/>
            <a:ext cx="237744" cy="237744"/>
          </a:xfrm>
          <a:prstGeom prst="rect">
            <a:avLst/>
          </a:prstGeom>
        </p:spPr>
      </p:pic>
      <p:sp>
        <p:nvSpPr>
          <p:cNvPr id="12" name="Text 8"/>
          <p:cNvSpPr/>
          <p:nvPr/>
        </p:nvSpPr>
        <p:spPr>
          <a:xfrm>
            <a:off x="7040880" y="1709928"/>
            <a:ext cx="4297680" cy="45720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GSAP ScrollTrigger</a:t>
            </a:r>
            <a:endParaRPr lang="en-US" sz="1250" dirty="0"/>
          </a:p>
        </p:txBody>
      </p:sp>
      <p:sp>
        <p:nvSpPr>
          <p:cNvPr id="13" name="Text 9"/>
          <p:cNvSpPr/>
          <p:nvPr/>
        </p:nvSpPr>
        <p:spPr>
          <a:xfrm>
            <a:off x="6419088" y="2258568"/>
            <a:ext cx="4910328" cy="777240"/>
          </a:xfrm>
          <a:prstGeom prst="rect">
            <a:avLst/>
          </a:prstGeom>
          <a:noFill/>
          <a:ln/>
        </p:spPr>
        <p:txBody>
          <a:bodyPr wrap="square" lIns="0" tIns="0" rIns="0" bIns="0" rtlCol="0" anchor="t"/>
          <a:lstStyle/>
          <a:p>
            <a:pPr marL="0" indent="0">
              <a:lnSpc>
                <a:spcPct val="112000"/>
              </a:lnSpc>
              <a:buNone/>
            </a:pPr>
            <a:r>
              <a:rPr lang="en-US" sz="1000" dirty="0">
                <a:solidFill>
                  <a:srgbClr val="B9C4DA"/>
                </a:solidFill>
                <a:latin typeface="Calibri" pitchFamily="34" charset="0"/>
                <a:ea typeface="Calibri" pitchFamily="34" charset="-122"/>
                <a:cs typeface="Calibri" pitchFamily="34" charset="-120"/>
              </a:rPr>
              <a:t>Scroll linked reveals that animate sections into view as the user scrolls down.</a:t>
            </a:r>
            <a:endParaRPr lang="en-US" sz="1000" dirty="0"/>
          </a:p>
        </p:txBody>
      </p:sp>
      <p:sp>
        <p:nvSpPr>
          <p:cNvPr id="14" name="Shape 10"/>
          <p:cNvSpPr/>
          <p:nvPr/>
        </p:nvSpPr>
        <p:spPr>
          <a:xfrm>
            <a:off x="640080" y="3291840"/>
            <a:ext cx="5349240" cy="1600200"/>
          </a:xfrm>
          <a:prstGeom prst="roundRect">
            <a:avLst>
              <a:gd name="adj" fmla="val 5143"/>
            </a:avLst>
          </a:prstGeom>
          <a:solidFill>
            <a:srgbClr val="183052"/>
          </a:solidFill>
          <a:ln w="12700">
            <a:solidFill>
              <a:srgbClr val="2E4A73"/>
            </a:solidFill>
            <a:prstDash val="solid"/>
          </a:ln>
          <a:effectLst>
            <a:outerShdw blurRad="101600" dist="38100" dir="5400000" algn="bl" rotWithShape="0">
              <a:srgbClr val="000000">
                <a:alpha val="25000"/>
              </a:srgbClr>
            </a:outerShdw>
          </a:effectLst>
        </p:spPr>
      </p:sp>
      <p:sp>
        <p:nvSpPr>
          <p:cNvPr id="15" name="Shape 11"/>
          <p:cNvSpPr/>
          <p:nvPr/>
        </p:nvSpPr>
        <p:spPr>
          <a:xfrm>
            <a:off x="859536" y="3511296"/>
            <a:ext cx="457200" cy="457200"/>
          </a:xfrm>
          <a:prstGeom prst="ellipse">
            <a:avLst/>
          </a:prstGeom>
          <a:solidFill>
            <a:srgbClr val="C9922A"/>
          </a:solidFill>
          <a:ln/>
        </p:spPr>
      </p:sp>
      <p:pic>
        <p:nvPicPr>
          <p:cNvPr id="16" name="Image 2" descr="/home/claude/dwdeck/icons/refreshcw.png"/>
          <p:cNvPicPr>
            <a:picLocks noChangeAspect="1"/>
          </p:cNvPicPr>
          <p:nvPr/>
        </p:nvPicPr>
        <p:blipFill>
          <a:blip r:embed="rId5"/>
          <a:stretch>
            <a:fillRect/>
          </a:stretch>
        </p:blipFill>
        <p:spPr>
          <a:xfrm>
            <a:off x="969264" y="3621024"/>
            <a:ext cx="237744" cy="237744"/>
          </a:xfrm>
          <a:prstGeom prst="rect">
            <a:avLst/>
          </a:prstGeom>
        </p:spPr>
      </p:pic>
      <p:sp>
        <p:nvSpPr>
          <p:cNvPr id="17" name="Text 12"/>
          <p:cNvSpPr/>
          <p:nvPr/>
        </p:nvSpPr>
        <p:spPr>
          <a:xfrm>
            <a:off x="1481328" y="3493008"/>
            <a:ext cx="4297680" cy="45720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Lenis Smooth Scrolling</a:t>
            </a:r>
            <a:endParaRPr lang="en-US" sz="1250" dirty="0"/>
          </a:p>
        </p:txBody>
      </p:sp>
      <p:sp>
        <p:nvSpPr>
          <p:cNvPr id="18" name="Text 13"/>
          <p:cNvSpPr/>
          <p:nvPr/>
        </p:nvSpPr>
        <p:spPr>
          <a:xfrm>
            <a:off x="859536" y="4041648"/>
            <a:ext cx="4910328" cy="777240"/>
          </a:xfrm>
          <a:prstGeom prst="rect">
            <a:avLst/>
          </a:prstGeom>
          <a:noFill/>
          <a:ln/>
        </p:spPr>
        <p:txBody>
          <a:bodyPr wrap="square" lIns="0" tIns="0" rIns="0" bIns="0" rtlCol="0" anchor="t"/>
          <a:lstStyle/>
          <a:p>
            <a:pPr marL="0" indent="0">
              <a:lnSpc>
                <a:spcPct val="112000"/>
              </a:lnSpc>
              <a:buNone/>
            </a:pPr>
            <a:r>
              <a:rPr lang="en-US" sz="1000" dirty="0">
                <a:solidFill>
                  <a:srgbClr val="B9C4DA"/>
                </a:solidFill>
                <a:latin typeface="Calibri" pitchFamily="34" charset="0"/>
                <a:ea typeface="Calibri" pitchFamily="34" charset="-122"/>
                <a:cs typeface="Calibri" pitchFamily="34" charset="-120"/>
              </a:rPr>
              <a:t>Replaces native scroll with an eased, buttery feel across the whole site.</a:t>
            </a:r>
            <a:endParaRPr lang="en-US" sz="1000" dirty="0"/>
          </a:p>
        </p:txBody>
      </p:sp>
      <p:sp>
        <p:nvSpPr>
          <p:cNvPr id="19" name="Shape 14"/>
          <p:cNvSpPr/>
          <p:nvPr/>
        </p:nvSpPr>
        <p:spPr>
          <a:xfrm>
            <a:off x="6199632" y="3291840"/>
            <a:ext cx="5349240" cy="1600200"/>
          </a:xfrm>
          <a:prstGeom prst="roundRect">
            <a:avLst>
              <a:gd name="adj" fmla="val 5143"/>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20" name="Shape 15"/>
          <p:cNvSpPr/>
          <p:nvPr/>
        </p:nvSpPr>
        <p:spPr>
          <a:xfrm>
            <a:off x="6419088" y="3511296"/>
            <a:ext cx="457200" cy="457200"/>
          </a:xfrm>
          <a:prstGeom prst="ellipse">
            <a:avLst/>
          </a:prstGeom>
          <a:solidFill>
            <a:srgbClr val="C9922A"/>
          </a:solidFill>
          <a:ln/>
        </p:spPr>
      </p:sp>
      <p:pic>
        <p:nvPicPr>
          <p:cNvPr id="21" name="Image 3" descr="/home/claude/dwdeck/icons/eye.png"/>
          <p:cNvPicPr>
            <a:picLocks noChangeAspect="1"/>
          </p:cNvPicPr>
          <p:nvPr/>
        </p:nvPicPr>
        <p:blipFill>
          <a:blip r:embed="rId6"/>
          <a:stretch>
            <a:fillRect/>
          </a:stretch>
        </p:blipFill>
        <p:spPr>
          <a:xfrm>
            <a:off x="6528816" y="3621024"/>
            <a:ext cx="237744" cy="237744"/>
          </a:xfrm>
          <a:prstGeom prst="rect">
            <a:avLst/>
          </a:prstGeom>
        </p:spPr>
      </p:pic>
      <p:sp>
        <p:nvSpPr>
          <p:cNvPr id="22" name="Text 16"/>
          <p:cNvSpPr/>
          <p:nvPr/>
        </p:nvSpPr>
        <p:spPr>
          <a:xfrm>
            <a:off x="7040880" y="3493008"/>
            <a:ext cx="4297680" cy="45720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IntersectionObserver Counters</a:t>
            </a:r>
            <a:endParaRPr lang="en-US" sz="1250" dirty="0"/>
          </a:p>
        </p:txBody>
      </p:sp>
      <p:sp>
        <p:nvSpPr>
          <p:cNvPr id="23" name="Text 17"/>
          <p:cNvSpPr/>
          <p:nvPr/>
        </p:nvSpPr>
        <p:spPr>
          <a:xfrm>
            <a:off x="6419088" y="4041648"/>
            <a:ext cx="4910328" cy="777240"/>
          </a:xfrm>
          <a:prstGeom prst="rect">
            <a:avLst/>
          </a:prstGeom>
          <a:noFill/>
          <a:ln/>
        </p:spPr>
        <p:txBody>
          <a:bodyPr wrap="square" lIns="0" tIns="0" rIns="0" bIns="0" rtlCol="0" anchor="t"/>
          <a:lstStyle/>
          <a:p>
            <a:pPr marL="0" indent="0">
              <a:lnSpc>
                <a:spcPct val="112000"/>
              </a:lnSpc>
              <a:buNone/>
            </a:pPr>
            <a:r>
              <a:rPr lang="en-US" sz="1000" dirty="0">
                <a:solidFill>
                  <a:srgbClr val="B9C4DA"/>
                </a:solidFill>
                <a:latin typeface="Calibri" pitchFamily="34" charset="0"/>
                <a:ea typeface="Calibri" pitchFamily="34" charset="-122"/>
                <a:cs typeface="Calibri" pitchFamily="34" charset="-120"/>
              </a:rPr>
              <a:t>Animated statistic counters trigger only when actually visible in the viewport, saving CPU cycles.</a:t>
            </a:r>
            <a:endParaRPr lang="en-US" sz="1000" dirty="0"/>
          </a:p>
        </p:txBody>
      </p:sp>
      <p:sp>
        <p:nvSpPr>
          <p:cNvPr id="24" name="Shape 18"/>
          <p:cNvSpPr/>
          <p:nvPr/>
        </p:nvSpPr>
        <p:spPr>
          <a:xfrm>
            <a:off x="640080" y="5257800"/>
            <a:ext cx="10908792" cy="685800"/>
          </a:xfrm>
          <a:prstGeom prst="roundRect">
            <a:avLst>
              <a:gd name="adj" fmla="val 12000"/>
            </a:avLst>
          </a:prstGeom>
          <a:solidFill>
            <a:srgbClr val="C9922A"/>
          </a:solidFill>
          <a:ln/>
        </p:spPr>
      </p:sp>
      <p:sp>
        <p:nvSpPr>
          <p:cNvPr id="25" name="Text 19"/>
          <p:cNvSpPr/>
          <p:nvPr/>
        </p:nvSpPr>
        <p:spPr>
          <a:xfrm>
            <a:off x="868680" y="5257800"/>
            <a:ext cx="10424160" cy="685800"/>
          </a:xfrm>
          <a:prstGeom prst="rect">
            <a:avLst/>
          </a:prstGeom>
          <a:noFill/>
          <a:ln/>
        </p:spPr>
        <p:txBody>
          <a:bodyPr wrap="square" lIns="0" tIns="0" rIns="0" bIns="0" rtlCol="0" anchor="ctr"/>
          <a:lstStyle/>
          <a:p>
            <a:pPr marL="0" indent="0">
              <a:buNone/>
            </a:pPr>
            <a:r>
              <a:rPr lang="en-US" sz="1200" dirty="0">
                <a:solidFill>
                  <a:srgbClr val="0D2545"/>
                </a:solidFill>
                <a:latin typeface="Calibri" pitchFamily="34" charset="0"/>
                <a:ea typeface="Calibri" pitchFamily="34" charset="-122"/>
                <a:cs typeface="Calibri" pitchFamily="34" charset="-120"/>
              </a:rPr>
              <a:t>Why animation matters here: it improves perceived performance, guides attention to key numbers, and adds polish without increasing load time when scoped correctly.</a:t>
            </a:r>
            <a:endParaRPr lang="en-US" sz="1200" dirty="0"/>
          </a:p>
        </p:txBody>
      </p:sp>
      <p:sp>
        <p:nvSpPr>
          <p:cNvPr id="26" name="Text 20"/>
          <p:cNvSpPr/>
          <p:nvPr/>
        </p:nvSpPr>
        <p:spPr>
          <a:xfrm>
            <a:off x="640080" y="6528816"/>
            <a:ext cx="5486400" cy="256032"/>
          </a:xfrm>
          <a:prstGeom prst="rect">
            <a:avLst/>
          </a:prstGeom>
          <a:noFill/>
          <a:ln/>
        </p:spPr>
        <p:txBody>
          <a:bodyPr wrap="square" lIns="0" tIns="0" rIns="0" bIns="0" rtlCol="0" anchor="ctr"/>
          <a:lstStyle/>
          <a:p>
            <a:pPr marL="0" indent="0">
              <a:buNone/>
            </a:pPr>
            <a:r>
              <a:rPr lang="en-US" sz="900" dirty="0">
                <a:solidFill>
                  <a:srgbClr val="8695B3"/>
                </a:solidFill>
                <a:latin typeface="Calibri" pitchFamily="34" charset="0"/>
                <a:ea typeface="Calibri" pitchFamily="34" charset="-122"/>
                <a:cs typeface="Calibri" pitchFamily="34" charset="-120"/>
              </a:rPr>
              <a:t>Drishti Wealth Financial Advisory Platform</a:t>
            </a:r>
            <a:endParaRPr lang="en-US" sz="900" dirty="0"/>
          </a:p>
        </p:txBody>
      </p:sp>
      <p:sp>
        <p:nvSpPr>
          <p:cNvPr id="27" name="Shape 21"/>
          <p:cNvSpPr/>
          <p:nvPr/>
        </p:nvSpPr>
        <p:spPr>
          <a:xfrm>
            <a:off x="11292840" y="6583680"/>
            <a:ext cx="54864" cy="54864"/>
          </a:xfrm>
          <a:prstGeom prst="ellipse">
            <a:avLst/>
          </a:prstGeom>
          <a:solidFill>
            <a:srgbClr val="C9922A"/>
          </a:solidFill>
          <a:ln/>
        </p:spPr>
      </p:sp>
      <p:sp>
        <p:nvSpPr>
          <p:cNvPr id="28" name="Text 22"/>
          <p:cNvSpPr/>
          <p:nvPr/>
        </p:nvSpPr>
        <p:spPr>
          <a:xfrm>
            <a:off x="11430000" y="6528816"/>
            <a:ext cx="365760" cy="256032"/>
          </a:xfrm>
          <a:prstGeom prst="rect">
            <a:avLst/>
          </a:prstGeom>
          <a:noFill/>
          <a:ln/>
        </p:spPr>
        <p:txBody>
          <a:bodyPr wrap="square" lIns="0" tIns="0" rIns="0" bIns="0" rtlCol="0" anchor="ctr"/>
          <a:lstStyle/>
          <a:p>
            <a:pPr marL="0" indent="0" algn="r">
              <a:buNone/>
            </a:pPr>
            <a:r>
              <a:rPr lang="en-US" sz="900" dirty="0">
                <a:solidFill>
                  <a:srgbClr val="8695B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2545"/>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marL="0" indent="0">
              <a:buNone/>
            </a:pPr>
            <a:r>
              <a:rPr lang="en-US" sz="1150" b="1" kern="0" spc="200" dirty="0">
                <a:solidFill>
                  <a:srgbClr val="C9922A"/>
                </a:solidFill>
                <a:latin typeface="Calibri" pitchFamily="34" charset="0"/>
                <a:ea typeface="Calibri" pitchFamily="34" charset="-122"/>
                <a:cs typeface="Calibri" pitchFamily="34" charset="-120"/>
              </a:rPr>
              <a:t>SERVER SIDE ENGINEERING</a:t>
            </a:r>
            <a:endParaRPr lang="en-US" sz="1150" dirty="0"/>
          </a:p>
        </p:txBody>
      </p:sp>
      <p:sp>
        <p:nvSpPr>
          <p:cNvPr id="3" name="Text 1"/>
          <p:cNvSpPr/>
          <p:nvPr/>
        </p:nvSpPr>
        <p:spPr>
          <a:xfrm>
            <a:off x="640080" y="713232"/>
            <a:ext cx="996696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Backend Engineering and Authentication</a:t>
            </a:r>
            <a:endParaRPr lang="en-US" sz="2800" dirty="0"/>
          </a:p>
        </p:txBody>
      </p:sp>
      <p:sp>
        <p:nvSpPr>
          <p:cNvPr id="4" name="Text 2"/>
          <p:cNvSpPr/>
          <p:nvPr/>
        </p:nvSpPr>
        <p:spPr>
          <a:xfrm>
            <a:off x="640080" y="1463040"/>
            <a:ext cx="5486400" cy="3200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API and Data Layer</a:t>
            </a:r>
            <a:endParaRPr lang="en-US" sz="1450" dirty="0"/>
          </a:p>
        </p:txBody>
      </p:sp>
      <p:sp>
        <p:nvSpPr>
          <p:cNvPr id="5" name="Shape 3"/>
          <p:cNvSpPr/>
          <p:nvPr/>
        </p:nvSpPr>
        <p:spPr>
          <a:xfrm>
            <a:off x="640080" y="1828800"/>
            <a:ext cx="384048" cy="384048"/>
          </a:xfrm>
          <a:prstGeom prst="ellipse">
            <a:avLst/>
          </a:prstGeom>
          <a:solidFill>
            <a:srgbClr val="C9922A"/>
          </a:solidFill>
          <a:ln/>
        </p:spPr>
      </p:sp>
      <p:pic>
        <p:nvPicPr>
          <p:cNvPr id="6" name="Image 0" descr="/home/claude/dwdeck/icons/server.png"/>
          <p:cNvPicPr>
            <a:picLocks noChangeAspect="1"/>
          </p:cNvPicPr>
          <p:nvPr/>
        </p:nvPicPr>
        <p:blipFill>
          <a:blip r:embed="rId3"/>
          <a:stretch>
            <a:fillRect/>
          </a:stretch>
        </p:blipFill>
        <p:spPr>
          <a:xfrm>
            <a:off x="731520" y="1920240"/>
            <a:ext cx="201168" cy="201168"/>
          </a:xfrm>
          <a:prstGeom prst="rect">
            <a:avLst/>
          </a:prstGeom>
        </p:spPr>
      </p:pic>
      <p:sp>
        <p:nvSpPr>
          <p:cNvPr id="7" name="Text 4"/>
          <p:cNvSpPr/>
          <p:nvPr/>
        </p:nvSpPr>
        <p:spPr>
          <a:xfrm>
            <a:off x="1188720" y="1828800"/>
            <a:ext cx="4937760" cy="384048"/>
          </a:xfrm>
          <a:prstGeom prst="rect">
            <a:avLst/>
          </a:prstGeom>
          <a:noFill/>
          <a:ln/>
        </p:spPr>
        <p:txBody>
          <a:bodyPr wrap="square" lIns="0" tIns="0" rIns="0" bIns="0" rtlCol="0" anchor="ctr"/>
          <a:lstStyle/>
          <a:p>
            <a:pPr marL="0" indent="0">
              <a:buNone/>
            </a:pPr>
            <a:r>
              <a:rPr lang="en-US" sz="1150" dirty="0">
                <a:solidFill>
                  <a:srgbClr val="B9C4DA"/>
                </a:solidFill>
                <a:latin typeface="Calibri" pitchFamily="34" charset="0"/>
                <a:ea typeface="Calibri" pitchFamily="34" charset="-122"/>
                <a:cs typeface="Calibri" pitchFamily="34" charset="-120"/>
              </a:rPr>
              <a:t>Express REST APIs handle validation, business logic and error responses</a:t>
            </a:r>
            <a:endParaRPr lang="en-US" sz="1150" dirty="0"/>
          </a:p>
        </p:txBody>
      </p:sp>
      <p:sp>
        <p:nvSpPr>
          <p:cNvPr id="8" name="Shape 5"/>
          <p:cNvSpPr/>
          <p:nvPr/>
        </p:nvSpPr>
        <p:spPr>
          <a:xfrm>
            <a:off x="640080" y="2331720"/>
            <a:ext cx="384048" cy="384048"/>
          </a:xfrm>
          <a:prstGeom prst="ellipse">
            <a:avLst/>
          </a:prstGeom>
          <a:solidFill>
            <a:srgbClr val="C9922A"/>
          </a:solidFill>
          <a:ln/>
        </p:spPr>
      </p:sp>
      <p:pic>
        <p:nvPicPr>
          <p:cNvPr id="9" name="Image 1" descr="/home/claude/dwdeck/icons/database.png"/>
          <p:cNvPicPr>
            <a:picLocks noChangeAspect="1"/>
          </p:cNvPicPr>
          <p:nvPr/>
        </p:nvPicPr>
        <p:blipFill>
          <a:blip r:embed="rId4"/>
          <a:stretch>
            <a:fillRect/>
          </a:stretch>
        </p:blipFill>
        <p:spPr>
          <a:xfrm>
            <a:off x="731520" y="2423160"/>
            <a:ext cx="201168" cy="201168"/>
          </a:xfrm>
          <a:prstGeom prst="rect">
            <a:avLst/>
          </a:prstGeom>
        </p:spPr>
      </p:pic>
      <p:sp>
        <p:nvSpPr>
          <p:cNvPr id="10" name="Text 6"/>
          <p:cNvSpPr/>
          <p:nvPr/>
        </p:nvSpPr>
        <p:spPr>
          <a:xfrm>
            <a:off x="1188720" y="2331720"/>
            <a:ext cx="4937760" cy="384048"/>
          </a:xfrm>
          <a:prstGeom prst="rect">
            <a:avLst/>
          </a:prstGeom>
          <a:noFill/>
          <a:ln/>
        </p:spPr>
        <p:txBody>
          <a:bodyPr wrap="square" lIns="0" tIns="0" rIns="0" bIns="0" rtlCol="0" anchor="ctr"/>
          <a:lstStyle/>
          <a:p>
            <a:pPr marL="0" indent="0">
              <a:buNone/>
            </a:pPr>
            <a:r>
              <a:rPr lang="en-US" sz="1150" dirty="0">
                <a:solidFill>
                  <a:srgbClr val="B9C4DA"/>
                </a:solidFill>
                <a:latin typeface="Calibri" pitchFamily="34" charset="0"/>
                <a:ea typeface="Calibri" pitchFamily="34" charset="-122"/>
                <a:cs typeface="Calibri" pitchFamily="34" charset="-120"/>
              </a:rPr>
              <a:t>Supabase integration performs the underlying database operations</a:t>
            </a:r>
            <a:endParaRPr lang="en-US" sz="1150" dirty="0"/>
          </a:p>
        </p:txBody>
      </p:sp>
      <p:sp>
        <p:nvSpPr>
          <p:cNvPr id="11" name="Shape 7"/>
          <p:cNvSpPr/>
          <p:nvPr/>
        </p:nvSpPr>
        <p:spPr>
          <a:xfrm>
            <a:off x="640080" y="2834640"/>
            <a:ext cx="384048" cy="384048"/>
          </a:xfrm>
          <a:prstGeom prst="ellipse">
            <a:avLst/>
          </a:prstGeom>
          <a:solidFill>
            <a:srgbClr val="C9922A"/>
          </a:solidFill>
          <a:ln/>
        </p:spPr>
      </p:sp>
      <p:pic>
        <p:nvPicPr>
          <p:cNvPr id="12" name="Image 2" descr="/home/claude/dwdeck/icons/refreshcw.png"/>
          <p:cNvPicPr>
            <a:picLocks noChangeAspect="1"/>
          </p:cNvPicPr>
          <p:nvPr/>
        </p:nvPicPr>
        <p:blipFill>
          <a:blip r:embed="rId5"/>
          <a:stretch>
            <a:fillRect/>
          </a:stretch>
        </p:blipFill>
        <p:spPr>
          <a:xfrm>
            <a:off x="731520" y="2926080"/>
            <a:ext cx="201168" cy="201168"/>
          </a:xfrm>
          <a:prstGeom prst="rect">
            <a:avLst/>
          </a:prstGeom>
        </p:spPr>
      </p:pic>
      <p:sp>
        <p:nvSpPr>
          <p:cNvPr id="13" name="Text 8"/>
          <p:cNvSpPr/>
          <p:nvPr/>
        </p:nvSpPr>
        <p:spPr>
          <a:xfrm>
            <a:off x="1188720" y="2834640"/>
            <a:ext cx="4937760" cy="384048"/>
          </a:xfrm>
          <a:prstGeom prst="rect">
            <a:avLst/>
          </a:prstGeom>
          <a:noFill/>
          <a:ln/>
        </p:spPr>
        <p:txBody>
          <a:bodyPr wrap="square" lIns="0" tIns="0" rIns="0" bIns="0" rtlCol="0" anchor="ctr"/>
          <a:lstStyle/>
          <a:p>
            <a:pPr marL="0" indent="0">
              <a:buNone/>
            </a:pPr>
            <a:r>
              <a:rPr lang="en-US" sz="1150" dirty="0">
                <a:solidFill>
                  <a:srgbClr val="B9C4DA"/>
                </a:solidFill>
                <a:latin typeface="Calibri" pitchFamily="34" charset="0"/>
                <a:ea typeface="Calibri" pitchFamily="34" charset="-122"/>
                <a:cs typeface="Calibri" pitchFamily="34" charset="-120"/>
              </a:rPr>
              <a:t>Async request handling throughout, with graceful error states in the UI</a:t>
            </a:r>
            <a:endParaRPr lang="en-US" sz="1150" dirty="0"/>
          </a:p>
        </p:txBody>
      </p:sp>
      <p:sp>
        <p:nvSpPr>
          <p:cNvPr id="14" name="Shape 9"/>
          <p:cNvSpPr/>
          <p:nvPr/>
        </p:nvSpPr>
        <p:spPr>
          <a:xfrm>
            <a:off x="6309360" y="1463040"/>
            <a:ext cx="5239512" cy="4526280"/>
          </a:xfrm>
          <a:prstGeom prst="roundRect">
            <a:avLst>
              <a:gd name="adj" fmla="val 1818"/>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15" name="Shape 10"/>
          <p:cNvSpPr/>
          <p:nvPr/>
        </p:nvSpPr>
        <p:spPr>
          <a:xfrm>
            <a:off x="6583680" y="1691640"/>
            <a:ext cx="502920" cy="502920"/>
          </a:xfrm>
          <a:prstGeom prst="ellipse">
            <a:avLst/>
          </a:prstGeom>
          <a:solidFill>
            <a:srgbClr val="0D2545"/>
          </a:solidFill>
          <a:ln/>
        </p:spPr>
      </p:sp>
      <p:pic>
        <p:nvPicPr>
          <p:cNvPr id="16" name="Image 3" descr="/home/claude/dwdeck/icons/key.png"/>
          <p:cNvPicPr>
            <a:picLocks noChangeAspect="1"/>
          </p:cNvPicPr>
          <p:nvPr/>
        </p:nvPicPr>
        <p:blipFill>
          <a:blip r:embed="rId6"/>
          <a:stretch>
            <a:fillRect/>
          </a:stretch>
        </p:blipFill>
        <p:spPr>
          <a:xfrm>
            <a:off x="6702552" y="1810512"/>
            <a:ext cx="265176" cy="265176"/>
          </a:xfrm>
          <a:prstGeom prst="rect">
            <a:avLst/>
          </a:prstGeom>
        </p:spPr>
      </p:pic>
      <p:sp>
        <p:nvSpPr>
          <p:cNvPr id="17" name="Text 11"/>
          <p:cNvSpPr/>
          <p:nvPr/>
        </p:nvSpPr>
        <p:spPr>
          <a:xfrm>
            <a:off x="7223760" y="1691640"/>
            <a:ext cx="4114800" cy="5029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JWT Authentication Flow</a:t>
            </a:r>
            <a:endParaRPr lang="en-US" sz="1500" dirty="0"/>
          </a:p>
        </p:txBody>
      </p:sp>
      <p:sp>
        <p:nvSpPr>
          <p:cNvPr id="18" name="Text 12"/>
          <p:cNvSpPr/>
          <p:nvPr/>
        </p:nvSpPr>
        <p:spPr>
          <a:xfrm>
            <a:off x="6583680" y="2377440"/>
            <a:ext cx="320040" cy="457200"/>
          </a:xfrm>
          <a:prstGeom prst="rect">
            <a:avLst/>
          </a:prstGeom>
          <a:noFill/>
          <a:ln/>
        </p:spPr>
        <p:txBody>
          <a:bodyPr wrap="square" lIns="0" tIns="0" rIns="0" bIns="0" rtlCol="0" anchor="ctr"/>
          <a:lstStyle/>
          <a:p>
            <a:pPr marL="0" indent="0">
              <a:buNone/>
            </a:pPr>
            <a:r>
              <a:rPr lang="en-US" sz="1300" b="1" dirty="0">
                <a:solidFill>
                  <a:srgbClr val="F0C96A"/>
                </a:solidFill>
                <a:latin typeface="Calibri" pitchFamily="34" charset="0"/>
                <a:ea typeface="Calibri" pitchFamily="34" charset="-122"/>
                <a:cs typeface="Calibri" pitchFamily="34" charset="-120"/>
              </a:rPr>
              <a:t>1</a:t>
            </a:r>
            <a:endParaRPr lang="en-US" sz="1300" dirty="0"/>
          </a:p>
        </p:txBody>
      </p:sp>
      <p:sp>
        <p:nvSpPr>
          <p:cNvPr id="19" name="Text 13"/>
          <p:cNvSpPr/>
          <p:nvPr/>
        </p:nvSpPr>
        <p:spPr>
          <a:xfrm>
            <a:off x="6949440" y="2377440"/>
            <a:ext cx="4434840" cy="502920"/>
          </a:xfrm>
          <a:prstGeom prst="rect">
            <a:avLst/>
          </a:prstGeom>
          <a:noFill/>
          <a:ln/>
        </p:spPr>
        <p:txBody>
          <a:bodyPr wrap="square" lIns="0" tIns="0" rIns="0" bIns="0" rtlCol="0" anchor="t"/>
          <a:lstStyle/>
          <a:p>
            <a:pPr marL="0" indent="0">
              <a:lnSpc>
                <a:spcPct val="110000"/>
              </a:lnSpc>
              <a:buNone/>
            </a:pPr>
            <a:r>
              <a:rPr lang="en-US" sz="1100" dirty="0">
                <a:solidFill>
                  <a:srgbClr val="B9C4DA"/>
                </a:solidFill>
                <a:latin typeface="Calibri" pitchFamily="34" charset="0"/>
                <a:ea typeface="Calibri" pitchFamily="34" charset="-122"/>
                <a:cs typeface="Calibri" pitchFamily="34" charset="-120"/>
              </a:rPr>
              <a:t>Admin submits credentials on the login form</a:t>
            </a:r>
            <a:endParaRPr lang="en-US" sz="1100" dirty="0"/>
          </a:p>
        </p:txBody>
      </p:sp>
      <p:sp>
        <p:nvSpPr>
          <p:cNvPr id="20" name="Text 14"/>
          <p:cNvSpPr/>
          <p:nvPr/>
        </p:nvSpPr>
        <p:spPr>
          <a:xfrm>
            <a:off x="6583680" y="2953512"/>
            <a:ext cx="320040" cy="457200"/>
          </a:xfrm>
          <a:prstGeom prst="rect">
            <a:avLst/>
          </a:prstGeom>
          <a:noFill/>
          <a:ln/>
        </p:spPr>
        <p:txBody>
          <a:bodyPr wrap="square" lIns="0" tIns="0" rIns="0" bIns="0" rtlCol="0" anchor="ctr"/>
          <a:lstStyle/>
          <a:p>
            <a:pPr marL="0" indent="0">
              <a:buNone/>
            </a:pPr>
            <a:r>
              <a:rPr lang="en-US" sz="1300" b="1" dirty="0">
                <a:solidFill>
                  <a:srgbClr val="F0C96A"/>
                </a:solidFill>
                <a:latin typeface="Calibri" pitchFamily="34" charset="0"/>
                <a:ea typeface="Calibri" pitchFamily="34" charset="-122"/>
                <a:cs typeface="Calibri" pitchFamily="34" charset="-120"/>
              </a:rPr>
              <a:t>2</a:t>
            </a:r>
            <a:endParaRPr lang="en-US" sz="1300" dirty="0"/>
          </a:p>
        </p:txBody>
      </p:sp>
      <p:sp>
        <p:nvSpPr>
          <p:cNvPr id="21" name="Text 15"/>
          <p:cNvSpPr/>
          <p:nvPr/>
        </p:nvSpPr>
        <p:spPr>
          <a:xfrm>
            <a:off x="6949440" y="2953512"/>
            <a:ext cx="4434840" cy="502920"/>
          </a:xfrm>
          <a:prstGeom prst="rect">
            <a:avLst/>
          </a:prstGeom>
          <a:noFill/>
          <a:ln/>
        </p:spPr>
        <p:txBody>
          <a:bodyPr wrap="square" lIns="0" tIns="0" rIns="0" bIns="0" rtlCol="0" anchor="t"/>
          <a:lstStyle/>
          <a:p>
            <a:pPr marL="0" indent="0">
              <a:lnSpc>
                <a:spcPct val="110000"/>
              </a:lnSpc>
              <a:buNone/>
            </a:pPr>
            <a:r>
              <a:rPr lang="en-US" sz="1100" dirty="0">
                <a:solidFill>
                  <a:srgbClr val="B9C4DA"/>
                </a:solidFill>
                <a:latin typeface="Calibri" pitchFamily="34" charset="0"/>
                <a:ea typeface="Calibri" pitchFamily="34" charset="-122"/>
                <a:cs typeface="Calibri" pitchFamily="34" charset="-120"/>
              </a:rPr>
              <a:t>Server verifies and issues a signed JWT</a:t>
            </a:r>
            <a:endParaRPr lang="en-US" sz="1100" dirty="0"/>
          </a:p>
        </p:txBody>
      </p:sp>
      <p:sp>
        <p:nvSpPr>
          <p:cNvPr id="22" name="Text 16"/>
          <p:cNvSpPr/>
          <p:nvPr/>
        </p:nvSpPr>
        <p:spPr>
          <a:xfrm>
            <a:off x="6583680" y="3529584"/>
            <a:ext cx="320040" cy="457200"/>
          </a:xfrm>
          <a:prstGeom prst="rect">
            <a:avLst/>
          </a:prstGeom>
          <a:noFill/>
          <a:ln/>
        </p:spPr>
        <p:txBody>
          <a:bodyPr wrap="square" lIns="0" tIns="0" rIns="0" bIns="0" rtlCol="0" anchor="ctr"/>
          <a:lstStyle/>
          <a:p>
            <a:pPr marL="0" indent="0">
              <a:buNone/>
            </a:pPr>
            <a:r>
              <a:rPr lang="en-US" sz="1300" b="1" dirty="0">
                <a:solidFill>
                  <a:srgbClr val="F0C96A"/>
                </a:solidFill>
                <a:latin typeface="Calibri" pitchFamily="34" charset="0"/>
                <a:ea typeface="Calibri" pitchFamily="34" charset="-122"/>
                <a:cs typeface="Calibri" pitchFamily="34" charset="-120"/>
              </a:rPr>
              <a:t>3</a:t>
            </a:r>
            <a:endParaRPr lang="en-US" sz="1300" dirty="0"/>
          </a:p>
        </p:txBody>
      </p:sp>
      <p:sp>
        <p:nvSpPr>
          <p:cNvPr id="23" name="Text 17"/>
          <p:cNvSpPr/>
          <p:nvPr/>
        </p:nvSpPr>
        <p:spPr>
          <a:xfrm>
            <a:off x="6949440" y="3529584"/>
            <a:ext cx="4434840" cy="502920"/>
          </a:xfrm>
          <a:prstGeom prst="rect">
            <a:avLst/>
          </a:prstGeom>
          <a:noFill/>
          <a:ln/>
        </p:spPr>
        <p:txBody>
          <a:bodyPr wrap="square" lIns="0" tIns="0" rIns="0" bIns="0" rtlCol="0" anchor="t"/>
          <a:lstStyle/>
          <a:p>
            <a:pPr marL="0" indent="0">
              <a:lnSpc>
                <a:spcPct val="110000"/>
              </a:lnSpc>
              <a:buNone/>
            </a:pPr>
            <a:r>
              <a:rPr lang="en-US" sz="1100" dirty="0">
                <a:solidFill>
                  <a:srgbClr val="B9C4DA"/>
                </a:solidFill>
                <a:latin typeface="Calibri" pitchFamily="34" charset="0"/>
                <a:ea typeface="Calibri" pitchFamily="34" charset="-122"/>
                <a:cs typeface="Calibri" pitchFamily="34" charset="-120"/>
              </a:rPr>
              <a:t>Token is stored in an HttpOnly cookie, not local storage</a:t>
            </a:r>
            <a:endParaRPr lang="en-US" sz="1100" dirty="0"/>
          </a:p>
        </p:txBody>
      </p:sp>
      <p:sp>
        <p:nvSpPr>
          <p:cNvPr id="24" name="Text 18"/>
          <p:cNvSpPr/>
          <p:nvPr/>
        </p:nvSpPr>
        <p:spPr>
          <a:xfrm>
            <a:off x="6583680" y="4105656"/>
            <a:ext cx="320040" cy="457200"/>
          </a:xfrm>
          <a:prstGeom prst="rect">
            <a:avLst/>
          </a:prstGeom>
          <a:noFill/>
          <a:ln/>
        </p:spPr>
        <p:txBody>
          <a:bodyPr wrap="square" lIns="0" tIns="0" rIns="0" bIns="0" rtlCol="0" anchor="ctr"/>
          <a:lstStyle/>
          <a:p>
            <a:pPr marL="0" indent="0">
              <a:buNone/>
            </a:pPr>
            <a:r>
              <a:rPr lang="en-US" sz="1300" b="1" dirty="0">
                <a:solidFill>
                  <a:srgbClr val="F0C96A"/>
                </a:solidFill>
                <a:latin typeface="Calibri" pitchFamily="34" charset="0"/>
                <a:ea typeface="Calibri" pitchFamily="34" charset="-122"/>
                <a:cs typeface="Calibri" pitchFamily="34" charset="-120"/>
              </a:rPr>
              <a:t>4</a:t>
            </a:r>
            <a:endParaRPr lang="en-US" sz="1300" dirty="0"/>
          </a:p>
        </p:txBody>
      </p:sp>
      <p:sp>
        <p:nvSpPr>
          <p:cNvPr id="25" name="Text 19"/>
          <p:cNvSpPr/>
          <p:nvPr/>
        </p:nvSpPr>
        <p:spPr>
          <a:xfrm>
            <a:off x="6949440" y="4105656"/>
            <a:ext cx="4434840" cy="502920"/>
          </a:xfrm>
          <a:prstGeom prst="rect">
            <a:avLst/>
          </a:prstGeom>
          <a:noFill/>
          <a:ln/>
        </p:spPr>
        <p:txBody>
          <a:bodyPr wrap="square" lIns="0" tIns="0" rIns="0" bIns="0" rtlCol="0" anchor="t"/>
          <a:lstStyle/>
          <a:p>
            <a:pPr marL="0" indent="0">
              <a:lnSpc>
                <a:spcPct val="110000"/>
              </a:lnSpc>
              <a:buNone/>
            </a:pPr>
            <a:r>
              <a:rPr lang="en-US" sz="1100" dirty="0">
                <a:solidFill>
                  <a:srgbClr val="B9C4DA"/>
                </a:solidFill>
                <a:latin typeface="Calibri" pitchFamily="34" charset="0"/>
                <a:ea typeface="Calibri" pitchFamily="34" charset="-122"/>
                <a:cs typeface="Calibri" pitchFamily="34" charset="-120"/>
              </a:rPr>
              <a:t>Frontend redirects to the dashboard on success</a:t>
            </a:r>
            <a:endParaRPr lang="en-US" sz="1100" dirty="0"/>
          </a:p>
        </p:txBody>
      </p:sp>
      <p:sp>
        <p:nvSpPr>
          <p:cNvPr id="26" name="Text 20"/>
          <p:cNvSpPr/>
          <p:nvPr/>
        </p:nvSpPr>
        <p:spPr>
          <a:xfrm>
            <a:off x="6583680" y="4681728"/>
            <a:ext cx="320040" cy="457200"/>
          </a:xfrm>
          <a:prstGeom prst="rect">
            <a:avLst/>
          </a:prstGeom>
          <a:noFill/>
          <a:ln/>
        </p:spPr>
        <p:txBody>
          <a:bodyPr wrap="square" lIns="0" tIns="0" rIns="0" bIns="0" rtlCol="0" anchor="ctr"/>
          <a:lstStyle/>
          <a:p>
            <a:pPr marL="0" indent="0">
              <a:buNone/>
            </a:pPr>
            <a:r>
              <a:rPr lang="en-US" sz="1300" b="1" dirty="0">
                <a:solidFill>
                  <a:srgbClr val="F0C96A"/>
                </a:solidFill>
                <a:latin typeface="Calibri" pitchFamily="34" charset="0"/>
                <a:ea typeface="Calibri" pitchFamily="34" charset="-122"/>
                <a:cs typeface="Calibri" pitchFamily="34" charset="-120"/>
              </a:rPr>
              <a:t>5</a:t>
            </a:r>
            <a:endParaRPr lang="en-US" sz="1300" dirty="0"/>
          </a:p>
        </p:txBody>
      </p:sp>
      <p:sp>
        <p:nvSpPr>
          <p:cNvPr id="27" name="Text 21"/>
          <p:cNvSpPr/>
          <p:nvPr/>
        </p:nvSpPr>
        <p:spPr>
          <a:xfrm>
            <a:off x="6949440" y="4681728"/>
            <a:ext cx="4434840" cy="502920"/>
          </a:xfrm>
          <a:prstGeom prst="rect">
            <a:avLst/>
          </a:prstGeom>
          <a:noFill/>
          <a:ln/>
        </p:spPr>
        <p:txBody>
          <a:bodyPr wrap="square" lIns="0" tIns="0" rIns="0" bIns="0" rtlCol="0" anchor="t"/>
          <a:lstStyle/>
          <a:p>
            <a:pPr marL="0" indent="0">
              <a:lnSpc>
                <a:spcPct val="110000"/>
              </a:lnSpc>
              <a:buNone/>
            </a:pPr>
            <a:r>
              <a:rPr lang="en-US" sz="1100" dirty="0">
                <a:solidFill>
                  <a:srgbClr val="B9C4DA"/>
                </a:solidFill>
                <a:latin typeface="Calibri" pitchFamily="34" charset="0"/>
                <a:ea typeface="Calibri" pitchFamily="34" charset="-122"/>
                <a:cs typeface="Calibri" pitchFamily="34" charset="-120"/>
              </a:rPr>
              <a:t>Invalid credentials trigger a precise inline error state</a:t>
            </a:r>
            <a:endParaRPr lang="en-US" sz="1100" dirty="0"/>
          </a:p>
        </p:txBody>
      </p:sp>
      <p:sp>
        <p:nvSpPr>
          <p:cNvPr id="28" name="Text 22"/>
          <p:cNvSpPr/>
          <p:nvPr/>
        </p:nvSpPr>
        <p:spPr>
          <a:xfrm>
            <a:off x="6583680" y="5303520"/>
            <a:ext cx="4709160" cy="594360"/>
          </a:xfrm>
          <a:prstGeom prst="rect">
            <a:avLst/>
          </a:prstGeom>
          <a:noFill/>
          <a:ln/>
        </p:spPr>
        <p:txBody>
          <a:bodyPr wrap="square" lIns="0" tIns="0" rIns="0" bIns="0" rtlCol="0" anchor="t"/>
          <a:lstStyle/>
          <a:p>
            <a:pPr marL="0" indent="0">
              <a:lnSpc>
                <a:spcPct val="115000"/>
              </a:lnSpc>
              <a:buNone/>
            </a:pPr>
            <a:r>
              <a:rPr lang="en-US" sz="1000" i="1" dirty="0">
                <a:solidFill>
                  <a:srgbClr val="8695B3"/>
                </a:solidFill>
                <a:latin typeface="Calibri" pitchFamily="34" charset="0"/>
                <a:ea typeface="Calibri" pitchFamily="34" charset="-122"/>
                <a:cs typeface="Calibri" pitchFamily="34" charset="-120"/>
              </a:rPr>
              <a:t>HttpOnly cookies keep the token unreadable to client side scripts, closing off a common XSS token theft vector.</a:t>
            </a:r>
            <a:endParaRPr lang="en-US" sz="1000" dirty="0"/>
          </a:p>
        </p:txBody>
      </p:sp>
      <p:sp>
        <p:nvSpPr>
          <p:cNvPr id="29" name="Text 23"/>
          <p:cNvSpPr/>
          <p:nvPr/>
        </p:nvSpPr>
        <p:spPr>
          <a:xfrm>
            <a:off x="640080" y="6528816"/>
            <a:ext cx="5486400" cy="256032"/>
          </a:xfrm>
          <a:prstGeom prst="rect">
            <a:avLst/>
          </a:prstGeom>
          <a:noFill/>
          <a:ln/>
        </p:spPr>
        <p:txBody>
          <a:bodyPr wrap="square" lIns="0" tIns="0" rIns="0" bIns="0" rtlCol="0" anchor="ctr"/>
          <a:lstStyle/>
          <a:p>
            <a:pPr marL="0" indent="0">
              <a:buNone/>
            </a:pPr>
            <a:r>
              <a:rPr lang="en-US" sz="900" dirty="0">
                <a:solidFill>
                  <a:srgbClr val="8695B3"/>
                </a:solidFill>
                <a:latin typeface="Calibri" pitchFamily="34" charset="0"/>
                <a:ea typeface="Calibri" pitchFamily="34" charset="-122"/>
                <a:cs typeface="Calibri" pitchFamily="34" charset="-120"/>
              </a:rPr>
              <a:t>Drishti Wealth Financial Advisory Platform</a:t>
            </a:r>
            <a:endParaRPr lang="en-US" sz="900" dirty="0"/>
          </a:p>
        </p:txBody>
      </p:sp>
      <p:sp>
        <p:nvSpPr>
          <p:cNvPr id="30" name="Shape 24"/>
          <p:cNvSpPr/>
          <p:nvPr/>
        </p:nvSpPr>
        <p:spPr>
          <a:xfrm>
            <a:off x="11292840" y="6583680"/>
            <a:ext cx="54864" cy="54864"/>
          </a:xfrm>
          <a:prstGeom prst="ellipse">
            <a:avLst/>
          </a:prstGeom>
          <a:solidFill>
            <a:srgbClr val="C9922A"/>
          </a:solidFill>
          <a:ln/>
        </p:spPr>
      </p:sp>
      <p:sp>
        <p:nvSpPr>
          <p:cNvPr id="31" name="Text 25"/>
          <p:cNvSpPr/>
          <p:nvPr/>
        </p:nvSpPr>
        <p:spPr>
          <a:xfrm>
            <a:off x="11430000" y="6528816"/>
            <a:ext cx="365760" cy="256032"/>
          </a:xfrm>
          <a:prstGeom prst="rect">
            <a:avLst/>
          </a:prstGeom>
          <a:noFill/>
          <a:ln/>
        </p:spPr>
        <p:txBody>
          <a:bodyPr wrap="square" lIns="0" tIns="0" rIns="0" bIns="0" rtlCol="0" anchor="ctr"/>
          <a:lstStyle/>
          <a:p>
            <a:pPr marL="0" indent="0" algn="r">
              <a:buNone/>
            </a:pPr>
            <a:r>
              <a:rPr lang="en-US" sz="900" dirty="0">
                <a:solidFill>
                  <a:srgbClr val="8695B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2545"/>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marL="0" indent="0">
              <a:buNone/>
            </a:pPr>
            <a:r>
              <a:rPr lang="en-US" sz="1150" b="1" kern="0" spc="200" dirty="0">
                <a:solidFill>
                  <a:srgbClr val="C9922A"/>
                </a:solidFill>
                <a:latin typeface="Calibri" pitchFamily="34" charset="0"/>
                <a:ea typeface="Calibri" pitchFamily="34" charset="-122"/>
                <a:cs typeface="Calibri" pitchFamily="34" charset="-120"/>
              </a:rPr>
              <a:t>DATA MODELING</a:t>
            </a:r>
            <a:endParaRPr lang="en-US" sz="1150" dirty="0"/>
          </a:p>
        </p:txBody>
      </p:sp>
      <p:sp>
        <p:nvSpPr>
          <p:cNvPr id="3" name="Text 1"/>
          <p:cNvSpPr/>
          <p:nvPr/>
        </p:nvSpPr>
        <p:spPr>
          <a:xfrm>
            <a:off x="640080" y="713232"/>
            <a:ext cx="996696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Database Design</a:t>
            </a:r>
            <a:endParaRPr lang="en-US" sz="2800" dirty="0"/>
          </a:p>
        </p:txBody>
      </p:sp>
      <p:sp>
        <p:nvSpPr>
          <p:cNvPr id="4" name="Shape 2"/>
          <p:cNvSpPr/>
          <p:nvPr/>
        </p:nvSpPr>
        <p:spPr>
          <a:xfrm>
            <a:off x="640080" y="1508760"/>
            <a:ext cx="3502152" cy="2514600"/>
          </a:xfrm>
          <a:prstGeom prst="roundRect">
            <a:avLst>
              <a:gd name="adj" fmla="val 3273"/>
            </a:avLst>
          </a:prstGeom>
          <a:solidFill>
            <a:srgbClr val="183052"/>
          </a:solidFill>
          <a:ln w="12700">
            <a:solidFill>
              <a:srgbClr val="2E4A73"/>
            </a:solidFill>
            <a:prstDash val="solid"/>
          </a:ln>
          <a:effectLst>
            <a:outerShdw blurRad="101600" dist="38100" dir="5400000" algn="bl" rotWithShape="0">
              <a:srgbClr val="000000">
                <a:alpha val="25000"/>
              </a:srgbClr>
            </a:outerShdw>
          </a:effectLst>
        </p:spPr>
      </p:sp>
      <p:sp>
        <p:nvSpPr>
          <p:cNvPr id="5" name="Shape 3"/>
          <p:cNvSpPr/>
          <p:nvPr/>
        </p:nvSpPr>
        <p:spPr>
          <a:xfrm>
            <a:off x="841248" y="1691640"/>
            <a:ext cx="402336" cy="402336"/>
          </a:xfrm>
          <a:prstGeom prst="ellipse">
            <a:avLst/>
          </a:prstGeom>
          <a:solidFill>
            <a:srgbClr val="C9922A"/>
          </a:solidFill>
          <a:ln/>
        </p:spPr>
      </p:sp>
      <p:pic>
        <p:nvPicPr>
          <p:cNvPr id="6" name="Image 0" descr="/home/claude/dwdeck/icons/table.png"/>
          <p:cNvPicPr>
            <a:picLocks noChangeAspect="1"/>
          </p:cNvPicPr>
          <p:nvPr/>
        </p:nvPicPr>
        <p:blipFill>
          <a:blip r:embed="rId3"/>
          <a:stretch>
            <a:fillRect/>
          </a:stretch>
        </p:blipFill>
        <p:spPr>
          <a:xfrm>
            <a:off x="932688" y="1783080"/>
            <a:ext cx="219456" cy="219456"/>
          </a:xfrm>
          <a:prstGeom prst="rect">
            <a:avLst/>
          </a:prstGeom>
        </p:spPr>
      </p:pic>
      <p:sp>
        <p:nvSpPr>
          <p:cNvPr id="7" name="Text 4"/>
          <p:cNvSpPr/>
          <p:nvPr/>
        </p:nvSpPr>
        <p:spPr>
          <a:xfrm>
            <a:off x="1353312" y="1691640"/>
            <a:ext cx="2587752" cy="402336"/>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Leads</a:t>
            </a:r>
            <a:endParaRPr lang="en-US" sz="1350" dirty="0"/>
          </a:p>
        </p:txBody>
      </p:sp>
      <p:sp>
        <p:nvSpPr>
          <p:cNvPr id="8" name="Shape 5"/>
          <p:cNvSpPr/>
          <p:nvPr/>
        </p:nvSpPr>
        <p:spPr>
          <a:xfrm>
            <a:off x="841248" y="2221992"/>
            <a:ext cx="3099816" cy="0"/>
          </a:xfrm>
          <a:prstGeom prst="line">
            <a:avLst/>
          </a:prstGeom>
          <a:noFill/>
          <a:ln w="12700">
            <a:solidFill>
              <a:srgbClr val="2E4A73"/>
            </a:solidFill>
            <a:prstDash val="solid"/>
          </a:ln>
        </p:spPr>
      </p:sp>
      <p:sp>
        <p:nvSpPr>
          <p:cNvPr id="9" name="Shape 6"/>
          <p:cNvSpPr/>
          <p:nvPr/>
        </p:nvSpPr>
        <p:spPr>
          <a:xfrm>
            <a:off x="841248" y="2350008"/>
            <a:ext cx="3099816" cy="292608"/>
          </a:xfrm>
          <a:prstGeom prst="roundRect">
            <a:avLst>
              <a:gd name="adj" fmla="val 15625"/>
            </a:avLst>
          </a:prstGeom>
          <a:solidFill>
            <a:srgbClr val="0A1D38"/>
          </a:solidFill>
          <a:ln w="9525">
            <a:solidFill>
              <a:srgbClr val="2E4A73"/>
            </a:solidFill>
            <a:prstDash val="solid"/>
          </a:ln>
        </p:spPr>
      </p:sp>
      <p:sp>
        <p:nvSpPr>
          <p:cNvPr id="10" name="Text 7"/>
          <p:cNvSpPr/>
          <p:nvPr/>
        </p:nvSpPr>
        <p:spPr>
          <a:xfrm>
            <a:off x="841248" y="2350008"/>
            <a:ext cx="3099816" cy="292608"/>
          </a:xfrm>
          <a:prstGeom prst="rect">
            <a:avLst/>
          </a:prstGeom>
          <a:noFill/>
          <a:ln/>
        </p:spPr>
        <p:txBody>
          <a:bodyPr wrap="square" lIns="0" tIns="0" rIns="0" bIns="0" rtlCol="0" anchor="ctr"/>
          <a:lstStyle/>
          <a:p>
            <a:pPr marL="0" indent="0" algn="l">
              <a:buNone/>
            </a:pPr>
            <a:r>
              <a:rPr lang="en-US" sz="950" dirty="0">
                <a:solidFill>
                  <a:srgbClr val="F0C96A"/>
                </a:solidFill>
                <a:latin typeface="Consolas" pitchFamily="34" charset="0"/>
                <a:ea typeface="Consolas" pitchFamily="34" charset="-122"/>
                <a:cs typeface="Consolas" pitchFamily="34" charset="-120"/>
              </a:rPr>
              <a:t>id</a:t>
            </a:r>
            <a:endParaRPr lang="en-US" sz="950" dirty="0"/>
          </a:p>
        </p:txBody>
      </p:sp>
      <p:sp>
        <p:nvSpPr>
          <p:cNvPr id="11" name="Shape 8"/>
          <p:cNvSpPr/>
          <p:nvPr/>
        </p:nvSpPr>
        <p:spPr>
          <a:xfrm>
            <a:off x="841248" y="2688336"/>
            <a:ext cx="3099816" cy="292608"/>
          </a:xfrm>
          <a:prstGeom prst="roundRect">
            <a:avLst>
              <a:gd name="adj" fmla="val 15625"/>
            </a:avLst>
          </a:prstGeom>
          <a:solidFill>
            <a:srgbClr val="0A1D38"/>
          </a:solidFill>
          <a:ln w="9525">
            <a:solidFill>
              <a:srgbClr val="2E4A73"/>
            </a:solidFill>
            <a:prstDash val="solid"/>
          </a:ln>
        </p:spPr>
      </p:sp>
      <p:sp>
        <p:nvSpPr>
          <p:cNvPr id="12" name="Text 9"/>
          <p:cNvSpPr/>
          <p:nvPr/>
        </p:nvSpPr>
        <p:spPr>
          <a:xfrm>
            <a:off x="841248" y="2688336"/>
            <a:ext cx="3099816" cy="292608"/>
          </a:xfrm>
          <a:prstGeom prst="rect">
            <a:avLst/>
          </a:prstGeom>
          <a:noFill/>
          <a:ln/>
        </p:spPr>
        <p:txBody>
          <a:bodyPr wrap="square" lIns="0" tIns="0" rIns="0" bIns="0" rtlCol="0" anchor="ctr"/>
          <a:lstStyle/>
          <a:p>
            <a:pPr marL="0" indent="0" algn="l">
              <a:buNone/>
            </a:pPr>
            <a:r>
              <a:rPr lang="en-US" sz="950" dirty="0">
                <a:solidFill>
                  <a:srgbClr val="F0C96A"/>
                </a:solidFill>
                <a:latin typeface="Consolas" pitchFamily="34" charset="0"/>
                <a:ea typeface="Consolas" pitchFamily="34" charset="-122"/>
                <a:cs typeface="Consolas" pitchFamily="34" charset="-120"/>
              </a:rPr>
              <a:t>name</a:t>
            </a:r>
            <a:endParaRPr lang="en-US" sz="950" dirty="0"/>
          </a:p>
        </p:txBody>
      </p:sp>
      <p:sp>
        <p:nvSpPr>
          <p:cNvPr id="13" name="Shape 10"/>
          <p:cNvSpPr/>
          <p:nvPr/>
        </p:nvSpPr>
        <p:spPr>
          <a:xfrm>
            <a:off x="841248" y="3026664"/>
            <a:ext cx="3099816" cy="292608"/>
          </a:xfrm>
          <a:prstGeom prst="roundRect">
            <a:avLst>
              <a:gd name="adj" fmla="val 15625"/>
            </a:avLst>
          </a:prstGeom>
          <a:solidFill>
            <a:srgbClr val="0A1D38"/>
          </a:solidFill>
          <a:ln w="9525">
            <a:solidFill>
              <a:srgbClr val="2E4A73"/>
            </a:solidFill>
            <a:prstDash val="solid"/>
          </a:ln>
        </p:spPr>
      </p:sp>
      <p:sp>
        <p:nvSpPr>
          <p:cNvPr id="14" name="Text 11"/>
          <p:cNvSpPr/>
          <p:nvPr/>
        </p:nvSpPr>
        <p:spPr>
          <a:xfrm>
            <a:off x="841248" y="3026664"/>
            <a:ext cx="3099816" cy="292608"/>
          </a:xfrm>
          <a:prstGeom prst="rect">
            <a:avLst/>
          </a:prstGeom>
          <a:noFill/>
          <a:ln/>
        </p:spPr>
        <p:txBody>
          <a:bodyPr wrap="square" lIns="0" tIns="0" rIns="0" bIns="0" rtlCol="0" anchor="ctr"/>
          <a:lstStyle/>
          <a:p>
            <a:pPr marL="0" indent="0" algn="l">
              <a:buNone/>
            </a:pPr>
            <a:r>
              <a:rPr lang="en-US" sz="950" dirty="0">
                <a:solidFill>
                  <a:srgbClr val="F0C96A"/>
                </a:solidFill>
                <a:latin typeface="Consolas" pitchFamily="34" charset="0"/>
                <a:ea typeface="Consolas" pitchFamily="34" charset="-122"/>
                <a:cs typeface="Consolas" pitchFamily="34" charset="-120"/>
              </a:rPr>
              <a:t>email</a:t>
            </a:r>
            <a:endParaRPr lang="en-US" sz="950" dirty="0"/>
          </a:p>
        </p:txBody>
      </p:sp>
      <p:sp>
        <p:nvSpPr>
          <p:cNvPr id="15" name="Shape 12"/>
          <p:cNvSpPr/>
          <p:nvPr/>
        </p:nvSpPr>
        <p:spPr>
          <a:xfrm>
            <a:off x="841248" y="3364992"/>
            <a:ext cx="3099816" cy="292608"/>
          </a:xfrm>
          <a:prstGeom prst="roundRect">
            <a:avLst>
              <a:gd name="adj" fmla="val 15625"/>
            </a:avLst>
          </a:prstGeom>
          <a:solidFill>
            <a:srgbClr val="0A1D38"/>
          </a:solidFill>
          <a:ln w="9525">
            <a:solidFill>
              <a:srgbClr val="2E4A73"/>
            </a:solidFill>
            <a:prstDash val="solid"/>
          </a:ln>
        </p:spPr>
      </p:sp>
      <p:sp>
        <p:nvSpPr>
          <p:cNvPr id="16" name="Text 13"/>
          <p:cNvSpPr/>
          <p:nvPr/>
        </p:nvSpPr>
        <p:spPr>
          <a:xfrm>
            <a:off x="841248" y="3364992"/>
            <a:ext cx="3099816" cy="292608"/>
          </a:xfrm>
          <a:prstGeom prst="rect">
            <a:avLst/>
          </a:prstGeom>
          <a:noFill/>
          <a:ln/>
        </p:spPr>
        <p:txBody>
          <a:bodyPr wrap="square" lIns="0" tIns="0" rIns="0" bIns="0" rtlCol="0" anchor="ctr"/>
          <a:lstStyle/>
          <a:p>
            <a:pPr marL="0" indent="0" algn="l">
              <a:buNone/>
            </a:pPr>
            <a:r>
              <a:rPr lang="en-US" sz="950" dirty="0">
                <a:solidFill>
                  <a:srgbClr val="F0C96A"/>
                </a:solidFill>
                <a:latin typeface="Consolas" pitchFamily="34" charset="0"/>
                <a:ea typeface="Consolas" pitchFamily="34" charset="-122"/>
                <a:cs typeface="Consolas" pitchFamily="34" charset="-120"/>
              </a:rPr>
              <a:t>service_interest</a:t>
            </a:r>
            <a:endParaRPr lang="en-US" sz="950" dirty="0"/>
          </a:p>
        </p:txBody>
      </p:sp>
      <p:sp>
        <p:nvSpPr>
          <p:cNvPr id="17" name="Shape 14"/>
          <p:cNvSpPr/>
          <p:nvPr/>
        </p:nvSpPr>
        <p:spPr>
          <a:xfrm>
            <a:off x="841248" y="3703320"/>
            <a:ext cx="3099816" cy="292608"/>
          </a:xfrm>
          <a:prstGeom prst="roundRect">
            <a:avLst>
              <a:gd name="adj" fmla="val 15625"/>
            </a:avLst>
          </a:prstGeom>
          <a:solidFill>
            <a:srgbClr val="0A1D38"/>
          </a:solidFill>
          <a:ln w="9525">
            <a:solidFill>
              <a:srgbClr val="2E4A73"/>
            </a:solidFill>
            <a:prstDash val="solid"/>
          </a:ln>
        </p:spPr>
      </p:sp>
      <p:sp>
        <p:nvSpPr>
          <p:cNvPr id="18" name="Text 15"/>
          <p:cNvSpPr/>
          <p:nvPr/>
        </p:nvSpPr>
        <p:spPr>
          <a:xfrm>
            <a:off x="841248" y="3703320"/>
            <a:ext cx="3099816" cy="292608"/>
          </a:xfrm>
          <a:prstGeom prst="rect">
            <a:avLst/>
          </a:prstGeom>
          <a:noFill/>
          <a:ln/>
        </p:spPr>
        <p:txBody>
          <a:bodyPr wrap="square" lIns="0" tIns="0" rIns="0" bIns="0" rtlCol="0" anchor="ctr"/>
          <a:lstStyle/>
          <a:p>
            <a:pPr marL="0" indent="0" algn="l">
              <a:buNone/>
            </a:pPr>
            <a:r>
              <a:rPr lang="en-US" sz="950" dirty="0">
                <a:solidFill>
                  <a:srgbClr val="F0C96A"/>
                </a:solidFill>
                <a:latin typeface="Consolas" pitchFamily="34" charset="0"/>
                <a:ea typeface="Consolas" pitchFamily="34" charset="-122"/>
                <a:cs typeface="Consolas" pitchFamily="34" charset="-120"/>
              </a:rPr>
              <a:t>status</a:t>
            </a:r>
            <a:endParaRPr lang="en-US" sz="950" dirty="0"/>
          </a:p>
        </p:txBody>
      </p:sp>
      <p:sp>
        <p:nvSpPr>
          <p:cNvPr id="19" name="Shape 16"/>
          <p:cNvSpPr/>
          <p:nvPr/>
        </p:nvSpPr>
        <p:spPr>
          <a:xfrm>
            <a:off x="4343400" y="1508760"/>
            <a:ext cx="3502152" cy="2514600"/>
          </a:xfrm>
          <a:prstGeom prst="roundRect">
            <a:avLst>
              <a:gd name="adj" fmla="val 3273"/>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20" name="Shape 17"/>
          <p:cNvSpPr/>
          <p:nvPr/>
        </p:nvSpPr>
        <p:spPr>
          <a:xfrm>
            <a:off x="4544568" y="1691640"/>
            <a:ext cx="402336" cy="402336"/>
          </a:xfrm>
          <a:prstGeom prst="ellipse">
            <a:avLst/>
          </a:prstGeom>
          <a:solidFill>
            <a:srgbClr val="C9922A"/>
          </a:solidFill>
          <a:ln/>
        </p:spPr>
      </p:sp>
      <p:pic>
        <p:nvPicPr>
          <p:cNvPr id="21" name="Image 1" descr="/home/claude/dwdeck/icons/table.png"/>
          <p:cNvPicPr>
            <a:picLocks noChangeAspect="1"/>
          </p:cNvPicPr>
          <p:nvPr/>
        </p:nvPicPr>
        <p:blipFill>
          <a:blip r:embed="rId3"/>
          <a:stretch>
            <a:fillRect/>
          </a:stretch>
        </p:blipFill>
        <p:spPr>
          <a:xfrm>
            <a:off x="4636008" y="1783080"/>
            <a:ext cx="219456" cy="219456"/>
          </a:xfrm>
          <a:prstGeom prst="rect">
            <a:avLst/>
          </a:prstGeom>
        </p:spPr>
      </p:pic>
      <p:sp>
        <p:nvSpPr>
          <p:cNvPr id="22" name="Text 18"/>
          <p:cNvSpPr/>
          <p:nvPr/>
        </p:nvSpPr>
        <p:spPr>
          <a:xfrm>
            <a:off x="5056632" y="1691640"/>
            <a:ext cx="2587752" cy="402336"/>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Contact Submissions</a:t>
            </a:r>
            <a:endParaRPr lang="en-US" sz="1350" dirty="0"/>
          </a:p>
        </p:txBody>
      </p:sp>
      <p:sp>
        <p:nvSpPr>
          <p:cNvPr id="23" name="Shape 19"/>
          <p:cNvSpPr/>
          <p:nvPr/>
        </p:nvSpPr>
        <p:spPr>
          <a:xfrm>
            <a:off x="4544568" y="2221992"/>
            <a:ext cx="3099816" cy="0"/>
          </a:xfrm>
          <a:prstGeom prst="line">
            <a:avLst/>
          </a:prstGeom>
          <a:noFill/>
          <a:ln w="12700">
            <a:solidFill>
              <a:srgbClr val="2E4A73"/>
            </a:solidFill>
            <a:prstDash val="solid"/>
          </a:ln>
        </p:spPr>
      </p:sp>
      <p:sp>
        <p:nvSpPr>
          <p:cNvPr id="24" name="Shape 20"/>
          <p:cNvSpPr/>
          <p:nvPr/>
        </p:nvSpPr>
        <p:spPr>
          <a:xfrm>
            <a:off x="4544568" y="2350008"/>
            <a:ext cx="3099816" cy="292608"/>
          </a:xfrm>
          <a:prstGeom prst="roundRect">
            <a:avLst>
              <a:gd name="adj" fmla="val 15625"/>
            </a:avLst>
          </a:prstGeom>
          <a:solidFill>
            <a:srgbClr val="0A1D38"/>
          </a:solidFill>
          <a:ln w="9525">
            <a:solidFill>
              <a:srgbClr val="2E4A73"/>
            </a:solidFill>
            <a:prstDash val="solid"/>
          </a:ln>
        </p:spPr>
      </p:sp>
      <p:sp>
        <p:nvSpPr>
          <p:cNvPr id="25" name="Text 21"/>
          <p:cNvSpPr/>
          <p:nvPr/>
        </p:nvSpPr>
        <p:spPr>
          <a:xfrm>
            <a:off x="4544568" y="2350008"/>
            <a:ext cx="3099816" cy="292608"/>
          </a:xfrm>
          <a:prstGeom prst="rect">
            <a:avLst/>
          </a:prstGeom>
          <a:noFill/>
          <a:ln/>
        </p:spPr>
        <p:txBody>
          <a:bodyPr wrap="square" lIns="0" tIns="0" rIns="0" bIns="0" rtlCol="0" anchor="ctr"/>
          <a:lstStyle/>
          <a:p>
            <a:pPr marL="0" indent="0" algn="l">
              <a:buNone/>
            </a:pPr>
            <a:r>
              <a:rPr lang="en-US" sz="950" dirty="0">
                <a:solidFill>
                  <a:srgbClr val="F0C96A"/>
                </a:solidFill>
                <a:latin typeface="Consolas" pitchFamily="34" charset="0"/>
                <a:ea typeface="Consolas" pitchFamily="34" charset="-122"/>
                <a:cs typeface="Consolas" pitchFamily="34" charset="-120"/>
              </a:rPr>
              <a:t>id</a:t>
            </a:r>
            <a:endParaRPr lang="en-US" sz="950" dirty="0"/>
          </a:p>
        </p:txBody>
      </p:sp>
      <p:sp>
        <p:nvSpPr>
          <p:cNvPr id="26" name="Shape 22"/>
          <p:cNvSpPr/>
          <p:nvPr/>
        </p:nvSpPr>
        <p:spPr>
          <a:xfrm>
            <a:off x="4544568" y="2688336"/>
            <a:ext cx="3099816" cy="292608"/>
          </a:xfrm>
          <a:prstGeom prst="roundRect">
            <a:avLst>
              <a:gd name="adj" fmla="val 15625"/>
            </a:avLst>
          </a:prstGeom>
          <a:solidFill>
            <a:srgbClr val="0A1D38"/>
          </a:solidFill>
          <a:ln w="9525">
            <a:solidFill>
              <a:srgbClr val="2E4A73"/>
            </a:solidFill>
            <a:prstDash val="solid"/>
          </a:ln>
        </p:spPr>
      </p:sp>
      <p:sp>
        <p:nvSpPr>
          <p:cNvPr id="27" name="Text 23"/>
          <p:cNvSpPr/>
          <p:nvPr/>
        </p:nvSpPr>
        <p:spPr>
          <a:xfrm>
            <a:off x="4544568" y="2688336"/>
            <a:ext cx="3099816" cy="292608"/>
          </a:xfrm>
          <a:prstGeom prst="rect">
            <a:avLst/>
          </a:prstGeom>
          <a:noFill/>
          <a:ln/>
        </p:spPr>
        <p:txBody>
          <a:bodyPr wrap="square" lIns="0" tIns="0" rIns="0" bIns="0" rtlCol="0" anchor="ctr"/>
          <a:lstStyle/>
          <a:p>
            <a:pPr marL="0" indent="0" algn="l">
              <a:buNone/>
            </a:pPr>
            <a:r>
              <a:rPr lang="en-US" sz="950" dirty="0">
                <a:solidFill>
                  <a:srgbClr val="F0C96A"/>
                </a:solidFill>
                <a:latin typeface="Consolas" pitchFamily="34" charset="0"/>
                <a:ea typeface="Consolas" pitchFamily="34" charset="-122"/>
                <a:cs typeface="Consolas" pitchFamily="34" charset="-120"/>
              </a:rPr>
              <a:t>lead_id (FK)</a:t>
            </a:r>
            <a:endParaRPr lang="en-US" sz="950" dirty="0"/>
          </a:p>
        </p:txBody>
      </p:sp>
      <p:sp>
        <p:nvSpPr>
          <p:cNvPr id="28" name="Shape 24"/>
          <p:cNvSpPr/>
          <p:nvPr/>
        </p:nvSpPr>
        <p:spPr>
          <a:xfrm>
            <a:off x="4544568" y="3026664"/>
            <a:ext cx="3099816" cy="292608"/>
          </a:xfrm>
          <a:prstGeom prst="roundRect">
            <a:avLst>
              <a:gd name="adj" fmla="val 15625"/>
            </a:avLst>
          </a:prstGeom>
          <a:solidFill>
            <a:srgbClr val="0A1D38"/>
          </a:solidFill>
          <a:ln w="9525">
            <a:solidFill>
              <a:srgbClr val="2E4A73"/>
            </a:solidFill>
            <a:prstDash val="solid"/>
          </a:ln>
        </p:spPr>
      </p:sp>
      <p:sp>
        <p:nvSpPr>
          <p:cNvPr id="29" name="Text 25"/>
          <p:cNvSpPr/>
          <p:nvPr/>
        </p:nvSpPr>
        <p:spPr>
          <a:xfrm>
            <a:off x="4544568" y="3026664"/>
            <a:ext cx="3099816" cy="292608"/>
          </a:xfrm>
          <a:prstGeom prst="rect">
            <a:avLst/>
          </a:prstGeom>
          <a:noFill/>
          <a:ln/>
        </p:spPr>
        <p:txBody>
          <a:bodyPr wrap="square" lIns="0" tIns="0" rIns="0" bIns="0" rtlCol="0" anchor="ctr"/>
          <a:lstStyle/>
          <a:p>
            <a:pPr marL="0" indent="0" algn="l">
              <a:buNone/>
            </a:pPr>
            <a:r>
              <a:rPr lang="en-US" sz="950" dirty="0">
                <a:solidFill>
                  <a:srgbClr val="F0C96A"/>
                </a:solidFill>
                <a:latin typeface="Consolas" pitchFamily="34" charset="0"/>
                <a:ea typeface="Consolas" pitchFamily="34" charset="-122"/>
                <a:cs typeface="Consolas" pitchFamily="34" charset="-120"/>
              </a:rPr>
              <a:t>message</a:t>
            </a:r>
            <a:endParaRPr lang="en-US" sz="950" dirty="0"/>
          </a:p>
        </p:txBody>
      </p:sp>
      <p:sp>
        <p:nvSpPr>
          <p:cNvPr id="30" name="Shape 26"/>
          <p:cNvSpPr/>
          <p:nvPr/>
        </p:nvSpPr>
        <p:spPr>
          <a:xfrm>
            <a:off x="4544568" y="3364992"/>
            <a:ext cx="3099816" cy="292608"/>
          </a:xfrm>
          <a:prstGeom prst="roundRect">
            <a:avLst>
              <a:gd name="adj" fmla="val 15625"/>
            </a:avLst>
          </a:prstGeom>
          <a:solidFill>
            <a:srgbClr val="0A1D38"/>
          </a:solidFill>
          <a:ln w="9525">
            <a:solidFill>
              <a:srgbClr val="2E4A73"/>
            </a:solidFill>
            <a:prstDash val="solid"/>
          </a:ln>
        </p:spPr>
      </p:sp>
      <p:sp>
        <p:nvSpPr>
          <p:cNvPr id="31" name="Text 27"/>
          <p:cNvSpPr/>
          <p:nvPr/>
        </p:nvSpPr>
        <p:spPr>
          <a:xfrm>
            <a:off x="4544568" y="3364992"/>
            <a:ext cx="3099816" cy="292608"/>
          </a:xfrm>
          <a:prstGeom prst="rect">
            <a:avLst/>
          </a:prstGeom>
          <a:noFill/>
          <a:ln/>
        </p:spPr>
        <p:txBody>
          <a:bodyPr wrap="square" lIns="0" tIns="0" rIns="0" bIns="0" rtlCol="0" anchor="ctr"/>
          <a:lstStyle/>
          <a:p>
            <a:pPr marL="0" indent="0" algn="l">
              <a:buNone/>
            </a:pPr>
            <a:r>
              <a:rPr lang="en-US" sz="950" dirty="0">
                <a:solidFill>
                  <a:srgbClr val="F0C96A"/>
                </a:solidFill>
                <a:latin typeface="Consolas" pitchFamily="34" charset="0"/>
                <a:ea typeface="Consolas" pitchFamily="34" charset="-122"/>
                <a:cs typeface="Consolas" pitchFamily="34" charset="-120"/>
              </a:rPr>
              <a:t>source_page</a:t>
            </a:r>
            <a:endParaRPr lang="en-US" sz="950" dirty="0"/>
          </a:p>
        </p:txBody>
      </p:sp>
      <p:sp>
        <p:nvSpPr>
          <p:cNvPr id="32" name="Shape 28"/>
          <p:cNvSpPr/>
          <p:nvPr/>
        </p:nvSpPr>
        <p:spPr>
          <a:xfrm>
            <a:off x="4544568" y="3703320"/>
            <a:ext cx="3099816" cy="292608"/>
          </a:xfrm>
          <a:prstGeom prst="roundRect">
            <a:avLst>
              <a:gd name="adj" fmla="val 15625"/>
            </a:avLst>
          </a:prstGeom>
          <a:solidFill>
            <a:srgbClr val="0A1D38"/>
          </a:solidFill>
          <a:ln w="9525">
            <a:solidFill>
              <a:srgbClr val="2E4A73"/>
            </a:solidFill>
            <a:prstDash val="solid"/>
          </a:ln>
        </p:spPr>
      </p:sp>
      <p:sp>
        <p:nvSpPr>
          <p:cNvPr id="33" name="Text 29"/>
          <p:cNvSpPr/>
          <p:nvPr/>
        </p:nvSpPr>
        <p:spPr>
          <a:xfrm>
            <a:off x="4544568" y="3703320"/>
            <a:ext cx="3099816" cy="292608"/>
          </a:xfrm>
          <a:prstGeom prst="rect">
            <a:avLst/>
          </a:prstGeom>
          <a:noFill/>
          <a:ln/>
        </p:spPr>
        <p:txBody>
          <a:bodyPr wrap="square" lIns="0" tIns="0" rIns="0" bIns="0" rtlCol="0" anchor="ctr"/>
          <a:lstStyle/>
          <a:p>
            <a:pPr marL="0" indent="0" algn="l">
              <a:buNone/>
            </a:pPr>
            <a:r>
              <a:rPr lang="en-US" sz="950" dirty="0">
                <a:solidFill>
                  <a:srgbClr val="F0C96A"/>
                </a:solidFill>
                <a:latin typeface="Consolas" pitchFamily="34" charset="0"/>
                <a:ea typeface="Consolas" pitchFamily="34" charset="-122"/>
                <a:cs typeface="Consolas" pitchFamily="34" charset="-120"/>
              </a:rPr>
              <a:t>submitted_at</a:t>
            </a:r>
            <a:endParaRPr lang="en-US" sz="950" dirty="0"/>
          </a:p>
        </p:txBody>
      </p:sp>
      <p:sp>
        <p:nvSpPr>
          <p:cNvPr id="34" name="Shape 30"/>
          <p:cNvSpPr/>
          <p:nvPr/>
        </p:nvSpPr>
        <p:spPr>
          <a:xfrm>
            <a:off x="8046720" y="1508760"/>
            <a:ext cx="3502152" cy="2514600"/>
          </a:xfrm>
          <a:prstGeom prst="roundRect">
            <a:avLst>
              <a:gd name="adj" fmla="val 3273"/>
            </a:avLst>
          </a:prstGeom>
          <a:solidFill>
            <a:srgbClr val="183052"/>
          </a:solidFill>
          <a:ln w="12700">
            <a:solidFill>
              <a:srgbClr val="2E4A73"/>
            </a:solidFill>
            <a:prstDash val="solid"/>
          </a:ln>
          <a:effectLst>
            <a:outerShdw blurRad="101600" dist="38100" dir="5400000" algn="bl" rotWithShape="0">
              <a:srgbClr val="000000">
                <a:alpha val="25000"/>
              </a:srgbClr>
            </a:outerShdw>
          </a:effectLst>
        </p:spPr>
      </p:sp>
      <p:sp>
        <p:nvSpPr>
          <p:cNvPr id="35" name="Shape 31"/>
          <p:cNvSpPr/>
          <p:nvPr/>
        </p:nvSpPr>
        <p:spPr>
          <a:xfrm>
            <a:off x="8247888" y="1691640"/>
            <a:ext cx="402336" cy="402336"/>
          </a:xfrm>
          <a:prstGeom prst="ellipse">
            <a:avLst/>
          </a:prstGeom>
          <a:solidFill>
            <a:srgbClr val="C9922A"/>
          </a:solidFill>
          <a:ln/>
        </p:spPr>
      </p:sp>
      <p:pic>
        <p:nvPicPr>
          <p:cNvPr id="36" name="Image 2" descr="/home/claude/dwdeck/icons/table.png"/>
          <p:cNvPicPr>
            <a:picLocks noChangeAspect="1"/>
          </p:cNvPicPr>
          <p:nvPr/>
        </p:nvPicPr>
        <p:blipFill>
          <a:blip r:embed="rId3"/>
          <a:stretch>
            <a:fillRect/>
          </a:stretch>
        </p:blipFill>
        <p:spPr>
          <a:xfrm>
            <a:off x="8339328" y="1783080"/>
            <a:ext cx="219456" cy="219456"/>
          </a:xfrm>
          <a:prstGeom prst="rect">
            <a:avLst/>
          </a:prstGeom>
        </p:spPr>
      </p:pic>
      <p:sp>
        <p:nvSpPr>
          <p:cNvPr id="37" name="Text 32"/>
          <p:cNvSpPr/>
          <p:nvPr/>
        </p:nvSpPr>
        <p:spPr>
          <a:xfrm>
            <a:off x="8759952" y="1691640"/>
            <a:ext cx="2587752" cy="402336"/>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Admin Users</a:t>
            </a:r>
            <a:endParaRPr lang="en-US" sz="1350" dirty="0"/>
          </a:p>
        </p:txBody>
      </p:sp>
      <p:sp>
        <p:nvSpPr>
          <p:cNvPr id="38" name="Shape 33"/>
          <p:cNvSpPr/>
          <p:nvPr/>
        </p:nvSpPr>
        <p:spPr>
          <a:xfrm>
            <a:off x="8247888" y="2221992"/>
            <a:ext cx="3099816" cy="0"/>
          </a:xfrm>
          <a:prstGeom prst="line">
            <a:avLst/>
          </a:prstGeom>
          <a:noFill/>
          <a:ln w="12700">
            <a:solidFill>
              <a:srgbClr val="2E4A73"/>
            </a:solidFill>
            <a:prstDash val="solid"/>
          </a:ln>
        </p:spPr>
      </p:sp>
      <p:sp>
        <p:nvSpPr>
          <p:cNvPr id="39" name="Shape 34"/>
          <p:cNvSpPr/>
          <p:nvPr/>
        </p:nvSpPr>
        <p:spPr>
          <a:xfrm>
            <a:off x="8247888" y="2350008"/>
            <a:ext cx="3099816" cy="292608"/>
          </a:xfrm>
          <a:prstGeom prst="roundRect">
            <a:avLst>
              <a:gd name="adj" fmla="val 15625"/>
            </a:avLst>
          </a:prstGeom>
          <a:solidFill>
            <a:srgbClr val="0A1D38"/>
          </a:solidFill>
          <a:ln w="9525">
            <a:solidFill>
              <a:srgbClr val="2E4A73"/>
            </a:solidFill>
            <a:prstDash val="solid"/>
          </a:ln>
        </p:spPr>
      </p:sp>
      <p:sp>
        <p:nvSpPr>
          <p:cNvPr id="40" name="Text 35"/>
          <p:cNvSpPr/>
          <p:nvPr/>
        </p:nvSpPr>
        <p:spPr>
          <a:xfrm>
            <a:off x="8247888" y="2350008"/>
            <a:ext cx="3099816" cy="292608"/>
          </a:xfrm>
          <a:prstGeom prst="rect">
            <a:avLst/>
          </a:prstGeom>
          <a:noFill/>
          <a:ln/>
        </p:spPr>
        <p:txBody>
          <a:bodyPr wrap="square" lIns="0" tIns="0" rIns="0" bIns="0" rtlCol="0" anchor="ctr"/>
          <a:lstStyle/>
          <a:p>
            <a:pPr marL="0" indent="0" algn="l">
              <a:buNone/>
            </a:pPr>
            <a:r>
              <a:rPr lang="en-US" sz="950" dirty="0">
                <a:solidFill>
                  <a:srgbClr val="F0C96A"/>
                </a:solidFill>
                <a:latin typeface="Consolas" pitchFamily="34" charset="0"/>
                <a:ea typeface="Consolas" pitchFamily="34" charset="-122"/>
                <a:cs typeface="Consolas" pitchFamily="34" charset="-120"/>
              </a:rPr>
              <a:t>id</a:t>
            </a:r>
            <a:endParaRPr lang="en-US" sz="950" dirty="0"/>
          </a:p>
        </p:txBody>
      </p:sp>
      <p:sp>
        <p:nvSpPr>
          <p:cNvPr id="41" name="Shape 36"/>
          <p:cNvSpPr/>
          <p:nvPr/>
        </p:nvSpPr>
        <p:spPr>
          <a:xfrm>
            <a:off x="8247888" y="2688336"/>
            <a:ext cx="3099816" cy="292608"/>
          </a:xfrm>
          <a:prstGeom prst="roundRect">
            <a:avLst>
              <a:gd name="adj" fmla="val 15625"/>
            </a:avLst>
          </a:prstGeom>
          <a:solidFill>
            <a:srgbClr val="0A1D38"/>
          </a:solidFill>
          <a:ln w="9525">
            <a:solidFill>
              <a:srgbClr val="2E4A73"/>
            </a:solidFill>
            <a:prstDash val="solid"/>
          </a:ln>
        </p:spPr>
      </p:sp>
      <p:sp>
        <p:nvSpPr>
          <p:cNvPr id="42" name="Text 37"/>
          <p:cNvSpPr/>
          <p:nvPr/>
        </p:nvSpPr>
        <p:spPr>
          <a:xfrm>
            <a:off x="8247888" y="2688336"/>
            <a:ext cx="3099816" cy="292608"/>
          </a:xfrm>
          <a:prstGeom prst="rect">
            <a:avLst/>
          </a:prstGeom>
          <a:noFill/>
          <a:ln/>
        </p:spPr>
        <p:txBody>
          <a:bodyPr wrap="square" lIns="0" tIns="0" rIns="0" bIns="0" rtlCol="0" anchor="ctr"/>
          <a:lstStyle/>
          <a:p>
            <a:pPr marL="0" indent="0" algn="l">
              <a:buNone/>
            </a:pPr>
            <a:r>
              <a:rPr lang="en-US" sz="950" dirty="0">
                <a:solidFill>
                  <a:srgbClr val="F0C96A"/>
                </a:solidFill>
                <a:latin typeface="Consolas" pitchFamily="34" charset="0"/>
                <a:ea typeface="Consolas" pitchFamily="34" charset="-122"/>
                <a:cs typeface="Consolas" pitchFamily="34" charset="-120"/>
              </a:rPr>
              <a:t>email</a:t>
            </a:r>
            <a:endParaRPr lang="en-US" sz="950" dirty="0"/>
          </a:p>
        </p:txBody>
      </p:sp>
      <p:sp>
        <p:nvSpPr>
          <p:cNvPr id="43" name="Shape 38"/>
          <p:cNvSpPr/>
          <p:nvPr/>
        </p:nvSpPr>
        <p:spPr>
          <a:xfrm>
            <a:off x="8247888" y="3026664"/>
            <a:ext cx="3099816" cy="292608"/>
          </a:xfrm>
          <a:prstGeom prst="roundRect">
            <a:avLst>
              <a:gd name="adj" fmla="val 15625"/>
            </a:avLst>
          </a:prstGeom>
          <a:solidFill>
            <a:srgbClr val="0A1D38"/>
          </a:solidFill>
          <a:ln w="9525">
            <a:solidFill>
              <a:srgbClr val="2E4A73"/>
            </a:solidFill>
            <a:prstDash val="solid"/>
          </a:ln>
        </p:spPr>
      </p:sp>
      <p:sp>
        <p:nvSpPr>
          <p:cNvPr id="44" name="Text 39"/>
          <p:cNvSpPr/>
          <p:nvPr/>
        </p:nvSpPr>
        <p:spPr>
          <a:xfrm>
            <a:off x="8247888" y="3026664"/>
            <a:ext cx="3099816" cy="292608"/>
          </a:xfrm>
          <a:prstGeom prst="rect">
            <a:avLst/>
          </a:prstGeom>
          <a:noFill/>
          <a:ln/>
        </p:spPr>
        <p:txBody>
          <a:bodyPr wrap="square" lIns="0" tIns="0" rIns="0" bIns="0" rtlCol="0" anchor="ctr"/>
          <a:lstStyle/>
          <a:p>
            <a:pPr marL="0" indent="0" algn="l">
              <a:buNone/>
            </a:pPr>
            <a:r>
              <a:rPr lang="en-US" sz="950" dirty="0">
                <a:solidFill>
                  <a:srgbClr val="F0C96A"/>
                </a:solidFill>
                <a:latin typeface="Consolas" pitchFamily="34" charset="0"/>
                <a:ea typeface="Consolas" pitchFamily="34" charset="-122"/>
                <a:cs typeface="Consolas" pitchFamily="34" charset="-120"/>
              </a:rPr>
              <a:t>role</a:t>
            </a:r>
            <a:endParaRPr lang="en-US" sz="950" dirty="0"/>
          </a:p>
        </p:txBody>
      </p:sp>
      <p:sp>
        <p:nvSpPr>
          <p:cNvPr id="45" name="Shape 40"/>
          <p:cNvSpPr/>
          <p:nvPr/>
        </p:nvSpPr>
        <p:spPr>
          <a:xfrm>
            <a:off x="8247888" y="3364992"/>
            <a:ext cx="3099816" cy="292608"/>
          </a:xfrm>
          <a:prstGeom prst="roundRect">
            <a:avLst>
              <a:gd name="adj" fmla="val 15625"/>
            </a:avLst>
          </a:prstGeom>
          <a:solidFill>
            <a:srgbClr val="0A1D38"/>
          </a:solidFill>
          <a:ln w="9525">
            <a:solidFill>
              <a:srgbClr val="2E4A73"/>
            </a:solidFill>
            <a:prstDash val="solid"/>
          </a:ln>
        </p:spPr>
      </p:sp>
      <p:sp>
        <p:nvSpPr>
          <p:cNvPr id="46" name="Text 41"/>
          <p:cNvSpPr/>
          <p:nvPr/>
        </p:nvSpPr>
        <p:spPr>
          <a:xfrm>
            <a:off x="8247888" y="3364992"/>
            <a:ext cx="3099816" cy="292608"/>
          </a:xfrm>
          <a:prstGeom prst="rect">
            <a:avLst/>
          </a:prstGeom>
          <a:noFill/>
          <a:ln/>
        </p:spPr>
        <p:txBody>
          <a:bodyPr wrap="square" lIns="0" tIns="0" rIns="0" bIns="0" rtlCol="0" anchor="ctr"/>
          <a:lstStyle/>
          <a:p>
            <a:pPr marL="0" indent="0" algn="l">
              <a:buNone/>
            </a:pPr>
            <a:r>
              <a:rPr lang="en-US" sz="950" dirty="0">
                <a:solidFill>
                  <a:srgbClr val="F0C96A"/>
                </a:solidFill>
                <a:latin typeface="Consolas" pitchFamily="34" charset="0"/>
                <a:ea typeface="Consolas" pitchFamily="34" charset="-122"/>
                <a:cs typeface="Consolas" pitchFamily="34" charset="-120"/>
              </a:rPr>
              <a:t>last_login</a:t>
            </a:r>
            <a:endParaRPr lang="en-US" sz="950" dirty="0"/>
          </a:p>
        </p:txBody>
      </p:sp>
      <p:sp>
        <p:nvSpPr>
          <p:cNvPr id="47" name="Shape 42"/>
          <p:cNvSpPr/>
          <p:nvPr/>
        </p:nvSpPr>
        <p:spPr>
          <a:xfrm>
            <a:off x="4142232" y="2743200"/>
            <a:ext cx="201168" cy="0"/>
          </a:xfrm>
          <a:prstGeom prst="line">
            <a:avLst/>
          </a:prstGeom>
          <a:noFill/>
          <a:ln w="19050">
            <a:solidFill>
              <a:srgbClr val="C9922A"/>
            </a:solidFill>
            <a:prstDash val="solid"/>
            <a:tailEnd type="triangle"/>
          </a:ln>
        </p:spPr>
      </p:sp>
      <p:sp>
        <p:nvSpPr>
          <p:cNvPr id="48" name="Shape 43"/>
          <p:cNvSpPr/>
          <p:nvPr/>
        </p:nvSpPr>
        <p:spPr>
          <a:xfrm>
            <a:off x="7644384" y="2743200"/>
            <a:ext cx="201168" cy="0"/>
          </a:xfrm>
          <a:prstGeom prst="line">
            <a:avLst/>
          </a:prstGeom>
          <a:noFill/>
          <a:ln w="19050">
            <a:solidFill>
              <a:srgbClr val="C9922A"/>
            </a:solidFill>
            <a:prstDash val="dash"/>
            <a:tailEnd type="triangle"/>
          </a:ln>
        </p:spPr>
      </p:sp>
      <p:sp>
        <p:nvSpPr>
          <p:cNvPr id="49" name="Shape 44"/>
          <p:cNvSpPr/>
          <p:nvPr/>
        </p:nvSpPr>
        <p:spPr>
          <a:xfrm>
            <a:off x="640080" y="4251960"/>
            <a:ext cx="10908792" cy="1051560"/>
          </a:xfrm>
          <a:prstGeom prst="roundRect">
            <a:avLst>
              <a:gd name="adj" fmla="val 7826"/>
            </a:avLst>
          </a:prstGeom>
          <a:solidFill>
            <a:srgbClr val="18402E"/>
          </a:solidFill>
          <a:ln w="12700">
            <a:solidFill>
              <a:srgbClr val="2E4A73"/>
            </a:solidFill>
            <a:prstDash val="solid"/>
          </a:ln>
          <a:effectLst>
            <a:outerShdw blurRad="101600" dist="38100" dir="5400000" algn="bl" rotWithShape="0">
              <a:srgbClr val="000000">
                <a:alpha val="25000"/>
              </a:srgbClr>
            </a:outerShdw>
          </a:effectLst>
        </p:spPr>
      </p:sp>
      <p:sp>
        <p:nvSpPr>
          <p:cNvPr id="50" name="Text 45"/>
          <p:cNvSpPr/>
          <p:nvPr/>
        </p:nvSpPr>
        <p:spPr>
          <a:xfrm>
            <a:off x="914400" y="4251960"/>
            <a:ext cx="10424160" cy="1051560"/>
          </a:xfrm>
          <a:prstGeom prst="rect">
            <a:avLst/>
          </a:prstGeom>
          <a:noFill/>
          <a:ln/>
        </p:spPr>
        <p:txBody>
          <a:bodyPr wrap="square" lIns="0" tIns="0" rIns="0" bIns="0" rtlCol="0" anchor="ctr"/>
          <a:lstStyle/>
          <a:p>
            <a:pPr marL="0" indent="0">
              <a:lnSpc>
                <a:spcPct val="120000"/>
              </a:lnSpc>
              <a:buNone/>
            </a:pPr>
            <a:r>
              <a:rPr lang="en-US" sz="1250" b="1" dirty="0">
                <a:solidFill>
                  <a:srgbClr val="FFFFFF"/>
                </a:solidFill>
                <a:latin typeface="Calibri" pitchFamily="34" charset="0"/>
                <a:ea typeface="Calibri" pitchFamily="34" charset="-122"/>
                <a:cs typeface="Calibri" pitchFamily="34" charset="-120"/>
              </a:rPr>
              <a:t>Relationships:  </a:t>
            </a:r>
            <a:r>
              <a:rPr lang="en-US" sz="1250" dirty="0">
                <a:solidFill>
                  <a:srgbClr val="CFEBD9"/>
                </a:solidFill>
                <a:latin typeface="Calibri" pitchFamily="34" charset="0"/>
                <a:ea typeface="Calibri" pitchFamily="34" charset="-122"/>
                <a:cs typeface="Calibri" pitchFamily="34" charset="-120"/>
              </a:rPr>
              <a:t>Each contact submission references a lead by foreign key. Row Level Security policies scope every read by the requesting user's role, so admin users only see records their allowlisted email is permitted to access.</a:t>
            </a:r>
            <a:endParaRPr lang="en-US" sz="1250" dirty="0"/>
          </a:p>
        </p:txBody>
      </p:sp>
      <p:sp>
        <p:nvSpPr>
          <p:cNvPr id="51" name="Text 46"/>
          <p:cNvSpPr/>
          <p:nvPr/>
        </p:nvSpPr>
        <p:spPr>
          <a:xfrm>
            <a:off x="640080" y="6528816"/>
            <a:ext cx="5486400" cy="256032"/>
          </a:xfrm>
          <a:prstGeom prst="rect">
            <a:avLst/>
          </a:prstGeom>
          <a:noFill/>
          <a:ln/>
        </p:spPr>
        <p:txBody>
          <a:bodyPr wrap="square" lIns="0" tIns="0" rIns="0" bIns="0" rtlCol="0" anchor="ctr"/>
          <a:lstStyle/>
          <a:p>
            <a:pPr marL="0" indent="0">
              <a:buNone/>
            </a:pPr>
            <a:r>
              <a:rPr lang="en-US" sz="900" dirty="0">
                <a:solidFill>
                  <a:srgbClr val="8695B3"/>
                </a:solidFill>
                <a:latin typeface="Calibri" pitchFamily="34" charset="0"/>
                <a:ea typeface="Calibri" pitchFamily="34" charset="-122"/>
                <a:cs typeface="Calibri" pitchFamily="34" charset="-120"/>
              </a:rPr>
              <a:t>Drishti Wealth Financial Advisory Platform</a:t>
            </a:r>
            <a:endParaRPr lang="en-US" sz="900" dirty="0"/>
          </a:p>
        </p:txBody>
      </p:sp>
      <p:sp>
        <p:nvSpPr>
          <p:cNvPr id="52" name="Shape 47"/>
          <p:cNvSpPr/>
          <p:nvPr/>
        </p:nvSpPr>
        <p:spPr>
          <a:xfrm>
            <a:off x="11292840" y="6583680"/>
            <a:ext cx="54864" cy="54864"/>
          </a:xfrm>
          <a:prstGeom prst="ellipse">
            <a:avLst/>
          </a:prstGeom>
          <a:solidFill>
            <a:srgbClr val="C9922A"/>
          </a:solidFill>
          <a:ln/>
        </p:spPr>
      </p:sp>
      <p:sp>
        <p:nvSpPr>
          <p:cNvPr id="53" name="Text 48"/>
          <p:cNvSpPr/>
          <p:nvPr/>
        </p:nvSpPr>
        <p:spPr>
          <a:xfrm>
            <a:off x="11430000" y="6528816"/>
            <a:ext cx="365760" cy="256032"/>
          </a:xfrm>
          <a:prstGeom prst="rect">
            <a:avLst/>
          </a:prstGeom>
          <a:noFill/>
          <a:ln/>
        </p:spPr>
        <p:txBody>
          <a:bodyPr wrap="square" lIns="0" tIns="0" rIns="0" bIns="0" rtlCol="0" anchor="ctr"/>
          <a:lstStyle/>
          <a:p>
            <a:pPr marL="0" indent="0" algn="r">
              <a:buNone/>
            </a:pPr>
            <a:r>
              <a:rPr lang="en-US" sz="900" dirty="0">
                <a:solidFill>
                  <a:srgbClr val="8695B3"/>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2545"/>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marL="0" indent="0">
              <a:buNone/>
            </a:pPr>
            <a:r>
              <a:rPr lang="en-US" sz="1150" b="1" kern="0" spc="200" dirty="0">
                <a:solidFill>
                  <a:srgbClr val="C9922A"/>
                </a:solidFill>
                <a:latin typeface="Calibri" pitchFamily="34" charset="0"/>
                <a:ea typeface="Calibri" pitchFamily="34" charset="-122"/>
                <a:cs typeface="Calibri" pitchFamily="34" charset="-120"/>
              </a:rPr>
              <a:t>DEFENSE IN DEPTH</a:t>
            </a:r>
            <a:endParaRPr lang="en-US" sz="1150" dirty="0"/>
          </a:p>
        </p:txBody>
      </p:sp>
      <p:sp>
        <p:nvSpPr>
          <p:cNvPr id="3" name="Text 1"/>
          <p:cNvSpPr/>
          <p:nvPr/>
        </p:nvSpPr>
        <p:spPr>
          <a:xfrm>
            <a:off x="640080" y="713232"/>
            <a:ext cx="996696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Security Architecture</a:t>
            </a:r>
            <a:endParaRPr lang="en-US" sz="2800" dirty="0"/>
          </a:p>
        </p:txBody>
      </p:sp>
      <p:sp>
        <p:nvSpPr>
          <p:cNvPr id="4" name="Shape 2"/>
          <p:cNvSpPr/>
          <p:nvPr/>
        </p:nvSpPr>
        <p:spPr>
          <a:xfrm>
            <a:off x="640080" y="1508760"/>
            <a:ext cx="5349240" cy="1600200"/>
          </a:xfrm>
          <a:prstGeom prst="roundRect">
            <a:avLst>
              <a:gd name="adj" fmla="val 5143"/>
            </a:avLst>
          </a:prstGeom>
          <a:solidFill>
            <a:srgbClr val="183052"/>
          </a:solidFill>
          <a:ln w="12700">
            <a:solidFill>
              <a:srgbClr val="2E4A73"/>
            </a:solidFill>
            <a:prstDash val="solid"/>
          </a:ln>
          <a:effectLst>
            <a:outerShdw blurRad="101600" dist="38100" dir="5400000" algn="bl" rotWithShape="0">
              <a:srgbClr val="000000">
                <a:alpha val="25000"/>
              </a:srgbClr>
            </a:outerShdw>
          </a:effectLst>
        </p:spPr>
      </p:sp>
      <p:sp>
        <p:nvSpPr>
          <p:cNvPr id="5" name="Shape 3"/>
          <p:cNvSpPr/>
          <p:nvPr/>
        </p:nvSpPr>
        <p:spPr>
          <a:xfrm>
            <a:off x="859536" y="1728216"/>
            <a:ext cx="457200" cy="457200"/>
          </a:xfrm>
          <a:prstGeom prst="ellipse">
            <a:avLst/>
          </a:prstGeom>
          <a:solidFill>
            <a:srgbClr val="C9922A"/>
          </a:solidFill>
          <a:ln/>
        </p:spPr>
      </p:sp>
      <p:pic>
        <p:nvPicPr>
          <p:cNvPr id="6" name="Image 0" descr="/home/claude/dwdeck/icons/shield.png"/>
          <p:cNvPicPr>
            <a:picLocks noChangeAspect="1"/>
          </p:cNvPicPr>
          <p:nvPr/>
        </p:nvPicPr>
        <p:blipFill>
          <a:blip r:embed="rId3"/>
          <a:stretch>
            <a:fillRect/>
          </a:stretch>
        </p:blipFill>
        <p:spPr>
          <a:xfrm>
            <a:off x="969264" y="1837944"/>
            <a:ext cx="237744" cy="237744"/>
          </a:xfrm>
          <a:prstGeom prst="rect">
            <a:avLst/>
          </a:prstGeom>
        </p:spPr>
      </p:pic>
      <p:sp>
        <p:nvSpPr>
          <p:cNvPr id="7" name="Text 4"/>
          <p:cNvSpPr/>
          <p:nvPr/>
        </p:nvSpPr>
        <p:spPr>
          <a:xfrm>
            <a:off x="1481328" y="1709928"/>
            <a:ext cx="4297680" cy="45720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Row Level Security</a:t>
            </a:r>
            <a:endParaRPr lang="en-US" sz="1250" dirty="0"/>
          </a:p>
        </p:txBody>
      </p:sp>
      <p:sp>
        <p:nvSpPr>
          <p:cNvPr id="8" name="Text 5"/>
          <p:cNvSpPr/>
          <p:nvPr/>
        </p:nvSpPr>
        <p:spPr>
          <a:xfrm>
            <a:off x="859536" y="2258568"/>
            <a:ext cx="4910328" cy="777240"/>
          </a:xfrm>
          <a:prstGeom prst="rect">
            <a:avLst/>
          </a:prstGeom>
          <a:noFill/>
          <a:ln/>
        </p:spPr>
        <p:txBody>
          <a:bodyPr wrap="square" lIns="0" tIns="0" rIns="0" bIns="0" rtlCol="0" anchor="t"/>
          <a:lstStyle/>
          <a:p>
            <a:pPr marL="0" indent="0">
              <a:lnSpc>
                <a:spcPct val="112000"/>
              </a:lnSpc>
              <a:buNone/>
            </a:pPr>
            <a:r>
              <a:rPr lang="en-US" sz="1000" dirty="0">
                <a:solidFill>
                  <a:srgbClr val="B9C4DA"/>
                </a:solidFill>
                <a:latin typeface="Calibri" pitchFamily="34" charset="0"/>
                <a:ea typeface="Calibri" pitchFamily="34" charset="-122"/>
                <a:cs typeface="Calibri" pitchFamily="34" charset="-120"/>
              </a:rPr>
              <a:t>Public requests can only insert new leads. Read access is restricted to admin roles at the database layer itself.</a:t>
            </a:r>
            <a:endParaRPr lang="en-US" sz="1000" dirty="0"/>
          </a:p>
        </p:txBody>
      </p:sp>
      <p:sp>
        <p:nvSpPr>
          <p:cNvPr id="9" name="Shape 6"/>
          <p:cNvSpPr/>
          <p:nvPr/>
        </p:nvSpPr>
        <p:spPr>
          <a:xfrm>
            <a:off x="6199632" y="1508760"/>
            <a:ext cx="5349240" cy="1600200"/>
          </a:xfrm>
          <a:prstGeom prst="roundRect">
            <a:avLst>
              <a:gd name="adj" fmla="val 5143"/>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10" name="Shape 7"/>
          <p:cNvSpPr/>
          <p:nvPr/>
        </p:nvSpPr>
        <p:spPr>
          <a:xfrm>
            <a:off x="6419088" y="1728216"/>
            <a:ext cx="457200" cy="457200"/>
          </a:xfrm>
          <a:prstGeom prst="ellipse">
            <a:avLst/>
          </a:prstGeom>
          <a:solidFill>
            <a:srgbClr val="C9922A"/>
          </a:solidFill>
          <a:ln/>
        </p:spPr>
      </p:sp>
      <p:pic>
        <p:nvPicPr>
          <p:cNvPr id="11" name="Image 1" descr="/home/claude/dwdeck/icons/usercheck.png"/>
          <p:cNvPicPr>
            <a:picLocks noChangeAspect="1"/>
          </p:cNvPicPr>
          <p:nvPr/>
        </p:nvPicPr>
        <p:blipFill>
          <a:blip r:embed="rId4"/>
          <a:stretch>
            <a:fillRect/>
          </a:stretch>
        </p:blipFill>
        <p:spPr>
          <a:xfrm>
            <a:off x="6528816" y="1837944"/>
            <a:ext cx="237744" cy="237744"/>
          </a:xfrm>
          <a:prstGeom prst="rect">
            <a:avLst/>
          </a:prstGeom>
        </p:spPr>
      </p:pic>
      <p:sp>
        <p:nvSpPr>
          <p:cNvPr id="12" name="Text 8"/>
          <p:cNvSpPr/>
          <p:nvPr/>
        </p:nvSpPr>
        <p:spPr>
          <a:xfrm>
            <a:off x="7040880" y="1709928"/>
            <a:ext cx="4297680" cy="45720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RBAC Email Allowlist</a:t>
            </a:r>
            <a:endParaRPr lang="en-US" sz="1250" dirty="0"/>
          </a:p>
        </p:txBody>
      </p:sp>
      <p:sp>
        <p:nvSpPr>
          <p:cNvPr id="13" name="Text 9"/>
          <p:cNvSpPr/>
          <p:nvPr/>
        </p:nvSpPr>
        <p:spPr>
          <a:xfrm>
            <a:off x="6419088" y="2258568"/>
            <a:ext cx="4910328" cy="777240"/>
          </a:xfrm>
          <a:prstGeom prst="rect">
            <a:avLst/>
          </a:prstGeom>
          <a:noFill/>
          <a:ln/>
        </p:spPr>
        <p:txBody>
          <a:bodyPr wrap="square" lIns="0" tIns="0" rIns="0" bIns="0" rtlCol="0" anchor="t"/>
          <a:lstStyle/>
          <a:p>
            <a:pPr marL="0" indent="0">
              <a:lnSpc>
                <a:spcPct val="112000"/>
              </a:lnSpc>
              <a:buNone/>
            </a:pPr>
            <a:r>
              <a:rPr lang="en-US" sz="1000" dirty="0">
                <a:solidFill>
                  <a:srgbClr val="B9C4DA"/>
                </a:solidFill>
                <a:latin typeface="Calibri" pitchFamily="34" charset="0"/>
                <a:ea typeface="Calibri" pitchFamily="34" charset="-122"/>
                <a:cs typeface="Calibri" pitchFamily="34" charset="-120"/>
              </a:rPr>
              <a:t>Admin identity is checked against an allowlist, layered on top of authentication.</a:t>
            </a:r>
            <a:endParaRPr lang="en-US" sz="1000" dirty="0"/>
          </a:p>
        </p:txBody>
      </p:sp>
      <p:sp>
        <p:nvSpPr>
          <p:cNvPr id="14" name="Shape 10"/>
          <p:cNvSpPr/>
          <p:nvPr/>
        </p:nvSpPr>
        <p:spPr>
          <a:xfrm>
            <a:off x="640080" y="3291840"/>
            <a:ext cx="5349240" cy="1600200"/>
          </a:xfrm>
          <a:prstGeom prst="roundRect">
            <a:avLst>
              <a:gd name="adj" fmla="val 5143"/>
            </a:avLst>
          </a:prstGeom>
          <a:solidFill>
            <a:srgbClr val="183052"/>
          </a:solidFill>
          <a:ln w="12700">
            <a:solidFill>
              <a:srgbClr val="2E4A73"/>
            </a:solidFill>
            <a:prstDash val="solid"/>
          </a:ln>
          <a:effectLst>
            <a:outerShdw blurRad="101600" dist="38100" dir="5400000" algn="bl" rotWithShape="0">
              <a:srgbClr val="000000">
                <a:alpha val="25000"/>
              </a:srgbClr>
            </a:outerShdw>
          </a:effectLst>
        </p:spPr>
      </p:sp>
      <p:sp>
        <p:nvSpPr>
          <p:cNvPr id="15" name="Shape 11"/>
          <p:cNvSpPr/>
          <p:nvPr/>
        </p:nvSpPr>
        <p:spPr>
          <a:xfrm>
            <a:off x="859536" y="3511296"/>
            <a:ext cx="457200" cy="457200"/>
          </a:xfrm>
          <a:prstGeom prst="ellipse">
            <a:avLst/>
          </a:prstGeom>
          <a:solidFill>
            <a:srgbClr val="C9922A"/>
          </a:solidFill>
          <a:ln/>
        </p:spPr>
      </p:sp>
      <p:pic>
        <p:nvPicPr>
          <p:cNvPr id="16" name="Image 2" descr="/home/claude/dwdeck/icons/key.png"/>
          <p:cNvPicPr>
            <a:picLocks noChangeAspect="1"/>
          </p:cNvPicPr>
          <p:nvPr/>
        </p:nvPicPr>
        <p:blipFill>
          <a:blip r:embed="rId5"/>
          <a:stretch>
            <a:fillRect/>
          </a:stretch>
        </p:blipFill>
        <p:spPr>
          <a:xfrm>
            <a:off x="969264" y="3621024"/>
            <a:ext cx="237744" cy="237744"/>
          </a:xfrm>
          <a:prstGeom prst="rect">
            <a:avLst/>
          </a:prstGeom>
        </p:spPr>
      </p:pic>
      <p:sp>
        <p:nvSpPr>
          <p:cNvPr id="17" name="Text 12"/>
          <p:cNvSpPr/>
          <p:nvPr/>
        </p:nvSpPr>
        <p:spPr>
          <a:xfrm>
            <a:off x="1481328" y="3493008"/>
            <a:ext cx="4297680" cy="45720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JWT in HttpOnly Cookies</a:t>
            </a:r>
            <a:endParaRPr lang="en-US" sz="1250" dirty="0"/>
          </a:p>
        </p:txBody>
      </p:sp>
      <p:sp>
        <p:nvSpPr>
          <p:cNvPr id="18" name="Text 13"/>
          <p:cNvSpPr/>
          <p:nvPr/>
        </p:nvSpPr>
        <p:spPr>
          <a:xfrm>
            <a:off x="859536" y="4041648"/>
            <a:ext cx="4910328" cy="777240"/>
          </a:xfrm>
          <a:prstGeom prst="rect">
            <a:avLst/>
          </a:prstGeom>
          <a:noFill/>
          <a:ln/>
        </p:spPr>
        <p:txBody>
          <a:bodyPr wrap="square" lIns="0" tIns="0" rIns="0" bIns="0" rtlCol="0" anchor="t"/>
          <a:lstStyle/>
          <a:p>
            <a:pPr marL="0" indent="0">
              <a:lnSpc>
                <a:spcPct val="112000"/>
              </a:lnSpc>
              <a:buNone/>
            </a:pPr>
            <a:r>
              <a:rPr lang="en-US" sz="1000" dirty="0">
                <a:solidFill>
                  <a:srgbClr val="B9C4DA"/>
                </a:solidFill>
                <a:latin typeface="Calibri" pitchFamily="34" charset="0"/>
                <a:ea typeface="Calibri" pitchFamily="34" charset="-122"/>
                <a:cs typeface="Calibri" pitchFamily="34" charset="-120"/>
              </a:rPr>
              <a:t>Session tokens are never exposed to client side JavaScript, mitigating XSS token theft.</a:t>
            </a:r>
            <a:endParaRPr lang="en-US" sz="1000" dirty="0"/>
          </a:p>
        </p:txBody>
      </p:sp>
      <p:sp>
        <p:nvSpPr>
          <p:cNvPr id="19" name="Shape 14"/>
          <p:cNvSpPr/>
          <p:nvPr/>
        </p:nvSpPr>
        <p:spPr>
          <a:xfrm>
            <a:off x="6199632" y="3291840"/>
            <a:ext cx="5349240" cy="1600200"/>
          </a:xfrm>
          <a:prstGeom prst="roundRect">
            <a:avLst>
              <a:gd name="adj" fmla="val 5143"/>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20" name="Shape 15"/>
          <p:cNvSpPr/>
          <p:nvPr/>
        </p:nvSpPr>
        <p:spPr>
          <a:xfrm>
            <a:off x="6419088" y="3511296"/>
            <a:ext cx="457200" cy="457200"/>
          </a:xfrm>
          <a:prstGeom prst="ellipse">
            <a:avLst/>
          </a:prstGeom>
          <a:solidFill>
            <a:srgbClr val="C9922A"/>
          </a:solidFill>
          <a:ln/>
        </p:spPr>
      </p:sp>
      <p:pic>
        <p:nvPicPr>
          <p:cNvPr id="21" name="Image 3" descr="/home/claude/dwdeck/icons/lock.png"/>
          <p:cNvPicPr>
            <a:picLocks noChangeAspect="1"/>
          </p:cNvPicPr>
          <p:nvPr/>
        </p:nvPicPr>
        <p:blipFill>
          <a:blip r:embed="rId6"/>
          <a:stretch>
            <a:fillRect/>
          </a:stretch>
        </p:blipFill>
        <p:spPr>
          <a:xfrm>
            <a:off x="6528816" y="3621024"/>
            <a:ext cx="237744" cy="237744"/>
          </a:xfrm>
          <a:prstGeom prst="rect">
            <a:avLst/>
          </a:prstGeom>
        </p:spPr>
      </p:pic>
      <p:sp>
        <p:nvSpPr>
          <p:cNvPr id="22" name="Text 16"/>
          <p:cNvSpPr/>
          <p:nvPr/>
        </p:nvSpPr>
        <p:spPr>
          <a:xfrm>
            <a:off x="7040880" y="3493008"/>
            <a:ext cx="4297680" cy="45720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Protected Routes</a:t>
            </a:r>
            <a:endParaRPr lang="en-US" sz="1250" dirty="0"/>
          </a:p>
        </p:txBody>
      </p:sp>
      <p:sp>
        <p:nvSpPr>
          <p:cNvPr id="23" name="Text 17"/>
          <p:cNvSpPr/>
          <p:nvPr/>
        </p:nvSpPr>
        <p:spPr>
          <a:xfrm>
            <a:off x="6419088" y="4041648"/>
            <a:ext cx="4910328" cy="777240"/>
          </a:xfrm>
          <a:prstGeom prst="rect">
            <a:avLst/>
          </a:prstGeom>
          <a:noFill/>
          <a:ln/>
        </p:spPr>
        <p:txBody>
          <a:bodyPr wrap="square" lIns="0" tIns="0" rIns="0" bIns="0" rtlCol="0" anchor="t"/>
          <a:lstStyle/>
          <a:p>
            <a:pPr marL="0" indent="0">
              <a:lnSpc>
                <a:spcPct val="112000"/>
              </a:lnSpc>
              <a:buNone/>
            </a:pPr>
            <a:r>
              <a:rPr lang="en-US" sz="1000" dirty="0">
                <a:solidFill>
                  <a:srgbClr val="B9C4DA"/>
                </a:solidFill>
                <a:latin typeface="Calibri" pitchFamily="34" charset="0"/>
                <a:ea typeface="Calibri" pitchFamily="34" charset="-122"/>
                <a:cs typeface="Calibri" pitchFamily="34" charset="-120"/>
              </a:rPr>
              <a:t>ProtectedRoute.jsx guards /admin, verifying the session before rendering any dashboard content.</a:t>
            </a:r>
            <a:endParaRPr lang="en-US" sz="1000" dirty="0"/>
          </a:p>
        </p:txBody>
      </p:sp>
      <p:sp>
        <p:nvSpPr>
          <p:cNvPr id="24" name="Text 18"/>
          <p:cNvSpPr/>
          <p:nvPr/>
        </p:nvSpPr>
        <p:spPr>
          <a:xfrm>
            <a:off x="640080" y="6528816"/>
            <a:ext cx="5486400" cy="256032"/>
          </a:xfrm>
          <a:prstGeom prst="rect">
            <a:avLst/>
          </a:prstGeom>
          <a:noFill/>
          <a:ln/>
        </p:spPr>
        <p:txBody>
          <a:bodyPr wrap="square" lIns="0" tIns="0" rIns="0" bIns="0" rtlCol="0" anchor="ctr"/>
          <a:lstStyle/>
          <a:p>
            <a:pPr marL="0" indent="0">
              <a:buNone/>
            </a:pPr>
            <a:r>
              <a:rPr lang="en-US" sz="900" dirty="0">
                <a:solidFill>
                  <a:srgbClr val="8695B3"/>
                </a:solidFill>
                <a:latin typeface="Calibri" pitchFamily="34" charset="0"/>
                <a:ea typeface="Calibri" pitchFamily="34" charset="-122"/>
                <a:cs typeface="Calibri" pitchFamily="34" charset="-120"/>
              </a:rPr>
              <a:t>Drishti Wealth Financial Advisory Platform</a:t>
            </a:r>
            <a:endParaRPr lang="en-US" sz="900" dirty="0"/>
          </a:p>
        </p:txBody>
      </p:sp>
      <p:sp>
        <p:nvSpPr>
          <p:cNvPr id="25" name="Shape 19"/>
          <p:cNvSpPr/>
          <p:nvPr/>
        </p:nvSpPr>
        <p:spPr>
          <a:xfrm>
            <a:off x="11292840" y="6583680"/>
            <a:ext cx="54864" cy="54864"/>
          </a:xfrm>
          <a:prstGeom prst="ellipse">
            <a:avLst/>
          </a:prstGeom>
          <a:solidFill>
            <a:srgbClr val="C9922A"/>
          </a:solidFill>
          <a:ln/>
        </p:spPr>
      </p:sp>
      <p:sp>
        <p:nvSpPr>
          <p:cNvPr id="26" name="Text 20"/>
          <p:cNvSpPr/>
          <p:nvPr/>
        </p:nvSpPr>
        <p:spPr>
          <a:xfrm>
            <a:off x="11430000" y="6528816"/>
            <a:ext cx="365760" cy="256032"/>
          </a:xfrm>
          <a:prstGeom prst="rect">
            <a:avLst/>
          </a:prstGeom>
          <a:noFill/>
          <a:ln/>
        </p:spPr>
        <p:txBody>
          <a:bodyPr wrap="square" lIns="0" tIns="0" rIns="0" bIns="0" rtlCol="0" anchor="ctr"/>
          <a:lstStyle/>
          <a:p>
            <a:pPr marL="0" indent="0" algn="r">
              <a:buNone/>
            </a:pPr>
            <a:r>
              <a:rPr lang="en-US" sz="900" dirty="0">
                <a:solidFill>
                  <a:srgbClr val="8695B3"/>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2545"/>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marL="0" indent="0">
              <a:buNone/>
            </a:pPr>
            <a:r>
              <a:rPr lang="en-US" sz="1150" b="1" kern="0" spc="200" dirty="0">
                <a:solidFill>
                  <a:srgbClr val="C9922A"/>
                </a:solidFill>
                <a:latin typeface="Calibri" pitchFamily="34" charset="0"/>
                <a:ea typeface="Calibri" pitchFamily="34" charset="-122"/>
                <a:cs typeface="Calibri" pitchFamily="34" charset="-120"/>
              </a:rPr>
              <a:t>JAMSTACK PARADIGM</a:t>
            </a:r>
            <a:endParaRPr lang="en-US" sz="1150" dirty="0"/>
          </a:p>
        </p:txBody>
      </p:sp>
      <p:sp>
        <p:nvSpPr>
          <p:cNvPr id="3" name="Text 1"/>
          <p:cNvSpPr/>
          <p:nvPr/>
        </p:nvSpPr>
        <p:spPr>
          <a:xfrm>
            <a:off x="640080" y="713232"/>
            <a:ext cx="996696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Cloud Deployment Architecture</a:t>
            </a:r>
            <a:endParaRPr lang="en-US" sz="2800" dirty="0"/>
          </a:p>
        </p:txBody>
      </p:sp>
      <p:sp>
        <p:nvSpPr>
          <p:cNvPr id="4" name="Shape 2"/>
          <p:cNvSpPr/>
          <p:nvPr/>
        </p:nvSpPr>
        <p:spPr>
          <a:xfrm>
            <a:off x="640080" y="1508760"/>
            <a:ext cx="5349240" cy="4434840"/>
          </a:xfrm>
          <a:prstGeom prst="roundRect">
            <a:avLst>
              <a:gd name="adj" fmla="val 1856"/>
            </a:avLst>
          </a:prstGeom>
          <a:solidFill>
            <a:srgbClr val="183052"/>
          </a:solidFill>
          <a:ln w="12700">
            <a:solidFill>
              <a:srgbClr val="2E4A73"/>
            </a:solidFill>
            <a:prstDash val="solid"/>
          </a:ln>
          <a:effectLst>
            <a:outerShdw blurRad="101600" dist="38100" dir="5400000" algn="bl" rotWithShape="0">
              <a:srgbClr val="000000">
                <a:alpha val="25000"/>
              </a:srgbClr>
            </a:outerShdw>
          </a:effectLst>
        </p:spPr>
      </p:sp>
      <p:sp>
        <p:nvSpPr>
          <p:cNvPr id="5" name="Shape 3"/>
          <p:cNvSpPr/>
          <p:nvPr/>
        </p:nvSpPr>
        <p:spPr>
          <a:xfrm>
            <a:off x="914400" y="1783080"/>
            <a:ext cx="548640" cy="548640"/>
          </a:xfrm>
          <a:prstGeom prst="ellipse">
            <a:avLst/>
          </a:prstGeom>
          <a:solidFill>
            <a:srgbClr val="C9922A"/>
          </a:solidFill>
          <a:ln/>
        </p:spPr>
      </p:sp>
      <p:pic>
        <p:nvPicPr>
          <p:cNvPr id="6" name="Image 0" descr="/home/claude/dwdeck/icons/zap.png"/>
          <p:cNvPicPr>
            <a:picLocks noChangeAspect="1"/>
          </p:cNvPicPr>
          <p:nvPr/>
        </p:nvPicPr>
        <p:blipFill>
          <a:blip r:embed="rId3"/>
          <a:stretch>
            <a:fillRect/>
          </a:stretch>
        </p:blipFill>
        <p:spPr>
          <a:xfrm>
            <a:off x="1042416" y="1911096"/>
            <a:ext cx="292608" cy="292608"/>
          </a:xfrm>
          <a:prstGeom prst="rect">
            <a:avLst/>
          </a:prstGeom>
        </p:spPr>
      </p:pic>
      <p:sp>
        <p:nvSpPr>
          <p:cNvPr id="7" name="Text 4"/>
          <p:cNvSpPr/>
          <p:nvPr/>
        </p:nvSpPr>
        <p:spPr>
          <a:xfrm>
            <a:off x="1600200" y="1764792"/>
            <a:ext cx="420624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Frontend Edge Layer</a:t>
            </a:r>
            <a:endParaRPr lang="en-US" sz="1600" dirty="0"/>
          </a:p>
        </p:txBody>
      </p:sp>
      <p:sp>
        <p:nvSpPr>
          <p:cNvPr id="8" name="Text 5"/>
          <p:cNvSpPr/>
          <p:nvPr/>
        </p:nvSpPr>
        <p:spPr>
          <a:xfrm>
            <a:off x="1600200" y="2121408"/>
            <a:ext cx="4114800" cy="274320"/>
          </a:xfrm>
          <a:prstGeom prst="rect">
            <a:avLst/>
          </a:prstGeom>
          <a:noFill/>
          <a:ln/>
        </p:spPr>
        <p:txBody>
          <a:bodyPr wrap="square" lIns="0" tIns="0" rIns="0" bIns="0" rtlCol="0" anchor="ctr"/>
          <a:lstStyle/>
          <a:p>
            <a:pPr marL="0" indent="0">
              <a:buNone/>
            </a:pPr>
            <a:r>
              <a:rPr lang="en-US" sz="1100" b="1" dirty="0">
                <a:solidFill>
                  <a:srgbClr val="F0C96A"/>
                </a:solidFill>
                <a:latin typeface="Calibri" pitchFamily="34" charset="0"/>
                <a:ea typeface="Calibri" pitchFamily="34" charset="-122"/>
                <a:cs typeface="Calibri" pitchFamily="34" charset="-120"/>
              </a:rPr>
              <a:t>Vercel CDN</a:t>
            </a:r>
            <a:endParaRPr lang="en-US" sz="1100" dirty="0"/>
          </a:p>
        </p:txBody>
      </p:sp>
      <p:sp>
        <p:nvSpPr>
          <p:cNvPr id="9" name="Shape 6"/>
          <p:cNvSpPr/>
          <p:nvPr/>
        </p:nvSpPr>
        <p:spPr>
          <a:xfrm>
            <a:off x="914400" y="2660904"/>
            <a:ext cx="91440" cy="91440"/>
          </a:xfrm>
          <a:prstGeom prst="ellipse">
            <a:avLst/>
          </a:prstGeom>
          <a:solidFill>
            <a:srgbClr val="C9922A"/>
          </a:solidFill>
          <a:ln/>
        </p:spPr>
      </p:sp>
      <p:sp>
        <p:nvSpPr>
          <p:cNvPr id="10" name="Text 7"/>
          <p:cNvSpPr/>
          <p:nvPr/>
        </p:nvSpPr>
        <p:spPr>
          <a:xfrm>
            <a:off x="1143000" y="2532888"/>
            <a:ext cx="4617720" cy="822960"/>
          </a:xfrm>
          <a:prstGeom prst="rect">
            <a:avLst/>
          </a:prstGeom>
          <a:noFill/>
          <a:ln/>
        </p:spPr>
        <p:txBody>
          <a:bodyPr wrap="square" lIns="0" tIns="0" rIns="0" bIns="0" rtlCol="0" anchor="t"/>
          <a:lstStyle/>
          <a:p>
            <a:pPr marL="0" indent="0">
              <a:lnSpc>
                <a:spcPct val="120000"/>
              </a:lnSpc>
              <a:buNone/>
            </a:pPr>
            <a:r>
              <a:rPr lang="en-US" sz="1150" dirty="0">
                <a:solidFill>
                  <a:srgbClr val="B9C4DA"/>
                </a:solidFill>
                <a:latin typeface="Calibri" pitchFamily="34" charset="0"/>
                <a:ea typeface="Calibri" pitchFamily="34" charset="-122"/>
                <a:cs typeface="Calibri" pitchFamily="34" charset="-120"/>
              </a:rPr>
              <a:t>Static Single Page Application (React 19 + Vite 7) deployed on Vercel's Global Edge Network</a:t>
            </a:r>
            <a:endParaRPr lang="en-US" sz="1150" dirty="0"/>
          </a:p>
        </p:txBody>
      </p:sp>
      <p:sp>
        <p:nvSpPr>
          <p:cNvPr id="11" name="Shape 8"/>
          <p:cNvSpPr/>
          <p:nvPr/>
        </p:nvSpPr>
        <p:spPr>
          <a:xfrm>
            <a:off x="914400" y="3621024"/>
            <a:ext cx="91440" cy="91440"/>
          </a:xfrm>
          <a:prstGeom prst="ellipse">
            <a:avLst/>
          </a:prstGeom>
          <a:solidFill>
            <a:srgbClr val="C9922A"/>
          </a:solidFill>
          <a:ln/>
        </p:spPr>
      </p:sp>
      <p:sp>
        <p:nvSpPr>
          <p:cNvPr id="12" name="Text 9"/>
          <p:cNvSpPr/>
          <p:nvPr/>
        </p:nvSpPr>
        <p:spPr>
          <a:xfrm>
            <a:off x="1143000" y="3493008"/>
            <a:ext cx="4617720" cy="822960"/>
          </a:xfrm>
          <a:prstGeom prst="rect">
            <a:avLst/>
          </a:prstGeom>
          <a:noFill/>
          <a:ln/>
        </p:spPr>
        <p:txBody>
          <a:bodyPr wrap="square" lIns="0" tIns="0" rIns="0" bIns="0" rtlCol="0" anchor="t"/>
          <a:lstStyle/>
          <a:p>
            <a:pPr marL="0" indent="0">
              <a:lnSpc>
                <a:spcPct val="120000"/>
              </a:lnSpc>
              <a:buNone/>
            </a:pPr>
            <a:r>
              <a:rPr lang="en-US" sz="1150" dirty="0">
                <a:solidFill>
                  <a:srgbClr val="B9C4DA"/>
                </a:solidFill>
                <a:latin typeface="Calibri" pitchFamily="34" charset="0"/>
                <a:ea typeface="Calibri" pitchFamily="34" charset="-122"/>
                <a:cs typeface="Calibri" pitchFamily="34" charset="-120"/>
              </a:rPr>
              <a:t>Automated CI/CD pipeline triggering sub-minute production deployments on every git push</a:t>
            </a:r>
            <a:endParaRPr lang="en-US" sz="1150" dirty="0"/>
          </a:p>
        </p:txBody>
      </p:sp>
      <p:sp>
        <p:nvSpPr>
          <p:cNvPr id="13" name="Shape 10"/>
          <p:cNvSpPr/>
          <p:nvPr/>
        </p:nvSpPr>
        <p:spPr>
          <a:xfrm>
            <a:off x="914400" y="4581144"/>
            <a:ext cx="91440" cy="91440"/>
          </a:xfrm>
          <a:prstGeom prst="ellipse">
            <a:avLst/>
          </a:prstGeom>
          <a:solidFill>
            <a:srgbClr val="C9922A"/>
          </a:solidFill>
          <a:ln/>
        </p:spPr>
      </p:sp>
      <p:sp>
        <p:nvSpPr>
          <p:cNvPr id="14" name="Text 11"/>
          <p:cNvSpPr/>
          <p:nvPr/>
        </p:nvSpPr>
        <p:spPr>
          <a:xfrm>
            <a:off x="1143000" y="4453128"/>
            <a:ext cx="4617720" cy="822960"/>
          </a:xfrm>
          <a:prstGeom prst="rect">
            <a:avLst/>
          </a:prstGeom>
          <a:noFill/>
          <a:ln/>
        </p:spPr>
        <p:txBody>
          <a:bodyPr wrap="square" lIns="0" tIns="0" rIns="0" bIns="0" rtlCol="0" anchor="t"/>
          <a:lstStyle/>
          <a:p>
            <a:pPr marL="0" indent="0">
              <a:lnSpc>
                <a:spcPct val="120000"/>
              </a:lnSpc>
              <a:buNone/>
            </a:pPr>
            <a:r>
              <a:rPr lang="en-US" sz="1150" dirty="0">
                <a:solidFill>
                  <a:srgbClr val="B9C4DA"/>
                </a:solidFill>
                <a:latin typeface="Calibri" pitchFamily="34" charset="0"/>
                <a:ea typeface="Calibri" pitchFamily="34" charset="-122"/>
                <a:cs typeface="Calibri" pitchFamily="34" charset="-120"/>
              </a:rPr>
              <a:t>Automatic SSL encryption, global HTTP/2 asset caching, and SEO static pre-rendering</a:t>
            </a:r>
            <a:endParaRPr lang="en-US" sz="1150" dirty="0"/>
          </a:p>
        </p:txBody>
      </p:sp>
      <p:sp>
        <p:nvSpPr>
          <p:cNvPr id="15" name="Shape 12"/>
          <p:cNvSpPr/>
          <p:nvPr/>
        </p:nvSpPr>
        <p:spPr>
          <a:xfrm>
            <a:off x="6199632" y="1508760"/>
            <a:ext cx="5349240" cy="4434840"/>
          </a:xfrm>
          <a:prstGeom prst="roundRect">
            <a:avLst>
              <a:gd name="adj" fmla="val 1856"/>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16" name="Shape 13"/>
          <p:cNvSpPr/>
          <p:nvPr/>
        </p:nvSpPr>
        <p:spPr>
          <a:xfrm>
            <a:off x="6473952" y="1783080"/>
            <a:ext cx="548640" cy="548640"/>
          </a:xfrm>
          <a:prstGeom prst="ellipse">
            <a:avLst/>
          </a:prstGeom>
          <a:solidFill>
            <a:srgbClr val="C9922A"/>
          </a:solidFill>
          <a:ln/>
        </p:spPr>
      </p:sp>
      <p:pic>
        <p:nvPicPr>
          <p:cNvPr id="17" name="Image 1" descr="/home/claude/dwdeck/icons/database.png"/>
          <p:cNvPicPr>
            <a:picLocks noChangeAspect="1"/>
          </p:cNvPicPr>
          <p:nvPr/>
        </p:nvPicPr>
        <p:blipFill>
          <a:blip r:embed="rId4"/>
          <a:stretch>
            <a:fillRect/>
          </a:stretch>
        </p:blipFill>
        <p:spPr>
          <a:xfrm>
            <a:off x="6601968" y="1911096"/>
            <a:ext cx="292608" cy="292608"/>
          </a:xfrm>
          <a:prstGeom prst="rect">
            <a:avLst/>
          </a:prstGeom>
        </p:spPr>
      </p:pic>
      <p:sp>
        <p:nvSpPr>
          <p:cNvPr id="18" name="Text 14"/>
          <p:cNvSpPr/>
          <p:nvPr/>
        </p:nvSpPr>
        <p:spPr>
          <a:xfrm>
            <a:off x="7159752" y="1764792"/>
            <a:ext cx="429768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Cloud Backend &amp; Database Tier</a:t>
            </a:r>
            <a:endParaRPr lang="en-US" sz="1500" dirty="0"/>
          </a:p>
        </p:txBody>
      </p:sp>
      <p:sp>
        <p:nvSpPr>
          <p:cNvPr id="19" name="Text 15"/>
          <p:cNvSpPr/>
          <p:nvPr/>
        </p:nvSpPr>
        <p:spPr>
          <a:xfrm>
            <a:off x="7159752" y="2121408"/>
            <a:ext cx="4114800" cy="274320"/>
          </a:xfrm>
          <a:prstGeom prst="rect">
            <a:avLst/>
          </a:prstGeom>
          <a:noFill/>
          <a:ln/>
        </p:spPr>
        <p:txBody>
          <a:bodyPr wrap="square" lIns="0" tIns="0" rIns="0" bIns="0" rtlCol="0" anchor="ctr"/>
          <a:lstStyle/>
          <a:p>
            <a:pPr marL="0" indent="0">
              <a:buNone/>
            </a:pPr>
            <a:r>
              <a:rPr lang="en-US" sz="1100" b="1" dirty="0">
                <a:solidFill>
                  <a:srgbClr val="F0C96A"/>
                </a:solidFill>
                <a:latin typeface="Calibri" pitchFamily="34" charset="0"/>
                <a:ea typeface="Calibri" pitchFamily="34" charset="-122"/>
                <a:cs typeface="Calibri" pitchFamily="34" charset="-120"/>
              </a:rPr>
              <a:t>Supabase BaaS</a:t>
            </a:r>
            <a:endParaRPr lang="en-US" sz="1100" dirty="0"/>
          </a:p>
        </p:txBody>
      </p:sp>
      <p:sp>
        <p:nvSpPr>
          <p:cNvPr id="20" name="Shape 16"/>
          <p:cNvSpPr/>
          <p:nvPr/>
        </p:nvSpPr>
        <p:spPr>
          <a:xfrm>
            <a:off x="6473952" y="2660904"/>
            <a:ext cx="91440" cy="91440"/>
          </a:xfrm>
          <a:prstGeom prst="ellipse">
            <a:avLst/>
          </a:prstGeom>
          <a:solidFill>
            <a:srgbClr val="C9922A"/>
          </a:solidFill>
          <a:ln/>
        </p:spPr>
      </p:sp>
      <p:sp>
        <p:nvSpPr>
          <p:cNvPr id="21" name="Text 17"/>
          <p:cNvSpPr/>
          <p:nvPr/>
        </p:nvSpPr>
        <p:spPr>
          <a:xfrm>
            <a:off x="6702552" y="2532888"/>
            <a:ext cx="4663440" cy="822960"/>
          </a:xfrm>
          <a:prstGeom prst="rect">
            <a:avLst/>
          </a:prstGeom>
          <a:noFill/>
          <a:ln/>
        </p:spPr>
        <p:txBody>
          <a:bodyPr wrap="square" lIns="0" tIns="0" rIns="0" bIns="0" rtlCol="0" anchor="t"/>
          <a:lstStyle/>
          <a:p>
            <a:pPr marL="0" indent="0">
              <a:lnSpc>
                <a:spcPct val="120000"/>
              </a:lnSpc>
              <a:buNone/>
            </a:pPr>
            <a:r>
              <a:rPr lang="en-US" sz="1150" dirty="0">
                <a:solidFill>
                  <a:srgbClr val="B9C4DA"/>
                </a:solidFill>
                <a:latin typeface="Calibri" pitchFamily="34" charset="0"/>
                <a:ea typeface="Calibri" pitchFamily="34" charset="-122"/>
                <a:cs typeface="Calibri" pitchFamily="34" charset="-120"/>
              </a:rPr>
              <a:t>Serverless cloud PostgreSQL database managed at klempbsbqovcoywbdygd.supabase.co</a:t>
            </a:r>
            <a:endParaRPr lang="en-US" sz="1150" dirty="0"/>
          </a:p>
        </p:txBody>
      </p:sp>
      <p:sp>
        <p:nvSpPr>
          <p:cNvPr id="22" name="Shape 18"/>
          <p:cNvSpPr/>
          <p:nvPr/>
        </p:nvSpPr>
        <p:spPr>
          <a:xfrm>
            <a:off x="6473952" y="3621024"/>
            <a:ext cx="91440" cy="91440"/>
          </a:xfrm>
          <a:prstGeom prst="ellipse">
            <a:avLst/>
          </a:prstGeom>
          <a:solidFill>
            <a:srgbClr val="C9922A"/>
          </a:solidFill>
          <a:ln/>
        </p:spPr>
      </p:sp>
      <p:sp>
        <p:nvSpPr>
          <p:cNvPr id="23" name="Text 19"/>
          <p:cNvSpPr/>
          <p:nvPr/>
        </p:nvSpPr>
        <p:spPr>
          <a:xfrm>
            <a:off x="6702552" y="3493008"/>
            <a:ext cx="4663440" cy="822960"/>
          </a:xfrm>
          <a:prstGeom prst="rect">
            <a:avLst/>
          </a:prstGeom>
          <a:noFill/>
          <a:ln/>
        </p:spPr>
        <p:txBody>
          <a:bodyPr wrap="square" lIns="0" tIns="0" rIns="0" bIns="0" rtlCol="0" anchor="t"/>
          <a:lstStyle/>
          <a:p>
            <a:pPr marL="0" indent="0">
              <a:lnSpc>
                <a:spcPct val="120000"/>
              </a:lnSpc>
              <a:buNone/>
            </a:pPr>
            <a:r>
              <a:rPr lang="en-US" sz="1150" dirty="0">
                <a:solidFill>
                  <a:srgbClr val="B9C4DA"/>
                </a:solidFill>
                <a:latin typeface="Calibri" pitchFamily="34" charset="0"/>
                <a:ea typeface="Calibri" pitchFamily="34" charset="-122"/>
                <a:cs typeface="Calibri" pitchFamily="34" charset="-120"/>
              </a:rPr>
              <a:t>Native client integration via @supabase/supabase-js, with sub-100ms response times and zero server cold starts</a:t>
            </a:r>
            <a:endParaRPr lang="en-US" sz="1150" dirty="0"/>
          </a:p>
        </p:txBody>
      </p:sp>
      <p:sp>
        <p:nvSpPr>
          <p:cNvPr id="24" name="Shape 20"/>
          <p:cNvSpPr/>
          <p:nvPr/>
        </p:nvSpPr>
        <p:spPr>
          <a:xfrm>
            <a:off x="6473952" y="4581144"/>
            <a:ext cx="91440" cy="91440"/>
          </a:xfrm>
          <a:prstGeom prst="ellipse">
            <a:avLst/>
          </a:prstGeom>
          <a:solidFill>
            <a:srgbClr val="C9922A"/>
          </a:solidFill>
          <a:ln/>
        </p:spPr>
      </p:sp>
      <p:sp>
        <p:nvSpPr>
          <p:cNvPr id="25" name="Text 21"/>
          <p:cNvSpPr/>
          <p:nvPr/>
        </p:nvSpPr>
        <p:spPr>
          <a:xfrm>
            <a:off x="6702552" y="4453128"/>
            <a:ext cx="4663440" cy="822960"/>
          </a:xfrm>
          <a:prstGeom prst="rect">
            <a:avLst/>
          </a:prstGeom>
          <a:noFill/>
          <a:ln/>
        </p:spPr>
        <p:txBody>
          <a:bodyPr wrap="square" lIns="0" tIns="0" rIns="0" bIns="0" rtlCol="0" anchor="t"/>
          <a:lstStyle/>
          <a:p>
            <a:pPr marL="0" indent="0">
              <a:lnSpc>
                <a:spcPct val="120000"/>
              </a:lnSpc>
              <a:buNone/>
            </a:pPr>
            <a:r>
              <a:rPr lang="en-US" sz="1150" dirty="0">
                <a:solidFill>
                  <a:srgbClr val="B9C4DA"/>
                </a:solidFill>
                <a:latin typeface="Calibri" pitchFamily="34" charset="0"/>
                <a:ea typeface="Calibri" pitchFamily="34" charset="-122"/>
                <a:cs typeface="Calibri" pitchFamily="34" charset="-120"/>
              </a:rPr>
              <a:t>Row Level Security policies protect lead data directly at the database level</a:t>
            </a:r>
            <a:endParaRPr lang="en-US" sz="1150" dirty="0"/>
          </a:p>
        </p:txBody>
      </p:sp>
      <p:sp>
        <p:nvSpPr>
          <p:cNvPr id="26" name="Text 22"/>
          <p:cNvSpPr/>
          <p:nvPr/>
        </p:nvSpPr>
        <p:spPr>
          <a:xfrm>
            <a:off x="640080" y="6528816"/>
            <a:ext cx="5486400" cy="256032"/>
          </a:xfrm>
          <a:prstGeom prst="rect">
            <a:avLst/>
          </a:prstGeom>
          <a:noFill/>
          <a:ln/>
        </p:spPr>
        <p:txBody>
          <a:bodyPr wrap="square" lIns="0" tIns="0" rIns="0" bIns="0" rtlCol="0" anchor="ctr"/>
          <a:lstStyle/>
          <a:p>
            <a:pPr marL="0" indent="0">
              <a:buNone/>
            </a:pPr>
            <a:r>
              <a:rPr lang="en-US" sz="900" dirty="0">
                <a:solidFill>
                  <a:srgbClr val="8695B3"/>
                </a:solidFill>
                <a:latin typeface="Calibri" pitchFamily="34" charset="0"/>
                <a:ea typeface="Calibri" pitchFamily="34" charset="-122"/>
                <a:cs typeface="Calibri" pitchFamily="34" charset="-120"/>
              </a:rPr>
              <a:t>Drishti Wealth Financial Advisory Platform</a:t>
            </a:r>
            <a:endParaRPr lang="en-US" sz="900" dirty="0"/>
          </a:p>
        </p:txBody>
      </p:sp>
      <p:sp>
        <p:nvSpPr>
          <p:cNvPr id="27" name="Shape 23"/>
          <p:cNvSpPr/>
          <p:nvPr/>
        </p:nvSpPr>
        <p:spPr>
          <a:xfrm>
            <a:off x="11292840" y="6583680"/>
            <a:ext cx="54864" cy="54864"/>
          </a:xfrm>
          <a:prstGeom prst="ellipse">
            <a:avLst/>
          </a:prstGeom>
          <a:solidFill>
            <a:srgbClr val="C9922A"/>
          </a:solidFill>
          <a:ln/>
        </p:spPr>
      </p:sp>
      <p:sp>
        <p:nvSpPr>
          <p:cNvPr id="28" name="Text 24"/>
          <p:cNvSpPr/>
          <p:nvPr/>
        </p:nvSpPr>
        <p:spPr>
          <a:xfrm>
            <a:off x="11430000" y="6528816"/>
            <a:ext cx="365760" cy="256032"/>
          </a:xfrm>
          <a:prstGeom prst="rect">
            <a:avLst/>
          </a:prstGeom>
          <a:noFill/>
          <a:ln/>
        </p:spPr>
        <p:txBody>
          <a:bodyPr wrap="square" lIns="0" tIns="0" rIns="0" bIns="0" rtlCol="0" anchor="ctr"/>
          <a:lstStyle/>
          <a:p>
            <a:pPr marL="0" indent="0" algn="r">
              <a:buNone/>
            </a:pPr>
            <a:r>
              <a:rPr lang="en-US" sz="900" dirty="0">
                <a:solidFill>
                  <a:srgbClr val="8695B3"/>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2545"/>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marL="0" indent="0">
              <a:buNone/>
            </a:pPr>
            <a:r>
              <a:rPr lang="en-US" sz="1150" b="1" kern="0" spc="200" dirty="0">
                <a:solidFill>
                  <a:srgbClr val="C9922A"/>
                </a:solidFill>
                <a:latin typeface="Calibri" pitchFamily="34" charset="0"/>
                <a:ea typeface="Calibri" pitchFamily="34" charset="-122"/>
                <a:cs typeface="Calibri" pitchFamily="34" charset="-120"/>
              </a:rPr>
              <a:t>QUALITY ENGINEERING</a:t>
            </a:r>
            <a:endParaRPr lang="en-US" sz="1150" dirty="0"/>
          </a:p>
        </p:txBody>
      </p:sp>
      <p:sp>
        <p:nvSpPr>
          <p:cNvPr id="3" name="Text 1"/>
          <p:cNvSpPr/>
          <p:nvPr/>
        </p:nvSpPr>
        <p:spPr>
          <a:xfrm>
            <a:off x="640080" y="713232"/>
            <a:ext cx="996696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Performance and Accessibility</a:t>
            </a:r>
            <a:endParaRPr lang="en-US" sz="2800" dirty="0"/>
          </a:p>
        </p:txBody>
      </p:sp>
      <p:sp>
        <p:nvSpPr>
          <p:cNvPr id="4" name="Shape 2"/>
          <p:cNvSpPr/>
          <p:nvPr/>
        </p:nvSpPr>
        <p:spPr>
          <a:xfrm>
            <a:off x="640080" y="1508760"/>
            <a:ext cx="5349240" cy="1600200"/>
          </a:xfrm>
          <a:prstGeom prst="roundRect">
            <a:avLst>
              <a:gd name="adj" fmla="val 5143"/>
            </a:avLst>
          </a:prstGeom>
          <a:solidFill>
            <a:srgbClr val="183052"/>
          </a:solidFill>
          <a:ln w="12700">
            <a:solidFill>
              <a:srgbClr val="2E4A73"/>
            </a:solidFill>
            <a:prstDash val="solid"/>
          </a:ln>
          <a:effectLst>
            <a:outerShdw blurRad="101600" dist="38100" dir="5400000" algn="bl" rotWithShape="0">
              <a:srgbClr val="000000">
                <a:alpha val="25000"/>
              </a:srgbClr>
            </a:outerShdw>
          </a:effectLst>
        </p:spPr>
      </p:sp>
      <p:sp>
        <p:nvSpPr>
          <p:cNvPr id="5" name="Shape 3"/>
          <p:cNvSpPr/>
          <p:nvPr/>
        </p:nvSpPr>
        <p:spPr>
          <a:xfrm>
            <a:off x="859536" y="1728216"/>
            <a:ext cx="457200" cy="457200"/>
          </a:xfrm>
          <a:prstGeom prst="ellipse">
            <a:avLst/>
          </a:prstGeom>
          <a:solidFill>
            <a:srgbClr val="C9922A"/>
          </a:solidFill>
          <a:ln/>
        </p:spPr>
      </p:sp>
      <p:pic>
        <p:nvPicPr>
          <p:cNvPr id="6" name="Image 0" descr="/home/claude/dwdeck/icons/zap.png"/>
          <p:cNvPicPr>
            <a:picLocks noChangeAspect="1"/>
          </p:cNvPicPr>
          <p:nvPr/>
        </p:nvPicPr>
        <p:blipFill>
          <a:blip r:embed="rId3"/>
          <a:stretch>
            <a:fillRect/>
          </a:stretch>
        </p:blipFill>
        <p:spPr>
          <a:xfrm>
            <a:off x="969264" y="1837944"/>
            <a:ext cx="237744" cy="237744"/>
          </a:xfrm>
          <a:prstGeom prst="rect">
            <a:avLst/>
          </a:prstGeom>
        </p:spPr>
      </p:pic>
      <p:sp>
        <p:nvSpPr>
          <p:cNvPr id="7" name="Text 4"/>
          <p:cNvSpPr/>
          <p:nvPr/>
        </p:nvSpPr>
        <p:spPr>
          <a:xfrm>
            <a:off x="1481328" y="1709928"/>
            <a:ext cx="4297680" cy="45720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Code Splitting and Lazy Loading</a:t>
            </a:r>
            <a:endParaRPr lang="en-US" sz="1250" dirty="0"/>
          </a:p>
        </p:txBody>
      </p:sp>
      <p:sp>
        <p:nvSpPr>
          <p:cNvPr id="8" name="Text 5"/>
          <p:cNvSpPr/>
          <p:nvPr/>
        </p:nvSpPr>
        <p:spPr>
          <a:xfrm>
            <a:off x="859536" y="2258568"/>
            <a:ext cx="4910328" cy="777240"/>
          </a:xfrm>
          <a:prstGeom prst="rect">
            <a:avLst/>
          </a:prstGeom>
          <a:noFill/>
          <a:ln/>
        </p:spPr>
        <p:txBody>
          <a:bodyPr wrap="square" lIns="0" tIns="0" rIns="0" bIns="0" rtlCol="0" anchor="t"/>
          <a:lstStyle/>
          <a:p>
            <a:pPr marL="0" indent="0">
              <a:lnSpc>
                <a:spcPct val="112000"/>
              </a:lnSpc>
              <a:buNone/>
            </a:pPr>
            <a:r>
              <a:rPr lang="en-US" sz="1000" dirty="0">
                <a:solidFill>
                  <a:srgbClr val="B9C4DA"/>
                </a:solidFill>
                <a:latin typeface="Calibri" pitchFamily="34" charset="0"/>
                <a:ea typeface="Calibri" pitchFamily="34" charset="-122"/>
                <a:cs typeface="Calibri" pitchFamily="34" charset="-120"/>
              </a:rPr>
              <a:t>React.lazy and Suspense split routes so the dashboard bundle never loads on the public landing page, cutting initial payload significantly.</a:t>
            </a:r>
            <a:endParaRPr lang="en-US" sz="1000" dirty="0"/>
          </a:p>
        </p:txBody>
      </p:sp>
      <p:sp>
        <p:nvSpPr>
          <p:cNvPr id="9" name="Shape 6"/>
          <p:cNvSpPr/>
          <p:nvPr/>
        </p:nvSpPr>
        <p:spPr>
          <a:xfrm>
            <a:off x="6199632" y="1508760"/>
            <a:ext cx="5349240" cy="1600200"/>
          </a:xfrm>
          <a:prstGeom prst="roundRect">
            <a:avLst>
              <a:gd name="adj" fmla="val 5143"/>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10" name="Shape 7"/>
          <p:cNvSpPr/>
          <p:nvPr/>
        </p:nvSpPr>
        <p:spPr>
          <a:xfrm>
            <a:off x="6419088" y="1728216"/>
            <a:ext cx="457200" cy="457200"/>
          </a:xfrm>
          <a:prstGeom prst="ellipse">
            <a:avLst/>
          </a:prstGeom>
          <a:solidFill>
            <a:srgbClr val="C9922A"/>
          </a:solidFill>
          <a:ln/>
        </p:spPr>
      </p:sp>
      <p:pic>
        <p:nvPicPr>
          <p:cNvPr id="11" name="Image 1" descr="/home/claude/dwdeck/icons/eye.png"/>
          <p:cNvPicPr>
            <a:picLocks noChangeAspect="1"/>
          </p:cNvPicPr>
          <p:nvPr/>
        </p:nvPicPr>
        <p:blipFill>
          <a:blip r:embed="rId4"/>
          <a:stretch>
            <a:fillRect/>
          </a:stretch>
        </p:blipFill>
        <p:spPr>
          <a:xfrm>
            <a:off x="6528816" y="1837944"/>
            <a:ext cx="237744" cy="237744"/>
          </a:xfrm>
          <a:prstGeom prst="rect">
            <a:avLst/>
          </a:prstGeom>
        </p:spPr>
      </p:pic>
      <p:sp>
        <p:nvSpPr>
          <p:cNvPr id="12" name="Text 8"/>
          <p:cNvSpPr/>
          <p:nvPr/>
        </p:nvSpPr>
        <p:spPr>
          <a:xfrm>
            <a:off x="7040880" y="1709928"/>
            <a:ext cx="4297680" cy="45720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Lighthouse Accessibility Audit</a:t>
            </a:r>
            <a:endParaRPr lang="en-US" sz="1250" dirty="0"/>
          </a:p>
        </p:txBody>
      </p:sp>
      <p:sp>
        <p:nvSpPr>
          <p:cNvPr id="13" name="Text 9"/>
          <p:cNvSpPr/>
          <p:nvPr/>
        </p:nvSpPr>
        <p:spPr>
          <a:xfrm>
            <a:off x="6419088" y="2258568"/>
            <a:ext cx="4910328" cy="777240"/>
          </a:xfrm>
          <a:prstGeom prst="rect">
            <a:avLst/>
          </a:prstGeom>
          <a:noFill/>
          <a:ln/>
        </p:spPr>
        <p:txBody>
          <a:bodyPr wrap="square" lIns="0" tIns="0" rIns="0" bIns="0" rtlCol="0" anchor="t"/>
          <a:lstStyle/>
          <a:p>
            <a:pPr marL="0" indent="0">
              <a:lnSpc>
                <a:spcPct val="112000"/>
              </a:lnSpc>
              <a:buNone/>
            </a:pPr>
            <a:r>
              <a:rPr lang="en-US" sz="1000" dirty="0">
                <a:solidFill>
                  <a:srgbClr val="B9C4DA"/>
                </a:solidFill>
                <a:latin typeface="Calibri" pitchFamily="34" charset="0"/>
                <a:ea typeface="Calibri" pitchFamily="34" charset="-122"/>
                <a:cs typeface="Calibri" pitchFamily="34" charset="-120"/>
              </a:rPr>
              <a:t>Fixed low color contrast on error labels to meet WCAG standards and corrected tabIndex order for keyboard navigation.</a:t>
            </a:r>
            <a:endParaRPr lang="en-US" sz="1000" dirty="0"/>
          </a:p>
        </p:txBody>
      </p:sp>
      <p:sp>
        <p:nvSpPr>
          <p:cNvPr id="14" name="Shape 10"/>
          <p:cNvSpPr/>
          <p:nvPr/>
        </p:nvSpPr>
        <p:spPr>
          <a:xfrm>
            <a:off x="640080" y="3291840"/>
            <a:ext cx="5349240" cy="1600200"/>
          </a:xfrm>
          <a:prstGeom prst="roundRect">
            <a:avLst>
              <a:gd name="adj" fmla="val 5143"/>
            </a:avLst>
          </a:prstGeom>
          <a:solidFill>
            <a:srgbClr val="183052"/>
          </a:solidFill>
          <a:ln w="12700">
            <a:solidFill>
              <a:srgbClr val="2E4A73"/>
            </a:solidFill>
            <a:prstDash val="solid"/>
          </a:ln>
          <a:effectLst>
            <a:outerShdw blurRad="101600" dist="38100" dir="5400000" algn="bl" rotWithShape="0">
              <a:srgbClr val="000000">
                <a:alpha val="25000"/>
              </a:srgbClr>
            </a:outerShdw>
          </a:effectLst>
        </p:spPr>
      </p:sp>
      <p:sp>
        <p:nvSpPr>
          <p:cNvPr id="15" name="Shape 11"/>
          <p:cNvSpPr/>
          <p:nvPr/>
        </p:nvSpPr>
        <p:spPr>
          <a:xfrm>
            <a:off x="859536" y="3511296"/>
            <a:ext cx="457200" cy="457200"/>
          </a:xfrm>
          <a:prstGeom prst="ellipse">
            <a:avLst/>
          </a:prstGeom>
          <a:solidFill>
            <a:srgbClr val="C9922A"/>
          </a:solidFill>
          <a:ln/>
        </p:spPr>
      </p:sp>
      <p:pic>
        <p:nvPicPr>
          <p:cNvPr id="16" name="Image 2" descr="/home/claude/dwdeck/icons/alerttriangle.png"/>
          <p:cNvPicPr>
            <a:picLocks noChangeAspect="1"/>
          </p:cNvPicPr>
          <p:nvPr/>
        </p:nvPicPr>
        <p:blipFill>
          <a:blip r:embed="rId5"/>
          <a:stretch>
            <a:fillRect/>
          </a:stretch>
        </p:blipFill>
        <p:spPr>
          <a:xfrm>
            <a:off x="969264" y="3621024"/>
            <a:ext cx="237744" cy="237744"/>
          </a:xfrm>
          <a:prstGeom prst="rect">
            <a:avLst/>
          </a:prstGeom>
        </p:spPr>
      </p:pic>
      <p:sp>
        <p:nvSpPr>
          <p:cNvPr id="17" name="Text 12"/>
          <p:cNvSpPr/>
          <p:nvPr/>
        </p:nvSpPr>
        <p:spPr>
          <a:xfrm>
            <a:off x="1481328" y="3493008"/>
            <a:ext cx="4297680" cy="45720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Cross Browser Fixes</a:t>
            </a:r>
            <a:endParaRPr lang="en-US" sz="1250" dirty="0"/>
          </a:p>
        </p:txBody>
      </p:sp>
      <p:sp>
        <p:nvSpPr>
          <p:cNvPr id="18" name="Text 13"/>
          <p:cNvSpPr/>
          <p:nvPr/>
        </p:nvSpPr>
        <p:spPr>
          <a:xfrm>
            <a:off x="859536" y="4041648"/>
            <a:ext cx="4910328" cy="777240"/>
          </a:xfrm>
          <a:prstGeom prst="rect">
            <a:avLst/>
          </a:prstGeom>
          <a:noFill/>
          <a:ln/>
        </p:spPr>
        <p:txBody>
          <a:bodyPr wrap="square" lIns="0" tIns="0" rIns="0" bIns="0" rtlCol="0" anchor="t"/>
          <a:lstStyle/>
          <a:p>
            <a:pPr marL="0" indent="0">
              <a:lnSpc>
                <a:spcPct val="112000"/>
              </a:lnSpc>
              <a:buNone/>
            </a:pPr>
            <a:r>
              <a:rPr lang="en-US" sz="1000" dirty="0">
                <a:solidFill>
                  <a:srgbClr val="B9C4DA"/>
                </a:solidFill>
                <a:latin typeface="Calibri" pitchFamily="34" charset="0"/>
                <a:ea typeface="Calibri" pitchFamily="34" charset="-122"/>
                <a:cs typeface="Calibri" pitchFamily="34" charset="-120"/>
              </a:rPr>
              <a:t>Diagnosed a Safari specific bug where flexbox gap was not rendering, resolved with margin based fallbacks.</a:t>
            </a:r>
            <a:endParaRPr lang="en-US" sz="1000" dirty="0"/>
          </a:p>
        </p:txBody>
      </p:sp>
      <p:sp>
        <p:nvSpPr>
          <p:cNvPr id="19" name="Shape 14"/>
          <p:cNvSpPr/>
          <p:nvPr/>
        </p:nvSpPr>
        <p:spPr>
          <a:xfrm>
            <a:off x="6199632" y="3291840"/>
            <a:ext cx="5349240" cy="1600200"/>
          </a:xfrm>
          <a:prstGeom prst="roundRect">
            <a:avLst>
              <a:gd name="adj" fmla="val 5143"/>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20" name="Shape 15"/>
          <p:cNvSpPr/>
          <p:nvPr/>
        </p:nvSpPr>
        <p:spPr>
          <a:xfrm>
            <a:off x="6419088" y="3511296"/>
            <a:ext cx="457200" cy="457200"/>
          </a:xfrm>
          <a:prstGeom prst="ellipse">
            <a:avLst/>
          </a:prstGeom>
          <a:solidFill>
            <a:srgbClr val="C9922A"/>
          </a:solidFill>
          <a:ln/>
        </p:spPr>
      </p:sp>
      <p:pic>
        <p:nvPicPr>
          <p:cNvPr id="21" name="Image 3" descr="/home/claude/dwdeck/icons/filetext.png"/>
          <p:cNvPicPr>
            <a:picLocks noChangeAspect="1"/>
          </p:cNvPicPr>
          <p:nvPr/>
        </p:nvPicPr>
        <p:blipFill>
          <a:blip r:embed="rId6"/>
          <a:stretch>
            <a:fillRect/>
          </a:stretch>
        </p:blipFill>
        <p:spPr>
          <a:xfrm>
            <a:off x="6528816" y="3621024"/>
            <a:ext cx="237744" cy="237744"/>
          </a:xfrm>
          <a:prstGeom prst="rect">
            <a:avLst/>
          </a:prstGeom>
        </p:spPr>
      </p:pic>
      <p:sp>
        <p:nvSpPr>
          <p:cNvPr id="22" name="Text 16"/>
          <p:cNvSpPr/>
          <p:nvPr/>
        </p:nvSpPr>
        <p:spPr>
          <a:xfrm>
            <a:off x="7040880" y="3493008"/>
            <a:ext cx="4297680" cy="45720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Static Pre-rendering for SEO</a:t>
            </a:r>
            <a:endParaRPr lang="en-US" sz="1250" dirty="0"/>
          </a:p>
        </p:txBody>
      </p:sp>
      <p:sp>
        <p:nvSpPr>
          <p:cNvPr id="23" name="Text 17"/>
          <p:cNvSpPr/>
          <p:nvPr/>
        </p:nvSpPr>
        <p:spPr>
          <a:xfrm>
            <a:off x="6419088" y="4041648"/>
            <a:ext cx="4910328" cy="777240"/>
          </a:xfrm>
          <a:prstGeom prst="rect">
            <a:avLst/>
          </a:prstGeom>
          <a:noFill/>
          <a:ln/>
        </p:spPr>
        <p:txBody>
          <a:bodyPr wrap="square" lIns="0" tIns="0" rIns="0" bIns="0" rtlCol="0" anchor="t"/>
          <a:lstStyle/>
          <a:p>
            <a:pPr marL="0" indent="0">
              <a:lnSpc>
                <a:spcPct val="112000"/>
              </a:lnSpc>
              <a:buNone/>
            </a:pPr>
            <a:r>
              <a:rPr lang="en-US" sz="1000" dirty="0">
                <a:solidFill>
                  <a:srgbClr val="B9C4DA"/>
                </a:solidFill>
                <a:latin typeface="Calibri" pitchFamily="34" charset="0"/>
                <a:ea typeface="Calibri" pitchFamily="34" charset="-122"/>
                <a:cs typeface="Calibri" pitchFamily="34" charset="-120"/>
              </a:rPr>
              <a:t>Pre-rendered HTML improves crawlability and First Contentful Paint over a pure client rendered SPA.</a:t>
            </a:r>
            <a:endParaRPr lang="en-US" sz="1000" dirty="0"/>
          </a:p>
        </p:txBody>
      </p:sp>
      <p:sp>
        <p:nvSpPr>
          <p:cNvPr id="24" name="Text 18"/>
          <p:cNvSpPr/>
          <p:nvPr/>
        </p:nvSpPr>
        <p:spPr>
          <a:xfrm>
            <a:off x="640080" y="6528816"/>
            <a:ext cx="5486400" cy="256032"/>
          </a:xfrm>
          <a:prstGeom prst="rect">
            <a:avLst/>
          </a:prstGeom>
          <a:noFill/>
          <a:ln/>
        </p:spPr>
        <p:txBody>
          <a:bodyPr wrap="square" lIns="0" tIns="0" rIns="0" bIns="0" rtlCol="0" anchor="ctr"/>
          <a:lstStyle/>
          <a:p>
            <a:pPr marL="0" indent="0">
              <a:buNone/>
            </a:pPr>
            <a:r>
              <a:rPr lang="en-US" sz="900" dirty="0">
                <a:solidFill>
                  <a:srgbClr val="8695B3"/>
                </a:solidFill>
                <a:latin typeface="Calibri" pitchFamily="34" charset="0"/>
                <a:ea typeface="Calibri" pitchFamily="34" charset="-122"/>
                <a:cs typeface="Calibri" pitchFamily="34" charset="-120"/>
              </a:rPr>
              <a:t>Drishti Wealth Financial Advisory Platform</a:t>
            </a:r>
            <a:endParaRPr lang="en-US" sz="900" dirty="0"/>
          </a:p>
        </p:txBody>
      </p:sp>
      <p:sp>
        <p:nvSpPr>
          <p:cNvPr id="25" name="Shape 19"/>
          <p:cNvSpPr/>
          <p:nvPr/>
        </p:nvSpPr>
        <p:spPr>
          <a:xfrm>
            <a:off x="11292840" y="6583680"/>
            <a:ext cx="54864" cy="54864"/>
          </a:xfrm>
          <a:prstGeom prst="ellipse">
            <a:avLst/>
          </a:prstGeom>
          <a:solidFill>
            <a:srgbClr val="C9922A"/>
          </a:solidFill>
          <a:ln/>
        </p:spPr>
      </p:sp>
      <p:sp>
        <p:nvSpPr>
          <p:cNvPr id="26" name="Text 20"/>
          <p:cNvSpPr/>
          <p:nvPr/>
        </p:nvSpPr>
        <p:spPr>
          <a:xfrm>
            <a:off x="11430000" y="6528816"/>
            <a:ext cx="365760" cy="256032"/>
          </a:xfrm>
          <a:prstGeom prst="rect">
            <a:avLst/>
          </a:prstGeom>
          <a:noFill/>
          <a:ln/>
        </p:spPr>
        <p:txBody>
          <a:bodyPr wrap="square" lIns="0" tIns="0" rIns="0" bIns="0" rtlCol="0" anchor="ctr"/>
          <a:lstStyle/>
          <a:p>
            <a:pPr marL="0" indent="0" algn="r">
              <a:buNone/>
            </a:pPr>
            <a:r>
              <a:rPr lang="en-US" sz="900" dirty="0">
                <a:solidFill>
                  <a:srgbClr val="8695B3"/>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2545"/>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marL="0" indent="0">
              <a:buNone/>
            </a:pPr>
            <a:r>
              <a:rPr lang="en-US" sz="1150" b="1" kern="0" spc="200" dirty="0">
                <a:solidFill>
                  <a:srgbClr val="C9922A"/>
                </a:solidFill>
                <a:latin typeface="Calibri" pitchFamily="34" charset="0"/>
                <a:ea typeface="Calibri" pitchFamily="34" charset="-122"/>
                <a:cs typeface="Calibri" pitchFamily="34" charset="-120"/>
              </a:rPr>
              <a:t>INTERNAL TOOLING</a:t>
            </a:r>
            <a:endParaRPr lang="en-US" sz="1150" dirty="0"/>
          </a:p>
        </p:txBody>
      </p:sp>
      <p:sp>
        <p:nvSpPr>
          <p:cNvPr id="3" name="Text 1"/>
          <p:cNvSpPr/>
          <p:nvPr/>
        </p:nvSpPr>
        <p:spPr>
          <a:xfrm>
            <a:off x="640080" y="713232"/>
            <a:ext cx="996696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Admin Dashboard, In Depth</a:t>
            </a:r>
            <a:endParaRPr lang="en-US" sz="2800" dirty="0"/>
          </a:p>
        </p:txBody>
      </p:sp>
      <p:sp>
        <p:nvSpPr>
          <p:cNvPr id="4" name="Shape 2"/>
          <p:cNvSpPr/>
          <p:nvPr/>
        </p:nvSpPr>
        <p:spPr>
          <a:xfrm>
            <a:off x="7818120" y="658368"/>
            <a:ext cx="3730752" cy="384048"/>
          </a:xfrm>
          <a:prstGeom prst="roundRect">
            <a:avLst>
              <a:gd name="adj" fmla="val 14286"/>
            </a:avLst>
          </a:prstGeom>
          <a:solidFill>
            <a:srgbClr val="0A1D38"/>
          </a:solidFill>
          <a:ln w="12700">
            <a:solidFill>
              <a:srgbClr val="2E4A73"/>
            </a:solidFill>
            <a:prstDash val="solid"/>
          </a:ln>
        </p:spPr>
      </p:sp>
      <p:sp>
        <p:nvSpPr>
          <p:cNvPr id="5" name="Shape 3"/>
          <p:cNvSpPr/>
          <p:nvPr/>
        </p:nvSpPr>
        <p:spPr>
          <a:xfrm>
            <a:off x="7964424" y="800100"/>
            <a:ext cx="100584" cy="100584"/>
          </a:xfrm>
          <a:prstGeom prst="ellipse">
            <a:avLst/>
          </a:prstGeom>
          <a:solidFill>
            <a:srgbClr val="E15B4D"/>
          </a:solidFill>
          <a:ln/>
        </p:spPr>
      </p:sp>
      <p:sp>
        <p:nvSpPr>
          <p:cNvPr id="6" name="Shape 4"/>
          <p:cNvSpPr/>
          <p:nvPr/>
        </p:nvSpPr>
        <p:spPr>
          <a:xfrm>
            <a:off x="8165592" y="800100"/>
            <a:ext cx="100584" cy="100584"/>
          </a:xfrm>
          <a:prstGeom prst="ellipse">
            <a:avLst/>
          </a:prstGeom>
          <a:solidFill>
            <a:srgbClr val="E3B84D"/>
          </a:solidFill>
          <a:ln/>
        </p:spPr>
      </p:sp>
      <p:sp>
        <p:nvSpPr>
          <p:cNvPr id="7" name="Shape 5"/>
          <p:cNvSpPr/>
          <p:nvPr/>
        </p:nvSpPr>
        <p:spPr>
          <a:xfrm>
            <a:off x="8366760" y="800100"/>
            <a:ext cx="100584" cy="100584"/>
          </a:xfrm>
          <a:prstGeom prst="ellipse">
            <a:avLst/>
          </a:prstGeom>
          <a:solidFill>
            <a:srgbClr val="4DA35B"/>
          </a:solidFill>
          <a:ln/>
        </p:spPr>
      </p:sp>
      <p:sp>
        <p:nvSpPr>
          <p:cNvPr id="8" name="Text 6"/>
          <p:cNvSpPr/>
          <p:nvPr/>
        </p:nvSpPr>
        <p:spPr>
          <a:xfrm>
            <a:off x="8595360" y="658368"/>
            <a:ext cx="2816352" cy="384048"/>
          </a:xfrm>
          <a:prstGeom prst="rect">
            <a:avLst/>
          </a:prstGeom>
          <a:noFill/>
          <a:ln/>
        </p:spPr>
        <p:txBody>
          <a:bodyPr wrap="square" lIns="0" tIns="0" rIns="0" bIns="0" rtlCol="0" anchor="ctr"/>
          <a:lstStyle/>
          <a:p>
            <a:pPr marL="0" indent="0">
              <a:buNone/>
            </a:pPr>
            <a:r>
              <a:rPr lang="en-US" sz="1200" dirty="0">
                <a:solidFill>
                  <a:srgbClr val="B9C4DA"/>
                </a:solidFill>
                <a:latin typeface="Consolas" pitchFamily="34" charset="0"/>
                <a:ea typeface="Consolas" pitchFamily="34" charset="-122"/>
                <a:cs typeface="Consolas" pitchFamily="34" charset="-120"/>
              </a:rPr>
              <a:t>drishtiwealth.in/admin/dashboard</a:t>
            </a:r>
            <a:endParaRPr lang="en-US" sz="1200" dirty="0"/>
          </a:p>
        </p:txBody>
      </p:sp>
      <p:sp>
        <p:nvSpPr>
          <p:cNvPr id="9" name="Text 7"/>
          <p:cNvSpPr/>
          <p:nvPr/>
        </p:nvSpPr>
        <p:spPr>
          <a:xfrm>
            <a:off x="640080" y="1508760"/>
            <a:ext cx="5486400" cy="3200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Features</a:t>
            </a:r>
            <a:endParaRPr lang="en-US" sz="1450" dirty="0"/>
          </a:p>
        </p:txBody>
      </p:sp>
      <p:sp>
        <p:nvSpPr>
          <p:cNvPr id="10" name="Shape 8"/>
          <p:cNvSpPr/>
          <p:nvPr/>
        </p:nvSpPr>
        <p:spPr>
          <a:xfrm>
            <a:off x="640080" y="1874520"/>
            <a:ext cx="384048" cy="384048"/>
          </a:xfrm>
          <a:prstGeom prst="ellipse">
            <a:avLst/>
          </a:prstGeom>
          <a:solidFill>
            <a:srgbClr val="C9922A"/>
          </a:solidFill>
          <a:ln/>
        </p:spPr>
      </p:sp>
      <p:pic>
        <p:nvPicPr>
          <p:cNvPr id="11" name="Image 0" descr="/home/claude/dwdeck/icons/lock.png"/>
          <p:cNvPicPr>
            <a:picLocks noChangeAspect="1"/>
          </p:cNvPicPr>
          <p:nvPr/>
        </p:nvPicPr>
        <p:blipFill>
          <a:blip r:embed="rId3"/>
          <a:stretch>
            <a:fillRect/>
          </a:stretch>
        </p:blipFill>
        <p:spPr>
          <a:xfrm>
            <a:off x="731520" y="1965960"/>
            <a:ext cx="201168" cy="201168"/>
          </a:xfrm>
          <a:prstGeom prst="rect">
            <a:avLst/>
          </a:prstGeom>
        </p:spPr>
      </p:pic>
      <p:sp>
        <p:nvSpPr>
          <p:cNvPr id="12" name="Text 9"/>
          <p:cNvSpPr/>
          <p:nvPr/>
        </p:nvSpPr>
        <p:spPr>
          <a:xfrm>
            <a:off x="1188720" y="1874520"/>
            <a:ext cx="4937760" cy="384048"/>
          </a:xfrm>
          <a:prstGeom prst="rect">
            <a:avLst/>
          </a:prstGeom>
          <a:noFill/>
          <a:ln/>
        </p:spPr>
        <p:txBody>
          <a:bodyPr wrap="square" lIns="0" tIns="0" rIns="0" bIns="0" rtlCol="0" anchor="ctr"/>
          <a:lstStyle/>
          <a:p>
            <a:pPr marL="0" indent="0">
              <a:buNone/>
            </a:pPr>
            <a:r>
              <a:rPr lang="en-US" sz="1150" dirty="0">
                <a:solidFill>
                  <a:srgbClr val="B9C4DA"/>
                </a:solidFill>
                <a:latin typeface="Calibri" pitchFamily="34" charset="0"/>
                <a:ea typeface="Calibri" pitchFamily="34" charset="-122"/>
                <a:cs typeface="Calibri" pitchFamily="34" charset="-120"/>
              </a:rPr>
              <a:t>Protected login backed by JWT session verification</a:t>
            </a:r>
            <a:endParaRPr lang="en-US" sz="1150" dirty="0"/>
          </a:p>
        </p:txBody>
      </p:sp>
      <p:sp>
        <p:nvSpPr>
          <p:cNvPr id="13" name="Shape 10"/>
          <p:cNvSpPr/>
          <p:nvPr/>
        </p:nvSpPr>
        <p:spPr>
          <a:xfrm>
            <a:off x="640080" y="2377440"/>
            <a:ext cx="384048" cy="384048"/>
          </a:xfrm>
          <a:prstGeom prst="ellipse">
            <a:avLst/>
          </a:prstGeom>
          <a:solidFill>
            <a:srgbClr val="C9922A"/>
          </a:solidFill>
          <a:ln/>
        </p:spPr>
      </p:sp>
      <p:pic>
        <p:nvPicPr>
          <p:cNvPr id="14" name="Image 1" descr="/home/claude/dwdeck/icons/clipboard.png"/>
          <p:cNvPicPr>
            <a:picLocks noChangeAspect="1"/>
          </p:cNvPicPr>
          <p:nvPr/>
        </p:nvPicPr>
        <p:blipFill>
          <a:blip r:embed="rId4"/>
          <a:stretch>
            <a:fillRect/>
          </a:stretch>
        </p:blipFill>
        <p:spPr>
          <a:xfrm>
            <a:off x="731520" y="2468880"/>
            <a:ext cx="201168" cy="201168"/>
          </a:xfrm>
          <a:prstGeom prst="rect">
            <a:avLst/>
          </a:prstGeom>
        </p:spPr>
      </p:pic>
      <p:sp>
        <p:nvSpPr>
          <p:cNvPr id="15" name="Text 11"/>
          <p:cNvSpPr/>
          <p:nvPr/>
        </p:nvSpPr>
        <p:spPr>
          <a:xfrm>
            <a:off x="1188720" y="2377440"/>
            <a:ext cx="4937760" cy="384048"/>
          </a:xfrm>
          <a:prstGeom prst="rect">
            <a:avLst/>
          </a:prstGeom>
          <a:noFill/>
          <a:ln/>
        </p:spPr>
        <p:txBody>
          <a:bodyPr wrap="square" lIns="0" tIns="0" rIns="0" bIns="0" rtlCol="0" anchor="ctr"/>
          <a:lstStyle/>
          <a:p>
            <a:pPr marL="0" indent="0">
              <a:buNone/>
            </a:pPr>
            <a:r>
              <a:rPr lang="en-US" sz="1150" dirty="0">
                <a:solidFill>
                  <a:srgbClr val="B9C4DA"/>
                </a:solidFill>
                <a:latin typeface="Calibri" pitchFamily="34" charset="0"/>
                <a:ea typeface="Calibri" pitchFamily="34" charset="-122"/>
                <a:cs typeface="Calibri" pitchFamily="34" charset="-120"/>
              </a:rPr>
              <a:t>Color coded status tags: Pending, In Progress, Resolved</a:t>
            </a:r>
            <a:endParaRPr lang="en-US" sz="1150" dirty="0"/>
          </a:p>
        </p:txBody>
      </p:sp>
      <p:sp>
        <p:nvSpPr>
          <p:cNvPr id="16" name="Shape 12"/>
          <p:cNvSpPr/>
          <p:nvPr/>
        </p:nvSpPr>
        <p:spPr>
          <a:xfrm>
            <a:off x="640080" y="2880360"/>
            <a:ext cx="384048" cy="384048"/>
          </a:xfrm>
          <a:prstGeom prst="ellipse">
            <a:avLst/>
          </a:prstGeom>
          <a:solidFill>
            <a:srgbClr val="C9922A"/>
          </a:solidFill>
          <a:ln/>
        </p:spPr>
      </p:sp>
      <p:pic>
        <p:nvPicPr>
          <p:cNvPr id="17" name="Image 2" descr="/home/claude/dwdeck/icons/search.png"/>
          <p:cNvPicPr>
            <a:picLocks noChangeAspect="1"/>
          </p:cNvPicPr>
          <p:nvPr/>
        </p:nvPicPr>
        <p:blipFill>
          <a:blip r:embed="rId5"/>
          <a:stretch>
            <a:fillRect/>
          </a:stretch>
        </p:blipFill>
        <p:spPr>
          <a:xfrm>
            <a:off x="731520" y="2971800"/>
            <a:ext cx="201168" cy="201168"/>
          </a:xfrm>
          <a:prstGeom prst="rect">
            <a:avLst/>
          </a:prstGeom>
        </p:spPr>
      </p:pic>
      <p:sp>
        <p:nvSpPr>
          <p:cNvPr id="18" name="Text 13"/>
          <p:cNvSpPr/>
          <p:nvPr/>
        </p:nvSpPr>
        <p:spPr>
          <a:xfrm>
            <a:off x="1188720" y="2880360"/>
            <a:ext cx="4937760" cy="384048"/>
          </a:xfrm>
          <a:prstGeom prst="rect">
            <a:avLst/>
          </a:prstGeom>
          <a:noFill/>
          <a:ln/>
        </p:spPr>
        <p:txBody>
          <a:bodyPr wrap="square" lIns="0" tIns="0" rIns="0" bIns="0" rtlCol="0" anchor="ctr"/>
          <a:lstStyle/>
          <a:p>
            <a:pPr marL="0" indent="0">
              <a:buNone/>
            </a:pPr>
            <a:r>
              <a:rPr lang="en-US" sz="1150" dirty="0">
                <a:solidFill>
                  <a:srgbClr val="B9C4DA"/>
                </a:solidFill>
                <a:latin typeface="Calibri" pitchFamily="34" charset="0"/>
                <a:ea typeface="Calibri" pitchFamily="34" charset="-122"/>
                <a:cs typeface="Calibri" pitchFamily="34" charset="-120"/>
              </a:rPr>
              <a:t>Client side search plus multi parameter filtering</a:t>
            </a:r>
            <a:endParaRPr lang="en-US" sz="1150" dirty="0"/>
          </a:p>
        </p:txBody>
      </p:sp>
      <p:sp>
        <p:nvSpPr>
          <p:cNvPr id="19" name="Shape 14"/>
          <p:cNvSpPr/>
          <p:nvPr/>
        </p:nvSpPr>
        <p:spPr>
          <a:xfrm>
            <a:off x="640080" y="3383280"/>
            <a:ext cx="384048" cy="384048"/>
          </a:xfrm>
          <a:prstGeom prst="ellipse">
            <a:avLst/>
          </a:prstGeom>
          <a:solidFill>
            <a:srgbClr val="C9922A"/>
          </a:solidFill>
          <a:ln/>
        </p:spPr>
      </p:sp>
      <p:pic>
        <p:nvPicPr>
          <p:cNvPr id="20" name="Image 3" descr="/home/claude/dwdeck/icons/clock.png"/>
          <p:cNvPicPr>
            <a:picLocks noChangeAspect="1"/>
          </p:cNvPicPr>
          <p:nvPr/>
        </p:nvPicPr>
        <p:blipFill>
          <a:blip r:embed="rId6"/>
          <a:stretch>
            <a:fillRect/>
          </a:stretch>
        </p:blipFill>
        <p:spPr>
          <a:xfrm>
            <a:off x="731520" y="3474720"/>
            <a:ext cx="201168" cy="201168"/>
          </a:xfrm>
          <a:prstGeom prst="rect">
            <a:avLst/>
          </a:prstGeom>
        </p:spPr>
      </p:pic>
      <p:sp>
        <p:nvSpPr>
          <p:cNvPr id="21" name="Text 15"/>
          <p:cNvSpPr/>
          <p:nvPr/>
        </p:nvSpPr>
        <p:spPr>
          <a:xfrm>
            <a:off x="1188720" y="3383280"/>
            <a:ext cx="4937760" cy="384048"/>
          </a:xfrm>
          <a:prstGeom prst="rect">
            <a:avLst/>
          </a:prstGeom>
          <a:noFill/>
          <a:ln/>
        </p:spPr>
        <p:txBody>
          <a:bodyPr wrap="square" lIns="0" tIns="0" rIns="0" bIns="0" rtlCol="0" anchor="ctr"/>
          <a:lstStyle/>
          <a:p>
            <a:pPr marL="0" indent="0">
              <a:buNone/>
            </a:pPr>
            <a:r>
              <a:rPr lang="en-US" sz="1150" dirty="0">
                <a:solidFill>
                  <a:srgbClr val="B9C4DA"/>
                </a:solidFill>
                <a:latin typeface="Calibri" pitchFamily="34" charset="0"/>
                <a:ea typeface="Calibri" pitchFamily="34" charset="-122"/>
                <a:cs typeface="Calibri" pitchFamily="34" charset="-120"/>
              </a:rPr>
              <a:t>Server side pagination for large lead volumes</a:t>
            </a:r>
            <a:endParaRPr lang="en-US" sz="1150" dirty="0"/>
          </a:p>
        </p:txBody>
      </p:sp>
      <p:sp>
        <p:nvSpPr>
          <p:cNvPr id="22" name="Shape 16"/>
          <p:cNvSpPr/>
          <p:nvPr/>
        </p:nvSpPr>
        <p:spPr>
          <a:xfrm>
            <a:off x="640080" y="3886200"/>
            <a:ext cx="384048" cy="384048"/>
          </a:xfrm>
          <a:prstGeom prst="ellipse">
            <a:avLst/>
          </a:prstGeom>
          <a:solidFill>
            <a:srgbClr val="C9922A"/>
          </a:solidFill>
          <a:ln/>
        </p:spPr>
      </p:sp>
      <p:pic>
        <p:nvPicPr>
          <p:cNvPr id="23" name="Image 4" descr="/home/claude/dwdeck/icons/download.png"/>
          <p:cNvPicPr>
            <a:picLocks noChangeAspect="1"/>
          </p:cNvPicPr>
          <p:nvPr/>
        </p:nvPicPr>
        <p:blipFill>
          <a:blip r:embed="rId7"/>
          <a:stretch>
            <a:fillRect/>
          </a:stretch>
        </p:blipFill>
        <p:spPr>
          <a:xfrm>
            <a:off x="731520" y="3977640"/>
            <a:ext cx="201168" cy="201168"/>
          </a:xfrm>
          <a:prstGeom prst="rect">
            <a:avLst/>
          </a:prstGeom>
        </p:spPr>
      </p:pic>
      <p:sp>
        <p:nvSpPr>
          <p:cNvPr id="24" name="Text 17"/>
          <p:cNvSpPr/>
          <p:nvPr/>
        </p:nvSpPr>
        <p:spPr>
          <a:xfrm>
            <a:off x="1188720" y="3886200"/>
            <a:ext cx="4937760" cy="384048"/>
          </a:xfrm>
          <a:prstGeom prst="rect">
            <a:avLst/>
          </a:prstGeom>
          <a:noFill/>
          <a:ln/>
        </p:spPr>
        <p:txBody>
          <a:bodyPr wrap="square" lIns="0" tIns="0" rIns="0" bIns="0" rtlCol="0" anchor="ctr"/>
          <a:lstStyle/>
          <a:p>
            <a:pPr marL="0" indent="0">
              <a:buNone/>
            </a:pPr>
            <a:r>
              <a:rPr lang="en-US" sz="1150" dirty="0">
                <a:solidFill>
                  <a:srgbClr val="B9C4DA"/>
                </a:solidFill>
                <a:latin typeface="Calibri" pitchFamily="34" charset="0"/>
                <a:ea typeface="Calibri" pitchFamily="34" charset="-122"/>
                <a:cs typeface="Calibri" pitchFamily="34" charset="-120"/>
              </a:rPr>
              <a:t>One click CSV export engine</a:t>
            </a:r>
            <a:endParaRPr lang="en-US" sz="1150" dirty="0"/>
          </a:p>
        </p:txBody>
      </p:sp>
      <p:sp>
        <p:nvSpPr>
          <p:cNvPr id="25" name="Shape 18"/>
          <p:cNvSpPr/>
          <p:nvPr/>
        </p:nvSpPr>
        <p:spPr>
          <a:xfrm>
            <a:off x="6309360" y="1508760"/>
            <a:ext cx="5239512" cy="4434840"/>
          </a:xfrm>
          <a:prstGeom prst="roundRect">
            <a:avLst>
              <a:gd name="adj" fmla="val 1856"/>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26" name="Shape 19"/>
          <p:cNvSpPr/>
          <p:nvPr/>
        </p:nvSpPr>
        <p:spPr>
          <a:xfrm>
            <a:off x="6583680" y="1737360"/>
            <a:ext cx="502920" cy="502920"/>
          </a:xfrm>
          <a:prstGeom prst="ellipse">
            <a:avLst/>
          </a:prstGeom>
          <a:solidFill>
            <a:srgbClr val="0D2545"/>
          </a:solidFill>
          <a:ln/>
        </p:spPr>
      </p:sp>
      <p:pic>
        <p:nvPicPr>
          <p:cNvPr id="27" name="Image 5" descr="/home/claude/dwdeck/icons/box.png"/>
          <p:cNvPicPr>
            <a:picLocks noChangeAspect="1"/>
          </p:cNvPicPr>
          <p:nvPr/>
        </p:nvPicPr>
        <p:blipFill>
          <a:blip r:embed="rId8"/>
          <a:stretch>
            <a:fillRect/>
          </a:stretch>
        </p:blipFill>
        <p:spPr>
          <a:xfrm>
            <a:off x="6702552" y="1856232"/>
            <a:ext cx="265176" cy="265176"/>
          </a:xfrm>
          <a:prstGeom prst="rect">
            <a:avLst/>
          </a:prstGeom>
        </p:spPr>
      </p:pic>
      <p:sp>
        <p:nvSpPr>
          <p:cNvPr id="28" name="Text 20"/>
          <p:cNvSpPr/>
          <p:nvPr/>
        </p:nvSpPr>
        <p:spPr>
          <a:xfrm>
            <a:off x="7223760" y="1737360"/>
            <a:ext cx="4114800"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Side Drawer Detail View</a:t>
            </a:r>
            <a:endParaRPr lang="en-US" sz="1400" dirty="0"/>
          </a:p>
        </p:txBody>
      </p:sp>
      <p:sp>
        <p:nvSpPr>
          <p:cNvPr id="29" name="Text 21"/>
          <p:cNvSpPr/>
          <p:nvPr/>
        </p:nvSpPr>
        <p:spPr>
          <a:xfrm>
            <a:off x="6583680" y="2331720"/>
            <a:ext cx="4709160" cy="548640"/>
          </a:xfrm>
          <a:prstGeom prst="rect">
            <a:avLst/>
          </a:prstGeom>
          <a:noFill/>
          <a:ln/>
        </p:spPr>
        <p:txBody>
          <a:bodyPr wrap="square" lIns="0" tIns="0" rIns="0" bIns="0" rtlCol="0" anchor="t"/>
          <a:lstStyle/>
          <a:p>
            <a:pPr marL="0" indent="0">
              <a:lnSpc>
                <a:spcPct val="120000"/>
              </a:lnSpc>
              <a:buNone/>
            </a:pPr>
            <a:r>
              <a:rPr lang="en-US" sz="1100" dirty="0">
                <a:solidFill>
                  <a:srgbClr val="B9C4DA"/>
                </a:solidFill>
                <a:latin typeface="Calibri" pitchFamily="34" charset="0"/>
                <a:ea typeface="Calibri" pitchFamily="34" charset="-122"/>
                <a:cs typeface="Calibri" pitchFamily="34" charset="-120"/>
              </a:rPr>
              <a:t>A responsive slide in drawer shows full record details without navigating away from the table.</a:t>
            </a:r>
            <a:endParaRPr lang="en-US" sz="1100" dirty="0"/>
          </a:p>
        </p:txBody>
      </p:sp>
      <p:sp>
        <p:nvSpPr>
          <p:cNvPr id="30" name="Shape 22"/>
          <p:cNvSpPr/>
          <p:nvPr/>
        </p:nvSpPr>
        <p:spPr>
          <a:xfrm>
            <a:off x="6583680" y="2971800"/>
            <a:ext cx="4709160" cy="0"/>
          </a:xfrm>
          <a:prstGeom prst="line">
            <a:avLst/>
          </a:prstGeom>
          <a:noFill/>
          <a:ln w="12700">
            <a:solidFill>
              <a:srgbClr val="2E4A73"/>
            </a:solidFill>
            <a:prstDash val="solid"/>
          </a:ln>
        </p:spPr>
      </p:sp>
      <p:sp>
        <p:nvSpPr>
          <p:cNvPr id="31" name="Text 23"/>
          <p:cNvSpPr/>
          <p:nvPr/>
        </p:nvSpPr>
        <p:spPr>
          <a:xfrm>
            <a:off x="6583680" y="3108960"/>
            <a:ext cx="4572000" cy="274320"/>
          </a:xfrm>
          <a:prstGeom prst="rect">
            <a:avLst/>
          </a:prstGeom>
          <a:noFill/>
          <a:ln/>
        </p:spPr>
        <p:txBody>
          <a:bodyPr wrap="square" lIns="0" tIns="0" rIns="0" bIns="0" rtlCol="0" anchor="ctr"/>
          <a:lstStyle/>
          <a:p>
            <a:pPr marL="0" indent="0">
              <a:buNone/>
            </a:pPr>
            <a:r>
              <a:rPr lang="en-US" sz="1050" b="1" dirty="0">
                <a:solidFill>
                  <a:srgbClr val="C9922A"/>
                </a:solidFill>
                <a:latin typeface="Calibri" pitchFamily="34" charset="0"/>
                <a:ea typeface="Calibri" pitchFamily="34" charset="-122"/>
                <a:cs typeface="Calibri" pitchFamily="34" charset="-120"/>
              </a:rPr>
              <a:t>Bug Fixed Before Demo</a:t>
            </a:r>
            <a:endParaRPr lang="en-US" sz="1050" dirty="0"/>
          </a:p>
        </p:txBody>
      </p:sp>
      <p:sp>
        <p:nvSpPr>
          <p:cNvPr id="32" name="Text 24"/>
          <p:cNvSpPr/>
          <p:nvPr/>
        </p:nvSpPr>
        <p:spPr>
          <a:xfrm>
            <a:off x="6583680" y="3429000"/>
            <a:ext cx="4709160" cy="777240"/>
          </a:xfrm>
          <a:prstGeom prst="rect">
            <a:avLst/>
          </a:prstGeom>
          <a:noFill/>
          <a:ln/>
        </p:spPr>
        <p:txBody>
          <a:bodyPr wrap="square" lIns="0" tIns="0" rIns="0" bIns="0" rtlCol="0" anchor="t"/>
          <a:lstStyle/>
          <a:p>
            <a:pPr marL="0" indent="0">
              <a:lnSpc>
                <a:spcPct val="120000"/>
              </a:lnSpc>
              <a:buNone/>
            </a:pPr>
            <a:r>
              <a:rPr lang="en-US" sz="1100" dirty="0">
                <a:solidFill>
                  <a:srgbClr val="B9C4DA"/>
                </a:solidFill>
                <a:latin typeface="Calibri" pitchFamily="34" charset="0"/>
                <a:ea typeface="Calibri" pitchFamily="34" charset="-122"/>
                <a:cs typeface="Calibri" pitchFamily="34" charset="-120"/>
              </a:rPr>
              <a:t>On mobile, the drawer failed to close due to a z-index conflict with the sticky navbar. Diagnosed and resolved prior to the supervisor demo.</a:t>
            </a:r>
            <a:endParaRPr lang="en-US" sz="1100" dirty="0"/>
          </a:p>
        </p:txBody>
      </p:sp>
      <p:sp>
        <p:nvSpPr>
          <p:cNvPr id="33" name="Shape 25"/>
          <p:cNvSpPr/>
          <p:nvPr/>
        </p:nvSpPr>
        <p:spPr>
          <a:xfrm>
            <a:off x="6583680" y="4297680"/>
            <a:ext cx="4709160" cy="0"/>
          </a:xfrm>
          <a:prstGeom prst="line">
            <a:avLst/>
          </a:prstGeom>
          <a:noFill/>
          <a:ln w="12700">
            <a:solidFill>
              <a:srgbClr val="2E4A73"/>
            </a:solidFill>
            <a:prstDash val="solid"/>
          </a:ln>
        </p:spPr>
      </p:sp>
      <p:sp>
        <p:nvSpPr>
          <p:cNvPr id="34" name="Text 26"/>
          <p:cNvSpPr/>
          <p:nvPr/>
        </p:nvSpPr>
        <p:spPr>
          <a:xfrm>
            <a:off x="6583680" y="4434840"/>
            <a:ext cx="4572000" cy="274320"/>
          </a:xfrm>
          <a:prstGeom prst="rect">
            <a:avLst/>
          </a:prstGeom>
          <a:noFill/>
          <a:ln/>
        </p:spPr>
        <p:txBody>
          <a:bodyPr wrap="square" lIns="0" tIns="0" rIns="0" bIns="0" rtlCol="0" anchor="ctr"/>
          <a:lstStyle/>
          <a:p>
            <a:pPr marL="0" indent="0">
              <a:buNone/>
            </a:pPr>
            <a:r>
              <a:rPr lang="en-US" sz="1050" b="1" dirty="0">
                <a:solidFill>
                  <a:srgbClr val="C9922A"/>
                </a:solidFill>
                <a:latin typeface="Calibri" pitchFamily="34" charset="0"/>
                <a:ea typeface="Calibri" pitchFamily="34" charset="-122"/>
                <a:cs typeface="Calibri" pitchFamily="34" charset="-120"/>
              </a:rPr>
              <a:t>Loading Skeletons</a:t>
            </a:r>
            <a:endParaRPr lang="en-US" sz="1050" dirty="0"/>
          </a:p>
        </p:txBody>
      </p:sp>
      <p:sp>
        <p:nvSpPr>
          <p:cNvPr id="35" name="Text 27"/>
          <p:cNvSpPr/>
          <p:nvPr/>
        </p:nvSpPr>
        <p:spPr>
          <a:xfrm>
            <a:off x="6583680" y="4754880"/>
            <a:ext cx="4709160" cy="548640"/>
          </a:xfrm>
          <a:prstGeom prst="rect">
            <a:avLst/>
          </a:prstGeom>
          <a:noFill/>
          <a:ln/>
        </p:spPr>
        <p:txBody>
          <a:bodyPr wrap="square" lIns="0" tIns="0" rIns="0" bIns="0" rtlCol="0" anchor="t"/>
          <a:lstStyle/>
          <a:p>
            <a:pPr marL="0" indent="0">
              <a:lnSpc>
                <a:spcPct val="120000"/>
              </a:lnSpc>
              <a:buNone/>
            </a:pPr>
            <a:r>
              <a:rPr lang="en-US" sz="1100" dirty="0">
                <a:solidFill>
                  <a:srgbClr val="B9C4DA"/>
                </a:solidFill>
                <a:latin typeface="Calibri" pitchFamily="34" charset="0"/>
                <a:ea typeface="Calibri" pitchFamily="34" charset="-122"/>
                <a:cs typeface="Calibri" pitchFamily="34" charset="-120"/>
              </a:rPr>
              <a:t>Placeholder skeletons prevent blank screens and layout shift while lead data fetches.</a:t>
            </a:r>
            <a:endParaRPr lang="en-US" sz="1100" dirty="0"/>
          </a:p>
        </p:txBody>
      </p:sp>
      <p:sp>
        <p:nvSpPr>
          <p:cNvPr id="36" name="Text 28"/>
          <p:cNvSpPr/>
          <p:nvPr/>
        </p:nvSpPr>
        <p:spPr>
          <a:xfrm>
            <a:off x="640080" y="6528816"/>
            <a:ext cx="5486400" cy="256032"/>
          </a:xfrm>
          <a:prstGeom prst="rect">
            <a:avLst/>
          </a:prstGeom>
          <a:noFill/>
          <a:ln/>
        </p:spPr>
        <p:txBody>
          <a:bodyPr wrap="square" lIns="0" tIns="0" rIns="0" bIns="0" rtlCol="0" anchor="ctr"/>
          <a:lstStyle/>
          <a:p>
            <a:pPr marL="0" indent="0">
              <a:buNone/>
            </a:pPr>
            <a:r>
              <a:rPr lang="en-US" sz="900" dirty="0">
                <a:solidFill>
                  <a:srgbClr val="8695B3"/>
                </a:solidFill>
                <a:latin typeface="Calibri" pitchFamily="34" charset="0"/>
                <a:ea typeface="Calibri" pitchFamily="34" charset="-122"/>
                <a:cs typeface="Calibri" pitchFamily="34" charset="-120"/>
              </a:rPr>
              <a:t>Drishti Wealth Financial Advisory Platform</a:t>
            </a:r>
            <a:endParaRPr lang="en-US" sz="900" dirty="0"/>
          </a:p>
        </p:txBody>
      </p:sp>
      <p:sp>
        <p:nvSpPr>
          <p:cNvPr id="37" name="Shape 29"/>
          <p:cNvSpPr/>
          <p:nvPr/>
        </p:nvSpPr>
        <p:spPr>
          <a:xfrm>
            <a:off x="11292840" y="6583680"/>
            <a:ext cx="54864" cy="54864"/>
          </a:xfrm>
          <a:prstGeom prst="ellipse">
            <a:avLst/>
          </a:prstGeom>
          <a:solidFill>
            <a:srgbClr val="C9922A"/>
          </a:solidFill>
          <a:ln/>
        </p:spPr>
      </p:sp>
      <p:sp>
        <p:nvSpPr>
          <p:cNvPr id="38" name="Text 30"/>
          <p:cNvSpPr/>
          <p:nvPr/>
        </p:nvSpPr>
        <p:spPr>
          <a:xfrm>
            <a:off x="11430000" y="6528816"/>
            <a:ext cx="365760" cy="256032"/>
          </a:xfrm>
          <a:prstGeom prst="rect">
            <a:avLst/>
          </a:prstGeom>
          <a:noFill/>
          <a:ln/>
        </p:spPr>
        <p:txBody>
          <a:bodyPr wrap="square" lIns="0" tIns="0" rIns="0" bIns="0" rtlCol="0" anchor="ctr"/>
          <a:lstStyle/>
          <a:p>
            <a:pPr marL="0" indent="0" algn="r">
              <a:buNone/>
            </a:pPr>
            <a:r>
              <a:rPr lang="en-US" sz="900" dirty="0">
                <a:solidFill>
                  <a:srgbClr val="8695B3"/>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2545"/>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marL="0" indent="0">
              <a:buNone/>
            </a:pPr>
            <a:r>
              <a:rPr lang="en-US" sz="1150" b="1" kern="0" spc="200" dirty="0">
                <a:solidFill>
                  <a:srgbClr val="C9922A"/>
                </a:solidFill>
                <a:latin typeface="Calibri" pitchFamily="34" charset="0"/>
                <a:ea typeface="Calibri" pitchFamily="34" charset="-122"/>
                <a:cs typeface="Calibri" pitchFamily="34" charset="-120"/>
              </a:rPr>
              <a:t>ENGINEERING UNDER CONSTRAINT</a:t>
            </a:r>
            <a:endParaRPr lang="en-US" sz="1150" dirty="0"/>
          </a:p>
        </p:txBody>
      </p:sp>
      <p:sp>
        <p:nvSpPr>
          <p:cNvPr id="3" name="Text 1"/>
          <p:cNvSpPr/>
          <p:nvPr/>
        </p:nvSpPr>
        <p:spPr>
          <a:xfrm>
            <a:off x="640080" y="713232"/>
            <a:ext cx="996696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Challenges Faced and How They Were Solved</a:t>
            </a:r>
            <a:endParaRPr lang="en-US" sz="2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908792" cy="914400"/>
        </p:xfrm>
        <a:graphic>
          <a:graphicData uri="http://schemas.openxmlformats.org/drawingml/2006/table">
            <a:tbl>
              <a:tblPr/>
              <a:tblGrid>
                <a:gridCol w="5029200">
                  <a:extLst>
                    <a:ext uri="{9D8B030D-6E8A-4147-A177-3AD203B41FA5}">
                      <a16:colId xmlns:a16="http://schemas.microsoft.com/office/drawing/2014/main" val="20000"/>
                    </a:ext>
                  </a:extLst>
                </a:gridCol>
                <a:gridCol w="5879592">
                  <a:extLst>
                    <a:ext uri="{9D8B030D-6E8A-4147-A177-3AD203B41FA5}">
                      <a16:colId xmlns:a16="http://schemas.microsoft.com/office/drawing/2014/main" val="20001"/>
                    </a:ext>
                  </a:extLst>
                </a:gridCol>
              </a:tblGrid>
              <a:tr h="384048">
                <a:tc>
                  <a:txBody>
                    <a:bodyPr/>
                    <a:lstStyle/>
                    <a:p>
                      <a:pPr marL="0" indent="0" algn="l">
                        <a:buNone/>
                      </a:pPr>
                      <a:r>
                        <a:rPr lang="en-US" sz="1100" b="1" dirty="0">
                          <a:solidFill>
                            <a:srgbClr val="F0C96A"/>
                          </a:solidFill>
                          <a:latin typeface="Calibri" pitchFamily="34" charset="0"/>
                          <a:ea typeface="Calibri" pitchFamily="34" charset="-122"/>
                          <a:cs typeface="Calibri" pitchFamily="34" charset="-120"/>
                        </a:rPr>
                        <a:t>Challenge</a:t>
                      </a:r>
                      <a:endParaRPr lang="en-US" sz="110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0D2545"/>
                    </a:solidFill>
                  </a:tcPr>
                </a:tc>
                <a:tc>
                  <a:txBody>
                    <a:bodyPr/>
                    <a:lstStyle/>
                    <a:p>
                      <a:pPr marL="0" indent="0" algn="l">
                        <a:buNone/>
                      </a:pPr>
                      <a:r>
                        <a:rPr lang="en-US" sz="1100" b="1" dirty="0">
                          <a:solidFill>
                            <a:srgbClr val="F0C96A"/>
                          </a:solidFill>
                          <a:latin typeface="Calibri" pitchFamily="34" charset="0"/>
                          <a:ea typeface="Calibri" pitchFamily="34" charset="-122"/>
                          <a:cs typeface="Calibri" pitchFamily="34" charset="-120"/>
                        </a:rPr>
                        <a:t>Resolution</a:t>
                      </a:r>
                      <a:endParaRPr lang="en-US" sz="110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0D2545"/>
                    </a:solidFill>
                  </a:tcPr>
                </a:tc>
                <a:extLst>
                  <a:ext uri="{0D108BD9-81ED-4DB2-BD59-A6C34878D82A}">
                    <a16:rowId xmlns:a16="http://schemas.microsoft.com/office/drawing/2014/main" val="10000"/>
                  </a:ext>
                </a:extLst>
              </a:tr>
              <a:tr h="566928">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Node.js version conflict on first setup</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83052"/>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Adopted NVM for per project version switching; documented the fix for future interns</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83052"/>
                    </a:solidFill>
                  </a:tcPr>
                </a:tc>
                <a:extLst>
                  <a:ext uri="{0D108BD9-81ED-4DB2-BD59-A6C34878D82A}">
                    <a16:rowId xmlns:a16="http://schemas.microsoft.com/office/drawing/2014/main" val="10001"/>
                  </a:ext>
                </a:extLst>
              </a:tr>
              <a:tr h="566928">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Inconsistent partner logo dimensions</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F3D66"/>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Container constraints plus CSS object-fit: contain</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F3D66"/>
                    </a:solidFill>
                  </a:tcPr>
                </a:tc>
                <a:extLst>
                  <a:ext uri="{0D108BD9-81ED-4DB2-BD59-A6C34878D82A}">
                    <a16:rowId xmlns:a16="http://schemas.microsoft.com/office/drawing/2014/main" val="10002"/>
                  </a:ext>
                </a:extLst>
              </a:tr>
              <a:tr h="566928">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Alternating timeline broke on CSS Grid</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83052"/>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Rebuilt with Flexbox row / row-reverse logic, collapsing to one column on mobile</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83052"/>
                    </a:solidFill>
                  </a:tcPr>
                </a:tc>
                <a:extLst>
                  <a:ext uri="{0D108BD9-81ED-4DB2-BD59-A6C34878D82A}">
                    <a16:rowId xmlns:a16="http://schemas.microsoft.com/office/drawing/2014/main" val="10003"/>
                  </a:ext>
                </a:extLst>
              </a:tr>
              <a:tr h="566928">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Floating point precision in calculators</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F3D66"/>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parseFloat() combined with .toFixed() for clean currency output</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F3D66"/>
                    </a:solidFill>
                  </a:tcPr>
                </a:tc>
                <a:extLst>
                  <a:ext uri="{0D108BD9-81ED-4DB2-BD59-A6C34878D82A}">
                    <a16:rowId xmlns:a16="http://schemas.microsoft.com/office/drawing/2014/main" val="10004"/>
                  </a:ext>
                </a:extLst>
              </a:tr>
              <a:tr h="566928">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Dashboard filters reset on data reload</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83052"/>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State synchronized between search input, filters and the fetch effect</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83052"/>
                    </a:solidFill>
                  </a:tcPr>
                </a:tc>
                <a:extLst>
                  <a:ext uri="{0D108BD9-81ED-4DB2-BD59-A6C34878D82A}">
                    <a16:rowId xmlns:a16="http://schemas.microsoft.com/office/drawing/2014/main" val="10005"/>
                  </a:ext>
                </a:extLst>
              </a:tr>
              <a:tr h="566928">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Safari flexbox gap rendering bug</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F3D66"/>
                    </a:solidFill>
                  </a:tcPr>
                </a:tc>
                <a:tc>
                  <a:txBody>
                    <a:bodyPr/>
                    <a:lstStyle/>
                    <a:p>
                      <a:pPr marL="0" indent="0" algn="l">
                        <a:buNone/>
                      </a:pPr>
                      <a:r>
                        <a:rPr lang="en-US" sz="1050" dirty="0">
                          <a:solidFill>
                            <a:srgbClr val="B9C4DA"/>
                          </a:solidFill>
                          <a:latin typeface="Calibri" pitchFamily="34" charset="0"/>
                          <a:ea typeface="Calibri" pitchFamily="34" charset="-122"/>
                          <a:cs typeface="Calibri" pitchFamily="34" charset="-120"/>
                        </a:rPr>
                        <a:t>Margin based fallback for consistent cross browser layout</a:t>
                      </a:r>
                      <a:endParaRPr lang="en-US" sz="1050" dirty="0">
                        <a:latin typeface="Calibri" charset="0"/>
                        <a:ea typeface="Calibri" charset="0"/>
                        <a:cs typeface="Calibri" charset="0"/>
                      </a:endParaRPr>
                    </a:p>
                  </a:txBody>
                  <a:tcPr anchor="ctr">
                    <a:lnL w="9525" cap="flat" cmpd="sng" algn="ctr">
                      <a:solidFill>
                        <a:srgbClr val="2E4A73"/>
                      </a:solidFill>
                      <a:prstDash val="solid"/>
                      <a:round/>
                      <a:headEnd type="none" w="med" len="med"/>
                      <a:tailEnd type="none" w="med" len="med"/>
                    </a:lnL>
                    <a:lnR w="9525" cap="flat" cmpd="sng" algn="ctr">
                      <a:solidFill>
                        <a:srgbClr val="2E4A73"/>
                      </a:solidFill>
                      <a:prstDash val="solid"/>
                      <a:round/>
                      <a:headEnd type="none" w="med" len="med"/>
                      <a:tailEnd type="none" w="med" len="med"/>
                    </a:lnR>
                    <a:lnT w="9525" cap="flat" cmpd="sng" algn="ctr">
                      <a:solidFill>
                        <a:srgbClr val="2E4A73"/>
                      </a:solidFill>
                      <a:prstDash val="solid"/>
                      <a:round/>
                      <a:headEnd type="none" w="med" len="med"/>
                      <a:tailEnd type="none" w="med" len="med"/>
                    </a:lnT>
                    <a:lnB w="9525" cap="flat" cmpd="sng" algn="ctr">
                      <a:solidFill>
                        <a:srgbClr val="2E4A73"/>
                      </a:solidFill>
                      <a:prstDash val="solid"/>
                      <a:round/>
                      <a:headEnd type="none" w="med" len="med"/>
                      <a:tailEnd type="none" w="med" len="med"/>
                    </a:lnB>
                    <a:solidFill>
                      <a:srgbClr val="1F3D66"/>
                    </a:solidFill>
                  </a:tcPr>
                </a:tc>
                <a:extLst>
                  <a:ext uri="{0D108BD9-81ED-4DB2-BD59-A6C34878D82A}">
                    <a16:rowId xmlns:a16="http://schemas.microsoft.com/office/drawing/2014/main" val="10006"/>
                  </a:ext>
                </a:extLst>
              </a:tr>
            </a:tbl>
          </a:graphicData>
        </a:graphic>
      </p:graphicFrame>
      <p:sp>
        <p:nvSpPr>
          <p:cNvPr id="5" name="Text 2"/>
          <p:cNvSpPr/>
          <p:nvPr/>
        </p:nvSpPr>
        <p:spPr>
          <a:xfrm>
            <a:off x="640080" y="6528816"/>
            <a:ext cx="5486400" cy="256032"/>
          </a:xfrm>
          <a:prstGeom prst="rect">
            <a:avLst/>
          </a:prstGeom>
          <a:noFill/>
          <a:ln/>
        </p:spPr>
        <p:txBody>
          <a:bodyPr wrap="square" lIns="0" tIns="0" rIns="0" bIns="0" rtlCol="0" anchor="ctr"/>
          <a:lstStyle/>
          <a:p>
            <a:pPr marL="0" indent="0">
              <a:buNone/>
            </a:pPr>
            <a:r>
              <a:rPr lang="en-US" sz="900" dirty="0">
                <a:solidFill>
                  <a:srgbClr val="8695B3"/>
                </a:solidFill>
                <a:latin typeface="Calibri" pitchFamily="34" charset="0"/>
                <a:ea typeface="Calibri" pitchFamily="34" charset="-122"/>
                <a:cs typeface="Calibri" pitchFamily="34" charset="-120"/>
              </a:rPr>
              <a:t>Drishti Wealth Financial Advisory Platform</a:t>
            </a:r>
            <a:endParaRPr lang="en-US" sz="900" dirty="0"/>
          </a:p>
        </p:txBody>
      </p:sp>
      <p:sp>
        <p:nvSpPr>
          <p:cNvPr id="6" name="Shape 3"/>
          <p:cNvSpPr/>
          <p:nvPr/>
        </p:nvSpPr>
        <p:spPr>
          <a:xfrm>
            <a:off x="11292840" y="6583680"/>
            <a:ext cx="54864" cy="54864"/>
          </a:xfrm>
          <a:prstGeom prst="ellipse">
            <a:avLst/>
          </a:prstGeom>
          <a:solidFill>
            <a:srgbClr val="C9922A"/>
          </a:solidFill>
          <a:ln/>
        </p:spPr>
      </p:sp>
      <p:sp>
        <p:nvSpPr>
          <p:cNvPr id="7" name="Text 4"/>
          <p:cNvSpPr/>
          <p:nvPr/>
        </p:nvSpPr>
        <p:spPr>
          <a:xfrm>
            <a:off x="11430000" y="6528816"/>
            <a:ext cx="365760" cy="256032"/>
          </a:xfrm>
          <a:prstGeom prst="rect">
            <a:avLst/>
          </a:prstGeom>
          <a:noFill/>
          <a:ln/>
        </p:spPr>
        <p:txBody>
          <a:bodyPr wrap="square" lIns="0" tIns="0" rIns="0" bIns="0" rtlCol="0" anchor="ctr"/>
          <a:lstStyle/>
          <a:p>
            <a:pPr marL="0" indent="0" algn="r">
              <a:buNone/>
            </a:pPr>
            <a:r>
              <a:rPr lang="en-US" sz="900" dirty="0">
                <a:solidFill>
                  <a:srgbClr val="8695B3"/>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2545"/>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marL="0" indent="0">
              <a:buNone/>
            </a:pPr>
            <a:r>
              <a:rPr lang="en-US" sz="1150" b="1" kern="0" spc="200" dirty="0">
                <a:solidFill>
                  <a:srgbClr val="C9922A"/>
                </a:solidFill>
                <a:latin typeface="Calibri" pitchFamily="34" charset="0"/>
                <a:ea typeface="Calibri" pitchFamily="34" charset="-122"/>
                <a:cs typeface="Calibri" pitchFamily="34" charset="-120"/>
              </a:rPr>
              <a:t>OUTCOMES</a:t>
            </a:r>
            <a:endParaRPr lang="en-US" sz="1150" dirty="0"/>
          </a:p>
        </p:txBody>
      </p:sp>
      <p:sp>
        <p:nvSpPr>
          <p:cNvPr id="3" name="Text 1"/>
          <p:cNvSpPr/>
          <p:nvPr/>
        </p:nvSpPr>
        <p:spPr>
          <a:xfrm>
            <a:off x="640080" y="713232"/>
            <a:ext cx="996696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Achievements and Future Roadmap</a:t>
            </a:r>
            <a:endParaRPr lang="en-US" sz="2800" dirty="0"/>
          </a:p>
        </p:txBody>
      </p:sp>
      <p:sp>
        <p:nvSpPr>
          <p:cNvPr id="4" name="Text 2"/>
          <p:cNvSpPr/>
          <p:nvPr/>
        </p:nvSpPr>
        <p:spPr>
          <a:xfrm>
            <a:off x="640080" y="1463040"/>
            <a:ext cx="5486400" cy="3200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Delivered</a:t>
            </a:r>
            <a:endParaRPr lang="en-US" sz="1450" dirty="0"/>
          </a:p>
        </p:txBody>
      </p:sp>
      <p:sp>
        <p:nvSpPr>
          <p:cNvPr id="5" name="Shape 3"/>
          <p:cNvSpPr/>
          <p:nvPr/>
        </p:nvSpPr>
        <p:spPr>
          <a:xfrm>
            <a:off x="640080" y="1828800"/>
            <a:ext cx="2730398" cy="384048"/>
          </a:xfrm>
          <a:prstGeom prst="roundRect">
            <a:avLst>
              <a:gd name="adj" fmla="val 50000"/>
            </a:avLst>
          </a:prstGeom>
          <a:solidFill>
            <a:srgbClr val="13294A"/>
          </a:solidFill>
          <a:ln w="12700">
            <a:solidFill>
              <a:srgbClr val="C9922A"/>
            </a:solidFill>
            <a:prstDash val="solid"/>
          </a:ln>
        </p:spPr>
      </p:sp>
      <p:sp>
        <p:nvSpPr>
          <p:cNvPr id="6" name="Text 4"/>
          <p:cNvSpPr/>
          <p:nvPr/>
        </p:nvSpPr>
        <p:spPr>
          <a:xfrm>
            <a:off x="640080" y="1828800"/>
            <a:ext cx="2730398"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Responsive, accessible frontend</a:t>
            </a:r>
            <a:endParaRPr lang="en-US" sz="1050" dirty="0"/>
          </a:p>
        </p:txBody>
      </p:sp>
      <p:sp>
        <p:nvSpPr>
          <p:cNvPr id="7" name="Shape 5"/>
          <p:cNvSpPr/>
          <p:nvPr/>
        </p:nvSpPr>
        <p:spPr>
          <a:xfrm>
            <a:off x="3535070" y="1828800"/>
            <a:ext cx="2494483" cy="384048"/>
          </a:xfrm>
          <a:prstGeom prst="roundRect">
            <a:avLst>
              <a:gd name="adj" fmla="val 50000"/>
            </a:avLst>
          </a:prstGeom>
          <a:solidFill>
            <a:srgbClr val="13294A"/>
          </a:solidFill>
          <a:ln w="12700">
            <a:solidFill>
              <a:srgbClr val="C9922A"/>
            </a:solidFill>
            <a:prstDash val="solid"/>
          </a:ln>
        </p:spPr>
      </p:sp>
      <p:sp>
        <p:nvSpPr>
          <p:cNvPr id="8" name="Text 6"/>
          <p:cNvSpPr/>
          <p:nvPr/>
        </p:nvSpPr>
        <p:spPr>
          <a:xfrm>
            <a:off x="3535070" y="1828800"/>
            <a:ext cx="2494483"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Secure authenticated backend</a:t>
            </a:r>
            <a:endParaRPr lang="en-US" sz="1050" dirty="0"/>
          </a:p>
        </p:txBody>
      </p:sp>
      <p:sp>
        <p:nvSpPr>
          <p:cNvPr id="9" name="Shape 7"/>
          <p:cNvSpPr/>
          <p:nvPr/>
        </p:nvSpPr>
        <p:spPr>
          <a:xfrm>
            <a:off x="6194146" y="1828800"/>
            <a:ext cx="2730398" cy="384048"/>
          </a:xfrm>
          <a:prstGeom prst="roundRect">
            <a:avLst>
              <a:gd name="adj" fmla="val 50000"/>
            </a:avLst>
          </a:prstGeom>
          <a:solidFill>
            <a:srgbClr val="13294A"/>
          </a:solidFill>
          <a:ln w="12700">
            <a:solidFill>
              <a:srgbClr val="C9922A"/>
            </a:solidFill>
            <a:prstDash val="solid"/>
          </a:ln>
        </p:spPr>
      </p:sp>
      <p:sp>
        <p:nvSpPr>
          <p:cNvPr id="10" name="Text 8"/>
          <p:cNvSpPr/>
          <p:nvPr/>
        </p:nvSpPr>
        <p:spPr>
          <a:xfrm>
            <a:off x="6194146" y="1828800"/>
            <a:ext cx="2730398"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Real time financial calculators</a:t>
            </a:r>
            <a:endParaRPr lang="en-US" sz="1050" dirty="0"/>
          </a:p>
        </p:txBody>
      </p:sp>
      <p:sp>
        <p:nvSpPr>
          <p:cNvPr id="11" name="Shape 9"/>
          <p:cNvSpPr/>
          <p:nvPr/>
        </p:nvSpPr>
        <p:spPr>
          <a:xfrm>
            <a:off x="9089136" y="1828800"/>
            <a:ext cx="2494483" cy="384048"/>
          </a:xfrm>
          <a:prstGeom prst="roundRect">
            <a:avLst>
              <a:gd name="adj" fmla="val 50000"/>
            </a:avLst>
          </a:prstGeom>
          <a:solidFill>
            <a:srgbClr val="13294A"/>
          </a:solidFill>
          <a:ln w="12700">
            <a:solidFill>
              <a:srgbClr val="C9922A"/>
            </a:solidFill>
            <a:prstDash val="solid"/>
          </a:ln>
        </p:spPr>
      </p:sp>
      <p:sp>
        <p:nvSpPr>
          <p:cNvPr id="12" name="Text 10"/>
          <p:cNvSpPr/>
          <p:nvPr/>
        </p:nvSpPr>
        <p:spPr>
          <a:xfrm>
            <a:off x="9089136" y="1828800"/>
            <a:ext cx="2494483"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Optimized bundle performance</a:t>
            </a:r>
            <a:endParaRPr lang="en-US" sz="1050" dirty="0"/>
          </a:p>
        </p:txBody>
      </p:sp>
      <p:sp>
        <p:nvSpPr>
          <p:cNvPr id="13" name="Shape 11"/>
          <p:cNvSpPr/>
          <p:nvPr/>
        </p:nvSpPr>
        <p:spPr>
          <a:xfrm>
            <a:off x="640080" y="2331720"/>
            <a:ext cx="2337206" cy="384048"/>
          </a:xfrm>
          <a:prstGeom prst="roundRect">
            <a:avLst>
              <a:gd name="adj" fmla="val 50000"/>
            </a:avLst>
          </a:prstGeom>
          <a:solidFill>
            <a:srgbClr val="13294A"/>
          </a:solidFill>
          <a:ln w="12700">
            <a:solidFill>
              <a:srgbClr val="C9922A"/>
            </a:solidFill>
            <a:prstDash val="solid"/>
          </a:ln>
        </p:spPr>
      </p:sp>
      <p:sp>
        <p:nvSpPr>
          <p:cNvPr id="14" name="Text 12"/>
          <p:cNvSpPr/>
          <p:nvPr/>
        </p:nvSpPr>
        <p:spPr>
          <a:xfrm>
            <a:off x="640080" y="2331720"/>
            <a:ext cx="2337206"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Production admin dashboard</a:t>
            </a:r>
            <a:endParaRPr lang="en-US" sz="1050" dirty="0"/>
          </a:p>
        </p:txBody>
      </p:sp>
      <p:sp>
        <p:nvSpPr>
          <p:cNvPr id="15" name="Text 13"/>
          <p:cNvSpPr/>
          <p:nvPr/>
        </p:nvSpPr>
        <p:spPr>
          <a:xfrm>
            <a:off x="640080" y="3063240"/>
            <a:ext cx="7315200" cy="3200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Future Technical Roadmap</a:t>
            </a:r>
            <a:endParaRPr lang="en-US" sz="1450" dirty="0"/>
          </a:p>
        </p:txBody>
      </p:sp>
      <p:sp>
        <p:nvSpPr>
          <p:cNvPr id="16" name="Shape 14"/>
          <p:cNvSpPr/>
          <p:nvPr/>
        </p:nvSpPr>
        <p:spPr>
          <a:xfrm>
            <a:off x="640080" y="3474720"/>
            <a:ext cx="2606040" cy="2011680"/>
          </a:xfrm>
          <a:prstGeom prst="roundRect">
            <a:avLst>
              <a:gd name="adj" fmla="val 4091"/>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17" name="Shape 15"/>
          <p:cNvSpPr/>
          <p:nvPr/>
        </p:nvSpPr>
        <p:spPr>
          <a:xfrm>
            <a:off x="822960" y="3657600"/>
            <a:ext cx="438912" cy="438912"/>
          </a:xfrm>
          <a:prstGeom prst="ellipse">
            <a:avLst/>
          </a:prstGeom>
          <a:solidFill>
            <a:srgbClr val="C9922A"/>
          </a:solidFill>
          <a:ln/>
        </p:spPr>
      </p:sp>
      <p:pic>
        <p:nvPicPr>
          <p:cNvPr id="18" name="Image 0" descr="/home/claude/dwdeck/icons/cpu.png"/>
          <p:cNvPicPr>
            <a:picLocks noChangeAspect="1"/>
          </p:cNvPicPr>
          <p:nvPr/>
        </p:nvPicPr>
        <p:blipFill>
          <a:blip r:embed="rId3"/>
          <a:stretch>
            <a:fillRect/>
          </a:stretch>
        </p:blipFill>
        <p:spPr>
          <a:xfrm>
            <a:off x="923544" y="3758184"/>
            <a:ext cx="237744" cy="237744"/>
          </a:xfrm>
          <a:prstGeom prst="rect">
            <a:avLst/>
          </a:prstGeom>
        </p:spPr>
      </p:pic>
      <p:sp>
        <p:nvSpPr>
          <p:cNvPr id="19" name="Text 16"/>
          <p:cNvSpPr/>
          <p:nvPr/>
        </p:nvSpPr>
        <p:spPr>
          <a:xfrm>
            <a:off x="822960" y="4224528"/>
            <a:ext cx="2240280" cy="50292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AI Financial Advisor</a:t>
            </a:r>
            <a:endParaRPr lang="en-US" sz="1150" dirty="0"/>
          </a:p>
        </p:txBody>
      </p:sp>
      <p:sp>
        <p:nvSpPr>
          <p:cNvPr id="20" name="Text 17"/>
          <p:cNvSpPr/>
          <p:nvPr/>
        </p:nvSpPr>
        <p:spPr>
          <a:xfrm>
            <a:off x="822960" y="4709160"/>
            <a:ext cx="2240280" cy="685800"/>
          </a:xfrm>
          <a:prstGeom prst="rect">
            <a:avLst/>
          </a:prstGeom>
          <a:noFill/>
          <a:ln/>
        </p:spPr>
        <p:txBody>
          <a:bodyPr wrap="square" lIns="0" tIns="0" rIns="0" bIns="0" rtlCol="0" anchor="t"/>
          <a:lstStyle/>
          <a:p>
            <a:pPr marL="0" indent="0">
              <a:lnSpc>
                <a:spcPct val="110000"/>
              </a:lnSpc>
              <a:buNone/>
            </a:pPr>
            <a:r>
              <a:rPr lang="en-US" sz="950" dirty="0">
                <a:solidFill>
                  <a:srgbClr val="B9C4DA"/>
                </a:solidFill>
                <a:latin typeface="Calibri" pitchFamily="34" charset="0"/>
                <a:ea typeface="Calibri" pitchFamily="34" charset="-122"/>
                <a:cs typeface="Calibri" pitchFamily="34" charset="-120"/>
              </a:rPr>
              <a:t>Conversational guidance layered on existing calculators</a:t>
            </a:r>
            <a:endParaRPr lang="en-US" sz="950" dirty="0"/>
          </a:p>
        </p:txBody>
      </p:sp>
      <p:sp>
        <p:nvSpPr>
          <p:cNvPr id="21" name="Shape 18"/>
          <p:cNvSpPr/>
          <p:nvPr/>
        </p:nvSpPr>
        <p:spPr>
          <a:xfrm>
            <a:off x="3419856" y="3474720"/>
            <a:ext cx="2606040" cy="2011680"/>
          </a:xfrm>
          <a:prstGeom prst="roundRect">
            <a:avLst>
              <a:gd name="adj" fmla="val 4091"/>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22" name="Shape 19"/>
          <p:cNvSpPr/>
          <p:nvPr/>
        </p:nvSpPr>
        <p:spPr>
          <a:xfrm>
            <a:off x="3602736" y="3657600"/>
            <a:ext cx="438912" cy="438912"/>
          </a:xfrm>
          <a:prstGeom prst="ellipse">
            <a:avLst/>
          </a:prstGeom>
          <a:solidFill>
            <a:srgbClr val="C9922A"/>
          </a:solidFill>
          <a:ln/>
        </p:spPr>
      </p:sp>
      <p:pic>
        <p:nvPicPr>
          <p:cNvPr id="23" name="Image 1" descr="/home/claude/dwdeck/icons/barchart.png"/>
          <p:cNvPicPr>
            <a:picLocks noChangeAspect="1"/>
          </p:cNvPicPr>
          <p:nvPr/>
        </p:nvPicPr>
        <p:blipFill>
          <a:blip r:embed="rId4"/>
          <a:stretch>
            <a:fillRect/>
          </a:stretch>
        </p:blipFill>
        <p:spPr>
          <a:xfrm>
            <a:off x="3703320" y="3758184"/>
            <a:ext cx="237744" cy="237744"/>
          </a:xfrm>
          <a:prstGeom prst="rect">
            <a:avLst/>
          </a:prstGeom>
        </p:spPr>
      </p:pic>
      <p:sp>
        <p:nvSpPr>
          <p:cNvPr id="24" name="Text 20"/>
          <p:cNvSpPr/>
          <p:nvPr/>
        </p:nvSpPr>
        <p:spPr>
          <a:xfrm>
            <a:off x="3602736" y="4224528"/>
            <a:ext cx="2240280" cy="50292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Portfolio Analytics</a:t>
            </a:r>
            <a:endParaRPr lang="en-US" sz="1150" dirty="0"/>
          </a:p>
        </p:txBody>
      </p:sp>
      <p:sp>
        <p:nvSpPr>
          <p:cNvPr id="25" name="Text 21"/>
          <p:cNvSpPr/>
          <p:nvPr/>
        </p:nvSpPr>
        <p:spPr>
          <a:xfrm>
            <a:off x="3602736" y="4709160"/>
            <a:ext cx="2240280" cy="685800"/>
          </a:xfrm>
          <a:prstGeom prst="rect">
            <a:avLst/>
          </a:prstGeom>
          <a:noFill/>
          <a:ln/>
        </p:spPr>
        <p:txBody>
          <a:bodyPr wrap="square" lIns="0" tIns="0" rIns="0" bIns="0" rtlCol="0" anchor="t"/>
          <a:lstStyle/>
          <a:p>
            <a:pPr marL="0" indent="0">
              <a:lnSpc>
                <a:spcPct val="110000"/>
              </a:lnSpc>
              <a:buNone/>
            </a:pPr>
            <a:r>
              <a:rPr lang="en-US" sz="950" dirty="0">
                <a:solidFill>
                  <a:srgbClr val="B9C4DA"/>
                </a:solidFill>
                <a:latin typeface="Calibri" pitchFamily="34" charset="0"/>
                <a:ea typeface="Calibri" pitchFamily="34" charset="-122"/>
                <a:cs typeface="Calibri" pitchFamily="34" charset="-120"/>
              </a:rPr>
              <a:t>Deeper tracking of client allocations over time</a:t>
            </a:r>
            <a:endParaRPr lang="en-US" sz="950" dirty="0"/>
          </a:p>
        </p:txBody>
      </p:sp>
      <p:sp>
        <p:nvSpPr>
          <p:cNvPr id="26" name="Shape 22"/>
          <p:cNvSpPr/>
          <p:nvPr/>
        </p:nvSpPr>
        <p:spPr>
          <a:xfrm>
            <a:off x="6199632" y="3474720"/>
            <a:ext cx="2606040" cy="2011680"/>
          </a:xfrm>
          <a:prstGeom prst="roundRect">
            <a:avLst>
              <a:gd name="adj" fmla="val 4091"/>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27" name="Shape 23"/>
          <p:cNvSpPr/>
          <p:nvPr/>
        </p:nvSpPr>
        <p:spPr>
          <a:xfrm>
            <a:off x="6382512" y="3657600"/>
            <a:ext cx="438912" cy="438912"/>
          </a:xfrm>
          <a:prstGeom prst="ellipse">
            <a:avLst/>
          </a:prstGeom>
          <a:solidFill>
            <a:srgbClr val="C9922A"/>
          </a:solidFill>
          <a:ln/>
        </p:spPr>
      </p:sp>
      <p:pic>
        <p:nvPicPr>
          <p:cNvPr id="28" name="Image 2" descr="/home/claude/dwdeck/icons/messagecircle.png"/>
          <p:cNvPicPr>
            <a:picLocks noChangeAspect="1"/>
          </p:cNvPicPr>
          <p:nvPr/>
        </p:nvPicPr>
        <p:blipFill>
          <a:blip r:embed="rId5"/>
          <a:stretch>
            <a:fillRect/>
          </a:stretch>
        </p:blipFill>
        <p:spPr>
          <a:xfrm>
            <a:off x="6483096" y="3758184"/>
            <a:ext cx="237744" cy="237744"/>
          </a:xfrm>
          <a:prstGeom prst="rect">
            <a:avLst/>
          </a:prstGeom>
        </p:spPr>
      </p:pic>
      <p:sp>
        <p:nvSpPr>
          <p:cNvPr id="29" name="Text 24"/>
          <p:cNvSpPr/>
          <p:nvPr/>
        </p:nvSpPr>
        <p:spPr>
          <a:xfrm>
            <a:off x="6382512" y="4224528"/>
            <a:ext cx="2240280" cy="50292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Notifications and CRM</a:t>
            </a:r>
            <a:endParaRPr lang="en-US" sz="1150" dirty="0"/>
          </a:p>
        </p:txBody>
      </p:sp>
      <p:sp>
        <p:nvSpPr>
          <p:cNvPr id="30" name="Text 25"/>
          <p:cNvSpPr/>
          <p:nvPr/>
        </p:nvSpPr>
        <p:spPr>
          <a:xfrm>
            <a:off x="6382512" y="4709160"/>
            <a:ext cx="2240280" cy="685800"/>
          </a:xfrm>
          <a:prstGeom prst="rect">
            <a:avLst/>
          </a:prstGeom>
          <a:noFill/>
          <a:ln/>
        </p:spPr>
        <p:txBody>
          <a:bodyPr wrap="square" lIns="0" tIns="0" rIns="0" bIns="0" rtlCol="0" anchor="t"/>
          <a:lstStyle/>
          <a:p>
            <a:pPr marL="0" indent="0">
              <a:lnSpc>
                <a:spcPct val="110000"/>
              </a:lnSpc>
              <a:buNone/>
            </a:pPr>
            <a:r>
              <a:rPr lang="en-US" sz="950" dirty="0">
                <a:solidFill>
                  <a:srgbClr val="B9C4DA"/>
                </a:solidFill>
                <a:latin typeface="Calibri" pitchFamily="34" charset="0"/>
                <a:ea typeface="Calibri" pitchFamily="34" charset="-122"/>
                <a:cs typeface="Calibri" pitchFamily="34" charset="-120"/>
              </a:rPr>
              <a:t>WhatsApp alerts and an advanced lead pipeline</a:t>
            </a:r>
            <a:endParaRPr lang="en-US" sz="950" dirty="0"/>
          </a:p>
        </p:txBody>
      </p:sp>
      <p:sp>
        <p:nvSpPr>
          <p:cNvPr id="31" name="Shape 26"/>
          <p:cNvSpPr/>
          <p:nvPr/>
        </p:nvSpPr>
        <p:spPr>
          <a:xfrm>
            <a:off x="8979408" y="3474720"/>
            <a:ext cx="2606040" cy="2011680"/>
          </a:xfrm>
          <a:prstGeom prst="roundRect">
            <a:avLst>
              <a:gd name="adj" fmla="val 4091"/>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32" name="Shape 27"/>
          <p:cNvSpPr/>
          <p:nvPr/>
        </p:nvSpPr>
        <p:spPr>
          <a:xfrm>
            <a:off x="9162288" y="3657600"/>
            <a:ext cx="438912" cy="438912"/>
          </a:xfrm>
          <a:prstGeom prst="ellipse">
            <a:avLst/>
          </a:prstGeom>
          <a:solidFill>
            <a:srgbClr val="C9922A"/>
          </a:solidFill>
          <a:ln/>
        </p:spPr>
      </p:sp>
      <p:pic>
        <p:nvPicPr>
          <p:cNvPr id="33" name="Image 3" descr="/home/claude/dwdeck/icons/smartphone.png"/>
          <p:cNvPicPr>
            <a:picLocks noChangeAspect="1"/>
          </p:cNvPicPr>
          <p:nvPr/>
        </p:nvPicPr>
        <p:blipFill>
          <a:blip r:embed="rId6"/>
          <a:stretch>
            <a:fillRect/>
          </a:stretch>
        </p:blipFill>
        <p:spPr>
          <a:xfrm>
            <a:off x="9262872" y="3758184"/>
            <a:ext cx="237744" cy="237744"/>
          </a:xfrm>
          <a:prstGeom prst="rect">
            <a:avLst/>
          </a:prstGeom>
        </p:spPr>
      </p:pic>
      <p:sp>
        <p:nvSpPr>
          <p:cNvPr id="34" name="Text 28"/>
          <p:cNvSpPr/>
          <p:nvPr/>
        </p:nvSpPr>
        <p:spPr>
          <a:xfrm>
            <a:off x="9162288" y="4224528"/>
            <a:ext cx="2240280" cy="50292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Mobile App</a:t>
            </a:r>
            <a:endParaRPr lang="en-US" sz="1150" dirty="0"/>
          </a:p>
        </p:txBody>
      </p:sp>
      <p:sp>
        <p:nvSpPr>
          <p:cNvPr id="35" name="Text 29"/>
          <p:cNvSpPr/>
          <p:nvPr/>
        </p:nvSpPr>
        <p:spPr>
          <a:xfrm>
            <a:off x="9162288" y="4709160"/>
            <a:ext cx="2240280" cy="685800"/>
          </a:xfrm>
          <a:prstGeom prst="rect">
            <a:avLst/>
          </a:prstGeom>
          <a:noFill/>
          <a:ln/>
        </p:spPr>
        <p:txBody>
          <a:bodyPr wrap="square" lIns="0" tIns="0" rIns="0" bIns="0" rtlCol="0" anchor="t"/>
          <a:lstStyle/>
          <a:p>
            <a:pPr marL="0" indent="0">
              <a:lnSpc>
                <a:spcPct val="110000"/>
              </a:lnSpc>
              <a:buNone/>
            </a:pPr>
            <a:r>
              <a:rPr lang="en-US" sz="950" dirty="0">
                <a:solidFill>
                  <a:srgbClr val="B9C4DA"/>
                </a:solidFill>
                <a:latin typeface="Calibri" pitchFamily="34" charset="0"/>
                <a:ea typeface="Calibri" pitchFamily="34" charset="-122"/>
                <a:cs typeface="Calibri" pitchFamily="34" charset="-120"/>
              </a:rPr>
              <a:t>Extending the platform natively to iOS and Android</a:t>
            </a:r>
            <a:endParaRPr lang="en-US" sz="950" dirty="0"/>
          </a:p>
        </p:txBody>
      </p:sp>
      <p:sp>
        <p:nvSpPr>
          <p:cNvPr id="36" name="Text 30"/>
          <p:cNvSpPr/>
          <p:nvPr/>
        </p:nvSpPr>
        <p:spPr>
          <a:xfrm>
            <a:off x="640080" y="6528816"/>
            <a:ext cx="5486400" cy="256032"/>
          </a:xfrm>
          <a:prstGeom prst="rect">
            <a:avLst/>
          </a:prstGeom>
          <a:noFill/>
          <a:ln/>
        </p:spPr>
        <p:txBody>
          <a:bodyPr wrap="square" lIns="0" tIns="0" rIns="0" bIns="0" rtlCol="0" anchor="ctr"/>
          <a:lstStyle/>
          <a:p>
            <a:pPr marL="0" indent="0">
              <a:buNone/>
            </a:pPr>
            <a:r>
              <a:rPr lang="en-US" sz="900" dirty="0">
                <a:solidFill>
                  <a:srgbClr val="8695B3"/>
                </a:solidFill>
                <a:latin typeface="Calibri" pitchFamily="34" charset="0"/>
                <a:ea typeface="Calibri" pitchFamily="34" charset="-122"/>
                <a:cs typeface="Calibri" pitchFamily="34" charset="-120"/>
              </a:rPr>
              <a:t>Drishti Wealth Financial Advisory Platform</a:t>
            </a:r>
            <a:endParaRPr lang="en-US" sz="900" dirty="0"/>
          </a:p>
        </p:txBody>
      </p:sp>
      <p:sp>
        <p:nvSpPr>
          <p:cNvPr id="37" name="Shape 31"/>
          <p:cNvSpPr/>
          <p:nvPr/>
        </p:nvSpPr>
        <p:spPr>
          <a:xfrm>
            <a:off x="11292840" y="6583680"/>
            <a:ext cx="54864" cy="54864"/>
          </a:xfrm>
          <a:prstGeom prst="ellipse">
            <a:avLst/>
          </a:prstGeom>
          <a:solidFill>
            <a:srgbClr val="C9922A"/>
          </a:solidFill>
          <a:ln/>
        </p:spPr>
      </p:sp>
      <p:sp>
        <p:nvSpPr>
          <p:cNvPr id="38" name="Text 32"/>
          <p:cNvSpPr/>
          <p:nvPr/>
        </p:nvSpPr>
        <p:spPr>
          <a:xfrm>
            <a:off x="11430000" y="6528816"/>
            <a:ext cx="365760" cy="256032"/>
          </a:xfrm>
          <a:prstGeom prst="rect">
            <a:avLst/>
          </a:prstGeom>
          <a:noFill/>
          <a:ln/>
        </p:spPr>
        <p:txBody>
          <a:bodyPr wrap="square" lIns="0" tIns="0" rIns="0" bIns="0" rtlCol="0" anchor="ctr"/>
          <a:lstStyle/>
          <a:p>
            <a:pPr marL="0" indent="0" algn="r">
              <a:buNone/>
            </a:pPr>
            <a:r>
              <a:rPr lang="en-US" sz="900" dirty="0">
                <a:solidFill>
                  <a:srgbClr val="8695B3"/>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2545"/>
        </a:solidFill>
        <a:effectLst/>
      </p:bgPr>
    </p:bg>
    <p:spTree>
      <p:nvGrpSpPr>
        <p:cNvPr id="1" name=""/>
        <p:cNvGrpSpPr/>
        <p:nvPr/>
      </p:nvGrpSpPr>
      <p:grpSpPr>
        <a:xfrm>
          <a:off x="0" y="0"/>
          <a:ext cx="0" cy="0"/>
          <a:chOff x="0" y="0"/>
          <a:chExt cx="0" cy="0"/>
        </a:xfrm>
      </p:grpSpPr>
      <p:sp>
        <p:nvSpPr>
          <p:cNvPr id="2" name="Shape 0"/>
          <p:cNvSpPr/>
          <p:nvPr/>
        </p:nvSpPr>
        <p:spPr>
          <a:xfrm>
            <a:off x="8686800" y="5029200"/>
            <a:ext cx="5029200" cy="5029200"/>
          </a:xfrm>
          <a:prstGeom prst="ellipse">
            <a:avLst/>
          </a:prstGeom>
          <a:solidFill>
            <a:srgbClr val="C9922A">
              <a:alpha val="12000"/>
            </a:srgbClr>
          </a:solidFill>
          <a:ln/>
        </p:spPr>
      </p:sp>
      <p:sp>
        <p:nvSpPr>
          <p:cNvPr id="3" name="Text 1"/>
          <p:cNvSpPr/>
          <p:nvPr/>
        </p:nvSpPr>
        <p:spPr>
          <a:xfrm>
            <a:off x="640080" y="502920"/>
            <a:ext cx="7315200" cy="274320"/>
          </a:xfrm>
          <a:prstGeom prst="rect">
            <a:avLst/>
          </a:prstGeom>
          <a:noFill/>
          <a:ln/>
        </p:spPr>
        <p:txBody>
          <a:bodyPr wrap="square" lIns="0" tIns="0" rIns="0" bIns="0" rtlCol="0" anchor="ctr"/>
          <a:lstStyle/>
          <a:p>
            <a:pPr marL="0" indent="0">
              <a:buNone/>
            </a:pPr>
            <a:r>
              <a:rPr lang="en-US" sz="1150" b="1" kern="0" spc="200" dirty="0">
                <a:solidFill>
                  <a:srgbClr val="C9922A"/>
                </a:solidFill>
                <a:latin typeface="Calibri" pitchFamily="34" charset="0"/>
                <a:ea typeface="Calibri" pitchFamily="34" charset="-122"/>
                <a:cs typeface="Calibri" pitchFamily="34" charset="-120"/>
              </a:rPr>
              <a:t>CLOSING</a:t>
            </a:r>
            <a:endParaRPr lang="en-US" sz="1150" dirty="0"/>
          </a:p>
        </p:txBody>
      </p:sp>
      <p:sp>
        <p:nvSpPr>
          <p:cNvPr id="4" name="Text 2"/>
          <p:cNvSpPr/>
          <p:nvPr/>
        </p:nvSpPr>
        <p:spPr>
          <a:xfrm>
            <a:off x="640080" y="713232"/>
            <a:ext cx="996696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Conclusion</a:t>
            </a:r>
            <a:endParaRPr lang="en-US" sz="2800" dirty="0"/>
          </a:p>
        </p:txBody>
      </p:sp>
      <p:sp>
        <p:nvSpPr>
          <p:cNvPr id="5" name="Shape 3"/>
          <p:cNvSpPr/>
          <p:nvPr/>
        </p:nvSpPr>
        <p:spPr>
          <a:xfrm>
            <a:off x="640080" y="1508760"/>
            <a:ext cx="10908792" cy="1371600"/>
          </a:xfrm>
          <a:prstGeom prst="roundRect">
            <a:avLst>
              <a:gd name="adj" fmla="val 6000"/>
            </a:avLst>
          </a:prstGeom>
          <a:solidFill>
            <a:srgbClr val="183052"/>
          </a:solidFill>
          <a:ln w="12700">
            <a:solidFill>
              <a:srgbClr val="2E4A73"/>
            </a:solidFill>
            <a:prstDash val="solid"/>
          </a:ln>
          <a:effectLst>
            <a:outerShdw blurRad="101600" dist="38100" dir="5400000" algn="bl" rotWithShape="0">
              <a:srgbClr val="000000">
                <a:alpha val="25000"/>
              </a:srgbClr>
            </a:outerShdw>
          </a:effectLst>
        </p:spPr>
      </p:sp>
      <p:sp>
        <p:nvSpPr>
          <p:cNvPr id="6" name="Text 4"/>
          <p:cNvSpPr/>
          <p:nvPr/>
        </p:nvSpPr>
        <p:spPr>
          <a:xfrm>
            <a:off x="914400" y="1691640"/>
            <a:ext cx="10378440" cy="1005840"/>
          </a:xfrm>
          <a:prstGeom prst="rect">
            <a:avLst/>
          </a:prstGeom>
          <a:noFill/>
          <a:ln/>
        </p:spPr>
        <p:txBody>
          <a:bodyPr wrap="square" lIns="0" tIns="0" rIns="0" bIns="0" rtlCol="0" anchor="t"/>
          <a:lstStyle/>
          <a:p>
            <a:pPr marL="0" indent="0">
              <a:lnSpc>
                <a:spcPct val="125000"/>
              </a:lnSpc>
              <a:buNone/>
            </a:pPr>
            <a:r>
              <a:rPr lang="en-US" sz="1450" b="1" dirty="0">
                <a:solidFill>
                  <a:srgbClr val="F0C96A"/>
                </a:solidFill>
                <a:latin typeface="Calibri" pitchFamily="34" charset="0"/>
                <a:ea typeface="Calibri" pitchFamily="34" charset="-122"/>
                <a:cs typeface="Calibri" pitchFamily="34" charset="-120"/>
              </a:rPr>
              <a:t>Summary:  </a:t>
            </a:r>
            <a:r>
              <a:rPr lang="en-US" sz="1450" dirty="0">
                <a:solidFill>
                  <a:srgbClr val="B9C4DA"/>
                </a:solidFill>
                <a:latin typeface="Calibri" pitchFamily="34" charset="0"/>
                <a:ea typeface="Calibri" pitchFamily="34" charset="-122"/>
                <a:cs typeface="Calibri" pitchFamily="34" charset="-120"/>
              </a:rPr>
              <a:t>An 8 week journey from environment setup and Figma translation to a production ready, secure, and performant platform, fully handed over to the engineering team.</a:t>
            </a:r>
            <a:endParaRPr lang="en-US" sz="1450" dirty="0"/>
          </a:p>
        </p:txBody>
      </p:sp>
      <p:sp>
        <p:nvSpPr>
          <p:cNvPr id="7" name="Shape 5"/>
          <p:cNvSpPr/>
          <p:nvPr/>
        </p:nvSpPr>
        <p:spPr>
          <a:xfrm>
            <a:off x="640080" y="3063240"/>
            <a:ext cx="3502152" cy="1737360"/>
          </a:xfrm>
          <a:prstGeom prst="roundRect">
            <a:avLst>
              <a:gd name="adj" fmla="val 4737"/>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8" name="Shape 6"/>
          <p:cNvSpPr/>
          <p:nvPr/>
        </p:nvSpPr>
        <p:spPr>
          <a:xfrm>
            <a:off x="859536" y="3282696"/>
            <a:ext cx="475488" cy="475488"/>
          </a:xfrm>
          <a:prstGeom prst="ellipse">
            <a:avLst/>
          </a:prstGeom>
          <a:solidFill>
            <a:srgbClr val="C9922A"/>
          </a:solidFill>
          <a:ln/>
        </p:spPr>
      </p:sp>
      <p:pic>
        <p:nvPicPr>
          <p:cNvPr id="9" name="Image 0" descr="/home/claude/dwdeck/icons/bookopen.png"/>
          <p:cNvPicPr>
            <a:picLocks noChangeAspect="1"/>
          </p:cNvPicPr>
          <p:nvPr/>
        </p:nvPicPr>
        <p:blipFill>
          <a:blip r:embed="rId3"/>
          <a:stretch>
            <a:fillRect/>
          </a:stretch>
        </p:blipFill>
        <p:spPr>
          <a:xfrm>
            <a:off x="969264" y="3392424"/>
            <a:ext cx="256032" cy="256032"/>
          </a:xfrm>
          <a:prstGeom prst="rect">
            <a:avLst/>
          </a:prstGeom>
        </p:spPr>
      </p:pic>
      <p:sp>
        <p:nvSpPr>
          <p:cNvPr id="10" name="Text 7"/>
          <p:cNvSpPr/>
          <p:nvPr/>
        </p:nvSpPr>
        <p:spPr>
          <a:xfrm>
            <a:off x="859536" y="3904488"/>
            <a:ext cx="3063240" cy="36576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Learning Outcomes</a:t>
            </a:r>
            <a:endParaRPr lang="en-US" sz="1250" dirty="0"/>
          </a:p>
        </p:txBody>
      </p:sp>
      <p:sp>
        <p:nvSpPr>
          <p:cNvPr id="11" name="Text 8"/>
          <p:cNvSpPr/>
          <p:nvPr/>
        </p:nvSpPr>
        <p:spPr>
          <a:xfrm>
            <a:off x="859536" y="4270248"/>
            <a:ext cx="3063240" cy="457200"/>
          </a:xfrm>
          <a:prstGeom prst="rect">
            <a:avLst/>
          </a:prstGeom>
          <a:noFill/>
          <a:ln/>
        </p:spPr>
        <p:txBody>
          <a:bodyPr wrap="square" lIns="0" tIns="0" rIns="0" bIns="0" rtlCol="0" anchor="t"/>
          <a:lstStyle/>
          <a:p>
            <a:pPr marL="0" indent="0">
              <a:lnSpc>
                <a:spcPct val="115000"/>
              </a:lnSpc>
              <a:buNone/>
            </a:pPr>
            <a:r>
              <a:rPr lang="en-US" sz="1000" dirty="0">
                <a:solidFill>
                  <a:srgbClr val="B9C4DA"/>
                </a:solidFill>
                <a:latin typeface="Calibri" pitchFamily="34" charset="0"/>
                <a:ea typeface="Calibri" pitchFamily="34" charset="-122"/>
                <a:cs typeface="Calibri" pitchFamily="34" charset="-120"/>
              </a:rPr>
              <a:t>Theory to practice across React, security and performance</a:t>
            </a:r>
            <a:endParaRPr lang="en-US" sz="1000" dirty="0"/>
          </a:p>
        </p:txBody>
      </p:sp>
      <p:sp>
        <p:nvSpPr>
          <p:cNvPr id="12" name="Shape 9"/>
          <p:cNvSpPr/>
          <p:nvPr/>
        </p:nvSpPr>
        <p:spPr>
          <a:xfrm>
            <a:off x="4343400" y="3063240"/>
            <a:ext cx="3502152" cy="1737360"/>
          </a:xfrm>
          <a:prstGeom prst="roundRect">
            <a:avLst>
              <a:gd name="adj" fmla="val 4737"/>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13" name="Shape 10"/>
          <p:cNvSpPr/>
          <p:nvPr/>
        </p:nvSpPr>
        <p:spPr>
          <a:xfrm>
            <a:off x="4562856" y="3282696"/>
            <a:ext cx="475488" cy="475488"/>
          </a:xfrm>
          <a:prstGeom prst="ellipse">
            <a:avLst/>
          </a:prstGeom>
          <a:solidFill>
            <a:srgbClr val="C9922A"/>
          </a:solidFill>
          <a:ln/>
        </p:spPr>
      </p:sp>
      <p:pic>
        <p:nvPicPr>
          <p:cNvPr id="14" name="Image 1" descr="/home/claude/dwdeck/icons/trendingup.png"/>
          <p:cNvPicPr>
            <a:picLocks noChangeAspect="1"/>
          </p:cNvPicPr>
          <p:nvPr/>
        </p:nvPicPr>
        <p:blipFill>
          <a:blip r:embed="rId4"/>
          <a:stretch>
            <a:fillRect/>
          </a:stretch>
        </p:blipFill>
        <p:spPr>
          <a:xfrm>
            <a:off x="4672584" y="3392424"/>
            <a:ext cx="256032" cy="256032"/>
          </a:xfrm>
          <a:prstGeom prst="rect">
            <a:avLst/>
          </a:prstGeom>
        </p:spPr>
      </p:pic>
      <p:sp>
        <p:nvSpPr>
          <p:cNvPr id="15" name="Text 11"/>
          <p:cNvSpPr/>
          <p:nvPr/>
        </p:nvSpPr>
        <p:spPr>
          <a:xfrm>
            <a:off x="4562856" y="3904488"/>
            <a:ext cx="3063240" cy="36576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Career Impact</a:t>
            </a:r>
            <a:endParaRPr lang="en-US" sz="1250" dirty="0"/>
          </a:p>
        </p:txBody>
      </p:sp>
      <p:sp>
        <p:nvSpPr>
          <p:cNvPr id="16" name="Text 12"/>
          <p:cNvSpPr/>
          <p:nvPr/>
        </p:nvSpPr>
        <p:spPr>
          <a:xfrm>
            <a:off x="4562856" y="4270248"/>
            <a:ext cx="3063240" cy="457200"/>
          </a:xfrm>
          <a:prstGeom prst="rect">
            <a:avLst/>
          </a:prstGeom>
          <a:noFill/>
          <a:ln/>
        </p:spPr>
        <p:txBody>
          <a:bodyPr wrap="square" lIns="0" tIns="0" rIns="0" bIns="0" rtlCol="0" anchor="t"/>
          <a:lstStyle/>
          <a:p>
            <a:pPr marL="0" indent="0">
              <a:lnSpc>
                <a:spcPct val="115000"/>
              </a:lnSpc>
              <a:buNone/>
            </a:pPr>
            <a:r>
              <a:rPr lang="en-US" sz="1000" dirty="0">
                <a:solidFill>
                  <a:srgbClr val="B9C4DA"/>
                </a:solidFill>
                <a:latin typeface="Calibri" pitchFamily="34" charset="0"/>
                <a:ea typeface="Calibri" pitchFamily="34" charset="-122"/>
                <a:cs typeface="Calibri" pitchFamily="34" charset="-120"/>
              </a:rPr>
              <a:t>Confirmed a path toward frontend and full stack engineering</a:t>
            </a:r>
            <a:endParaRPr lang="en-US" sz="1000" dirty="0"/>
          </a:p>
        </p:txBody>
      </p:sp>
      <p:sp>
        <p:nvSpPr>
          <p:cNvPr id="17" name="Shape 13"/>
          <p:cNvSpPr/>
          <p:nvPr/>
        </p:nvSpPr>
        <p:spPr>
          <a:xfrm>
            <a:off x="8046720" y="3063240"/>
            <a:ext cx="3502152" cy="1737360"/>
          </a:xfrm>
          <a:prstGeom prst="roundRect">
            <a:avLst>
              <a:gd name="adj" fmla="val 4737"/>
            </a:avLst>
          </a:prstGeom>
          <a:solidFill>
            <a:srgbClr val="1F3D66"/>
          </a:solidFill>
          <a:ln w="12700">
            <a:solidFill>
              <a:srgbClr val="2E4A73"/>
            </a:solidFill>
            <a:prstDash val="solid"/>
          </a:ln>
          <a:effectLst>
            <a:outerShdw blurRad="101600" dist="38100" dir="5400000" algn="bl" rotWithShape="0">
              <a:srgbClr val="000000">
                <a:alpha val="25000"/>
              </a:srgbClr>
            </a:outerShdw>
          </a:effectLst>
        </p:spPr>
      </p:sp>
      <p:sp>
        <p:nvSpPr>
          <p:cNvPr id="18" name="Shape 14"/>
          <p:cNvSpPr/>
          <p:nvPr/>
        </p:nvSpPr>
        <p:spPr>
          <a:xfrm>
            <a:off x="8266176" y="3282696"/>
            <a:ext cx="475488" cy="475488"/>
          </a:xfrm>
          <a:prstGeom prst="ellipse">
            <a:avLst/>
          </a:prstGeom>
          <a:solidFill>
            <a:srgbClr val="C9922A"/>
          </a:solidFill>
          <a:ln/>
        </p:spPr>
      </p:sp>
      <p:pic>
        <p:nvPicPr>
          <p:cNvPr id="19" name="Image 2" descr="/home/claude/dwdeck/icons/heart.png"/>
          <p:cNvPicPr>
            <a:picLocks noChangeAspect="1"/>
          </p:cNvPicPr>
          <p:nvPr/>
        </p:nvPicPr>
        <p:blipFill>
          <a:blip r:embed="rId5"/>
          <a:stretch>
            <a:fillRect/>
          </a:stretch>
        </p:blipFill>
        <p:spPr>
          <a:xfrm>
            <a:off x="8375904" y="3392424"/>
            <a:ext cx="256032" cy="256032"/>
          </a:xfrm>
          <a:prstGeom prst="rect">
            <a:avLst/>
          </a:prstGeom>
        </p:spPr>
      </p:pic>
      <p:sp>
        <p:nvSpPr>
          <p:cNvPr id="20" name="Text 15"/>
          <p:cNvSpPr/>
          <p:nvPr/>
        </p:nvSpPr>
        <p:spPr>
          <a:xfrm>
            <a:off x="8266176" y="3904488"/>
            <a:ext cx="3063240" cy="36576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Gratitude</a:t>
            </a:r>
            <a:endParaRPr lang="en-US" sz="1250" dirty="0"/>
          </a:p>
        </p:txBody>
      </p:sp>
      <p:sp>
        <p:nvSpPr>
          <p:cNvPr id="21" name="Text 16"/>
          <p:cNvSpPr/>
          <p:nvPr/>
        </p:nvSpPr>
        <p:spPr>
          <a:xfrm>
            <a:off x="8266176" y="4270248"/>
            <a:ext cx="3063240" cy="457200"/>
          </a:xfrm>
          <a:prstGeom prst="rect">
            <a:avLst/>
          </a:prstGeom>
          <a:noFill/>
          <a:ln/>
        </p:spPr>
        <p:txBody>
          <a:bodyPr wrap="square" lIns="0" tIns="0" rIns="0" bIns="0" rtlCol="0" anchor="t"/>
          <a:lstStyle/>
          <a:p>
            <a:pPr marL="0" indent="0">
              <a:lnSpc>
                <a:spcPct val="115000"/>
              </a:lnSpc>
              <a:buNone/>
            </a:pPr>
            <a:r>
              <a:rPr lang="en-US" sz="1000" dirty="0">
                <a:solidFill>
                  <a:srgbClr val="B9C4DA"/>
                </a:solidFill>
                <a:latin typeface="Calibri" pitchFamily="34" charset="0"/>
                <a:ea typeface="Calibri" pitchFamily="34" charset="-122"/>
                <a:cs typeface="Calibri" pitchFamily="34" charset="-120"/>
              </a:rPr>
              <a:t>To Rutvik Shah and the engineering team for mentorship and trust</a:t>
            </a:r>
            <a:endParaRPr lang="en-US" sz="1000" dirty="0"/>
          </a:p>
        </p:txBody>
      </p:sp>
      <p:sp>
        <p:nvSpPr>
          <p:cNvPr id="22" name="Text 17"/>
          <p:cNvSpPr/>
          <p:nvPr/>
        </p:nvSpPr>
        <p:spPr>
          <a:xfrm>
            <a:off x="640080" y="5120640"/>
            <a:ext cx="10908792" cy="548640"/>
          </a:xfrm>
          <a:prstGeom prst="rect">
            <a:avLst/>
          </a:prstGeom>
          <a:noFill/>
          <a:ln/>
        </p:spPr>
        <p:txBody>
          <a:bodyPr wrap="square" lIns="0" tIns="0" rIns="0" bIns="0" rtlCol="0" anchor="ctr"/>
          <a:lstStyle/>
          <a:p>
            <a:pPr marL="0" indent="0" algn="ctr">
              <a:buNone/>
            </a:pPr>
            <a:r>
              <a:rPr lang="en-US" sz="2600" b="1" dirty="0">
                <a:solidFill>
                  <a:srgbClr val="F0C96A"/>
                </a:solidFill>
                <a:latin typeface="Calibri" pitchFamily="34" charset="0"/>
                <a:ea typeface="Calibri" pitchFamily="34" charset="-122"/>
                <a:cs typeface="Calibri" pitchFamily="34" charset="-120"/>
              </a:rPr>
              <a:t>Thank You</a:t>
            </a:r>
            <a:endParaRPr lang="en-US" sz="2600" dirty="0"/>
          </a:p>
        </p:txBody>
      </p:sp>
      <p:sp>
        <p:nvSpPr>
          <p:cNvPr id="23" name="Text 18"/>
          <p:cNvSpPr/>
          <p:nvPr/>
        </p:nvSpPr>
        <p:spPr>
          <a:xfrm>
            <a:off x="640080" y="5715000"/>
            <a:ext cx="10908792" cy="365760"/>
          </a:xfrm>
          <a:prstGeom prst="rect">
            <a:avLst/>
          </a:prstGeom>
          <a:noFill/>
          <a:ln/>
        </p:spPr>
        <p:txBody>
          <a:bodyPr wrap="square" lIns="0" tIns="0" rIns="0" bIns="0" rtlCol="0" anchor="ctr"/>
          <a:lstStyle/>
          <a:p>
            <a:pPr marL="0" indent="0" algn="ctr">
              <a:buNone/>
            </a:pPr>
            <a:r>
              <a:rPr lang="en-US" sz="1400" i="1" dirty="0">
                <a:solidFill>
                  <a:srgbClr val="8695B3"/>
                </a:solidFill>
                <a:latin typeface="Calibri" pitchFamily="34" charset="0"/>
                <a:ea typeface="Calibri" pitchFamily="34" charset="-122"/>
                <a:cs typeface="Calibri" pitchFamily="34" charset="-120"/>
              </a:rPr>
              <a:t>Questions?</a:t>
            </a:r>
            <a:endParaRPr lang="en-US" sz="1400" dirty="0"/>
          </a:p>
        </p:txBody>
      </p:sp>
      <p:sp>
        <p:nvSpPr>
          <p:cNvPr id="24" name="Text 19"/>
          <p:cNvSpPr/>
          <p:nvPr/>
        </p:nvSpPr>
        <p:spPr>
          <a:xfrm>
            <a:off x="640080" y="6528816"/>
            <a:ext cx="5486400" cy="256032"/>
          </a:xfrm>
          <a:prstGeom prst="rect">
            <a:avLst/>
          </a:prstGeom>
          <a:noFill/>
          <a:ln/>
        </p:spPr>
        <p:txBody>
          <a:bodyPr wrap="square" lIns="0" tIns="0" rIns="0" bIns="0" rtlCol="0" anchor="ctr"/>
          <a:lstStyle/>
          <a:p>
            <a:pPr marL="0" indent="0">
              <a:buNone/>
            </a:pPr>
            <a:r>
              <a:rPr lang="en-US" sz="900" dirty="0">
                <a:solidFill>
                  <a:srgbClr val="8695B3"/>
                </a:solidFill>
                <a:latin typeface="Calibri" pitchFamily="34" charset="0"/>
                <a:ea typeface="Calibri" pitchFamily="34" charset="-122"/>
                <a:cs typeface="Calibri" pitchFamily="34" charset="-120"/>
              </a:rPr>
              <a:t>Drishti Wealth Financial Advisory Platform</a:t>
            </a:r>
            <a:endParaRPr lang="en-US" sz="900" dirty="0"/>
          </a:p>
        </p:txBody>
      </p:sp>
      <p:sp>
        <p:nvSpPr>
          <p:cNvPr id="25" name="Shape 20"/>
          <p:cNvSpPr/>
          <p:nvPr/>
        </p:nvSpPr>
        <p:spPr>
          <a:xfrm>
            <a:off x="11292840" y="6583680"/>
            <a:ext cx="54864" cy="54864"/>
          </a:xfrm>
          <a:prstGeom prst="ellipse">
            <a:avLst/>
          </a:prstGeom>
          <a:solidFill>
            <a:srgbClr val="C9922A"/>
          </a:solidFill>
          <a:ln/>
        </p:spPr>
      </p:sp>
      <p:sp>
        <p:nvSpPr>
          <p:cNvPr id="26" name="Text 21"/>
          <p:cNvSpPr/>
          <p:nvPr/>
        </p:nvSpPr>
        <p:spPr>
          <a:xfrm>
            <a:off x="11430000" y="6528816"/>
            <a:ext cx="365760" cy="256032"/>
          </a:xfrm>
          <a:prstGeom prst="rect">
            <a:avLst/>
          </a:prstGeom>
          <a:noFill/>
          <a:ln/>
        </p:spPr>
        <p:txBody>
          <a:bodyPr wrap="square" lIns="0" tIns="0" rIns="0" bIns="0" rtlCol="0" anchor="ctr"/>
          <a:lstStyle/>
          <a:p>
            <a:pPr marL="0" indent="0" algn="r">
              <a:buNone/>
            </a:pPr>
            <a:r>
              <a:rPr lang="en-US" sz="900" dirty="0">
                <a:solidFill>
                  <a:srgbClr val="8695B3"/>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3527</Words>
  <Application>Microsoft Office PowerPoint</Application>
  <PresentationFormat>Widescreen</PresentationFormat>
  <Paragraphs>449</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Punya Patel</cp:lastModifiedBy>
  <cp:revision>1</cp:revision>
  <dcterms:created xsi:type="dcterms:W3CDTF">2026-08-05T09:24:24Z</dcterms:created>
  <dcterms:modified xsi:type="dcterms:W3CDTF">2026-08-06T12:54:59Z</dcterms:modified>
</cp:coreProperties>
</file>